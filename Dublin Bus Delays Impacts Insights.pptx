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jpg" ContentType="image/jp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rgbClr val="2DC295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00" b="0" i="0">
                <a:solidFill>
                  <a:srgbClr val="2DC295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00" b="0" i="0">
                <a:solidFill>
                  <a:srgbClr val="2DC295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2DC29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00" b="0" i="0">
                <a:solidFill>
                  <a:srgbClr val="2DC295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2" y="0"/>
            <a:ext cx="18287967" cy="10287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5866" y="1606411"/>
            <a:ext cx="9985375" cy="73242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rgbClr val="2DC295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87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18591" y="7685391"/>
              <a:ext cx="8787765" cy="0"/>
            </a:xfrm>
            <a:custGeom>
              <a:avLst/>
              <a:gdLst/>
              <a:ahLst/>
              <a:cxnLst/>
              <a:rect l="l" t="t" r="r" b="b"/>
              <a:pathLst>
                <a:path w="8787765" h="0">
                  <a:moveTo>
                    <a:pt x="8787384" y="0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2DC29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16285498" y="561158"/>
            <a:ext cx="10966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7F7F7"/>
                </a:solidFill>
                <a:latin typeface="Century Gothic"/>
                <a:cs typeface="Century Gothic"/>
              </a:rPr>
              <a:t>2/12/2026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5977" y="557958"/>
            <a:ext cx="170116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solidFill>
                  <a:srgbClr val="F7F7F7"/>
                </a:solidFill>
                <a:latin typeface="Century Gothic"/>
                <a:cs typeface="Century Gothic"/>
              </a:rPr>
              <a:t>Arun</a:t>
            </a:r>
            <a:r>
              <a:rPr dirty="0" sz="1800" spc="-105">
                <a:solidFill>
                  <a:srgbClr val="F7F7F7"/>
                </a:solidFill>
                <a:latin typeface="Century Gothic"/>
                <a:cs typeface="Century Gothic"/>
              </a:rPr>
              <a:t> </a:t>
            </a:r>
            <a:r>
              <a:rPr dirty="0" sz="1800" spc="-130">
                <a:solidFill>
                  <a:srgbClr val="F7F7F7"/>
                </a:solidFill>
                <a:latin typeface="Century Gothic"/>
                <a:cs typeface="Century Gothic"/>
              </a:rPr>
              <a:t>Narayanan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5892" y="2702804"/>
            <a:ext cx="12574905" cy="4820920"/>
          </a:xfrm>
          <a:prstGeom prst="rect">
            <a:avLst/>
          </a:prstGeom>
        </p:spPr>
        <p:txBody>
          <a:bodyPr wrap="square" lIns="0" tIns="312420" rIns="0" bIns="0" rtlCol="0" vert="horz">
            <a:spAutoFit/>
          </a:bodyPr>
          <a:lstStyle/>
          <a:p>
            <a:pPr marL="12700" marR="5080">
              <a:lnSpc>
                <a:spcPts val="11800"/>
              </a:lnSpc>
              <a:spcBef>
                <a:spcPts val="2460"/>
              </a:spcBef>
            </a:pPr>
            <a:r>
              <a:rPr dirty="0" sz="11800" spc="-155">
                <a:solidFill>
                  <a:srgbClr val="F7F7F7"/>
                </a:solidFill>
                <a:latin typeface="Century Gothic"/>
                <a:cs typeface="Century Gothic"/>
              </a:rPr>
              <a:t>Dublin</a:t>
            </a:r>
            <a:r>
              <a:rPr dirty="0" sz="11800" spc="-385">
                <a:solidFill>
                  <a:srgbClr val="F7F7F7"/>
                </a:solidFill>
                <a:latin typeface="Century Gothic"/>
                <a:cs typeface="Century Gothic"/>
              </a:rPr>
              <a:t> </a:t>
            </a:r>
            <a:r>
              <a:rPr dirty="0" sz="11800" spc="370">
                <a:solidFill>
                  <a:srgbClr val="F7F7F7"/>
                </a:solidFill>
                <a:latin typeface="Century Gothic"/>
                <a:cs typeface="Century Gothic"/>
              </a:rPr>
              <a:t>Bus</a:t>
            </a:r>
            <a:r>
              <a:rPr dirty="0" sz="11800" spc="-385">
                <a:solidFill>
                  <a:srgbClr val="F7F7F7"/>
                </a:solidFill>
                <a:latin typeface="Century Gothic"/>
                <a:cs typeface="Century Gothic"/>
              </a:rPr>
              <a:t> </a:t>
            </a:r>
            <a:r>
              <a:rPr dirty="0" sz="11800" spc="-455">
                <a:solidFill>
                  <a:srgbClr val="F7F7F7"/>
                </a:solidFill>
                <a:latin typeface="Century Gothic"/>
                <a:cs typeface="Century Gothic"/>
              </a:rPr>
              <a:t>Delays: </a:t>
            </a:r>
            <a:r>
              <a:rPr dirty="0" sz="11800" spc="-310">
                <a:solidFill>
                  <a:srgbClr val="F7F7F7"/>
                </a:solidFill>
                <a:latin typeface="Century Gothic"/>
                <a:cs typeface="Century Gothic"/>
              </a:rPr>
              <a:t>Impacts</a:t>
            </a:r>
            <a:r>
              <a:rPr dirty="0" sz="11800" spc="-105">
                <a:solidFill>
                  <a:srgbClr val="F7F7F7"/>
                </a:solidFill>
                <a:latin typeface="Century Gothic"/>
                <a:cs typeface="Century Gothic"/>
              </a:rPr>
              <a:t> </a:t>
            </a:r>
            <a:r>
              <a:rPr dirty="0" sz="11800" spc="-960">
                <a:solidFill>
                  <a:srgbClr val="F7F7F7"/>
                </a:solidFill>
                <a:latin typeface="Century Gothic"/>
                <a:cs typeface="Century Gothic"/>
              </a:rPr>
              <a:t>and </a:t>
            </a:r>
            <a:r>
              <a:rPr dirty="0" sz="11800" spc="190">
                <a:solidFill>
                  <a:srgbClr val="F7F7F7"/>
                </a:solidFill>
                <a:latin typeface="Century Gothic"/>
                <a:cs typeface="Century Gothic"/>
              </a:rPr>
              <a:t>Insights</a:t>
            </a:r>
            <a:endParaRPr sz="11800">
              <a:latin typeface="Century Gothic"/>
              <a:cs typeface="Century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5892" y="8004394"/>
            <a:ext cx="8314690" cy="4711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900" spc="-200">
                <a:solidFill>
                  <a:srgbClr val="2DC295"/>
                </a:solidFill>
                <a:latin typeface="Century Gothic"/>
                <a:cs typeface="Century Gothic"/>
              </a:rPr>
              <a:t>Guidance</a:t>
            </a:r>
            <a:r>
              <a:rPr dirty="0" sz="2900">
                <a:solidFill>
                  <a:srgbClr val="2DC295"/>
                </a:solidFill>
                <a:latin typeface="Century Gothic"/>
                <a:cs typeface="Century Gothic"/>
              </a:rPr>
              <a:t> for</a:t>
            </a:r>
            <a:r>
              <a:rPr dirty="0" sz="2900" spc="-105">
                <a:solidFill>
                  <a:srgbClr val="2DC295"/>
                </a:solidFill>
                <a:latin typeface="Century Gothic"/>
                <a:cs typeface="Century Gothic"/>
              </a:rPr>
              <a:t> </a:t>
            </a:r>
            <a:r>
              <a:rPr dirty="0" sz="2900" spc="-100">
                <a:solidFill>
                  <a:srgbClr val="2DC295"/>
                </a:solidFill>
                <a:latin typeface="Century Gothic"/>
                <a:cs typeface="Century Gothic"/>
              </a:rPr>
              <a:t>Urban</a:t>
            </a:r>
            <a:r>
              <a:rPr dirty="0" sz="2900" spc="-35">
                <a:solidFill>
                  <a:srgbClr val="2DC295"/>
                </a:solidFill>
                <a:latin typeface="Century Gothic"/>
                <a:cs typeface="Century Gothic"/>
              </a:rPr>
              <a:t> </a:t>
            </a:r>
            <a:r>
              <a:rPr dirty="0" sz="2900" spc="-40">
                <a:solidFill>
                  <a:srgbClr val="2DC295"/>
                </a:solidFill>
                <a:latin typeface="Century Gothic"/>
                <a:cs typeface="Century Gothic"/>
              </a:rPr>
              <a:t>Planners</a:t>
            </a:r>
            <a:r>
              <a:rPr dirty="0" sz="2900" spc="-30">
                <a:solidFill>
                  <a:srgbClr val="2DC295"/>
                </a:solidFill>
                <a:latin typeface="Century Gothic"/>
                <a:cs typeface="Century Gothic"/>
              </a:rPr>
              <a:t> </a:t>
            </a:r>
            <a:r>
              <a:rPr dirty="0" sz="2900" spc="-250">
                <a:solidFill>
                  <a:srgbClr val="2DC295"/>
                </a:solidFill>
                <a:latin typeface="Century Gothic"/>
                <a:cs typeface="Century Gothic"/>
              </a:rPr>
              <a:t>and</a:t>
            </a:r>
            <a:r>
              <a:rPr dirty="0" sz="2900">
                <a:solidFill>
                  <a:srgbClr val="2DC295"/>
                </a:solidFill>
                <a:latin typeface="Century Gothic"/>
                <a:cs typeface="Century Gothic"/>
              </a:rPr>
              <a:t> </a:t>
            </a:r>
            <a:r>
              <a:rPr dirty="0" sz="2900" spc="50">
                <a:solidFill>
                  <a:srgbClr val="2DC295"/>
                </a:solidFill>
                <a:latin typeface="Century Gothic"/>
                <a:cs typeface="Century Gothic"/>
              </a:rPr>
              <a:t>Transit</a:t>
            </a:r>
            <a:r>
              <a:rPr dirty="0" sz="2900" spc="-35">
                <a:solidFill>
                  <a:srgbClr val="2DC295"/>
                </a:solidFill>
                <a:latin typeface="Century Gothic"/>
                <a:cs typeface="Century Gothic"/>
              </a:rPr>
              <a:t> </a:t>
            </a:r>
            <a:r>
              <a:rPr dirty="0" sz="2900" spc="-10">
                <a:solidFill>
                  <a:srgbClr val="2DC295"/>
                </a:solidFill>
                <a:latin typeface="Century Gothic"/>
                <a:cs typeface="Century Gothic"/>
              </a:rPr>
              <a:t>Officials</a:t>
            </a:r>
            <a:endParaRPr sz="29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86212" y="6389499"/>
            <a:ext cx="5943600" cy="4673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00" spc="-484">
                <a:solidFill>
                  <a:srgbClr val="04191A"/>
                </a:solidFill>
                <a:latin typeface="Century Gothic"/>
                <a:cs typeface="Century Gothic"/>
              </a:rPr>
              <a:t>1.</a:t>
            </a:r>
            <a:r>
              <a:rPr dirty="0" sz="2900" spc="600">
                <a:solidFill>
                  <a:srgbClr val="04191A"/>
                </a:solidFill>
                <a:latin typeface="Century Gothic"/>
                <a:cs typeface="Century Gothic"/>
              </a:rPr>
              <a:t> </a:t>
            </a:r>
            <a:r>
              <a:rPr dirty="0" sz="2900" spc="-40">
                <a:solidFill>
                  <a:srgbClr val="04191A"/>
                </a:solidFill>
                <a:latin typeface="Century Gothic"/>
                <a:cs typeface="Century Gothic"/>
              </a:rPr>
              <a:t>Introduction</a:t>
            </a:r>
            <a:r>
              <a:rPr dirty="0" sz="2900" spc="-45">
                <a:solidFill>
                  <a:srgbClr val="04191A"/>
                </a:solidFill>
                <a:latin typeface="Century Gothic"/>
                <a:cs typeface="Century Gothic"/>
              </a:rPr>
              <a:t> </a:t>
            </a:r>
            <a:r>
              <a:rPr dirty="0" sz="2900" spc="-235">
                <a:solidFill>
                  <a:srgbClr val="04191A"/>
                </a:solidFill>
                <a:latin typeface="Century Gothic"/>
                <a:cs typeface="Century Gothic"/>
              </a:rPr>
              <a:t>and</a:t>
            </a:r>
            <a:r>
              <a:rPr dirty="0" sz="2900" spc="-35">
                <a:solidFill>
                  <a:srgbClr val="04191A"/>
                </a:solidFill>
                <a:latin typeface="Century Gothic"/>
                <a:cs typeface="Century Gothic"/>
              </a:rPr>
              <a:t> </a:t>
            </a:r>
            <a:r>
              <a:rPr dirty="0" sz="2900" spc="-229">
                <a:solidFill>
                  <a:srgbClr val="04191A"/>
                </a:solidFill>
                <a:latin typeface="Century Gothic"/>
                <a:cs typeface="Century Gothic"/>
              </a:rPr>
              <a:t>Data</a:t>
            </a:r>
            <a:r>
              <a:rPr dirty="0" sz="2900" spc="-35">
                <a:solidFill>
                  <a:srgbClr val="04191A"/>
                </a:solidFill>
                <a:latin typeface="Century Gothic"/>
                <a:cs typeface="Century Gothic"/>
              </a:rPr>
              <a:t> </a:t>
            </a:r>
            <a:r>
              <a:rPr dirty="0" sz="2900" spc="-70">
                <a:solidFill>
                  <a:srgbClr val="04191A"/>
                </a:solidFill>
                <a:latin typeface="Century Gothic"/>
                <a:cs typeface="Century Gothic"/>
              </a:rPr>
              <a:t>Collection</a:t>
            </a:r>
            <a:endParaRPr sz="29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482352" y="6831459"/>
            <a:ext cx="7854950" cy="1859914"/>
          </a:xfrm>
          <a:prstGeom prst="rect">
            <a:avLst/>
          </a:prstGeom>
        </p:spPr>
        <p:txBody>
          <a:bodyPr wrap="square" lIns="0" tIns="266700" rIns="0" bIns="0" rtlCol="0" vert="horz">
            <a:spAutoFit/>
          </a:bodyPr>
          <a:lstStyle/>
          <a:p>
            <a:pPr marL="484505" indent="-466725">
              <a:lnSpc>
                <a:spcPct val="100000"/>
              </a:lnSpc>
              <a:spcBef>
                <a:spcPts val="2100"/>
              </a:spcBef>
              <a:buAutoNum type="arabicPeriod" startAt="2"/>
              <a:tabLst>
                <a:tab pos="484505" algn="l"/>
              </a:tabLst>
            </a:pPr>
            <a:r>
              <a:rPr dirty="0" sz="2900">
                <a:solidFill>
                  <a:srgbClr val="04191A"/>
                </a:solidFill>
                <a:latin typeface="Century Gothic"/>
                <a:cs typeface="Century Gothic"/>
              </a:rPr>
              <a:t>Analysis</a:t>
            </a:r>
            <a:r>
              <a:rPr dirty="0" sz="2900" spc="-95">
                <a:solidFill>
                  <a:srgbClr val="04191A"/>
                </a:solidFill>
                <a:latin typeface="Century Gothic"/>
                <a:cs typeface="Century Gothic"/>
              </a:rPr>
              <a:t> </a:t>
            </a:r>
            <a:r>
              <a:rPr dirty="0" sz="2900" spc="-235">
                <a:solidFill>
                  <a:srgbClr val="04191A"/>
                </a:solidFill>
                <a:latin typeface="Century Gothic"/>
                <a:cs typeface="Century Gothic"/>
              </a:rPr>
              <a:t>and</a:t>
            </a:r>
            <a:r>
              <a:rPr dirty="0" sz="2900" spc="-35">
                <a:solidFill>
                  <a:srgbClr val="04191A"/>
                </a:solidFill>
                <a:latin typeface="Century Gothic"/>
                <a:cs typeface="Century Gothic"/>
              </a:rPr>
              <a:t> </a:t>
            </a:r>
            <a:r>
              <a:rPr dirty="0" sz="2900" spc="-30">
                <a:solidFill>
                  <a:srgbClr val="04191A"/>
                </a:solidFill>
                <a:latin typeface="Century Gothic"/>
                <a:cs typeface="Century Gothic"/>
              </a:rPr>
              <a:t>Visualization</a:t>
            </a:r>
            <a:r>
              <a:rPr dirty="0" sz="2900" spc="-65">
                <a:solidFill>
                  <a:srgbClr val="04191A"/>
                </a:solidFill>
                <a:latin typeface="Century Gothic"/>
                <a:cs typeface="Century Gothic"/>
              </a:rPr>
              <a:t> </a:t>
            </a:r>
            <a:r>
              <a:rPr dirty="0" sz="2900">
                <a:solidFill>
                  <a:srgbClr val="04191A"/>
                </a:solidFill>
                <a:latin typeface="Century Gothic"/>
                <a:cs typeface="Century Gothic"/>
              </a:rPr>
              <a:t>of</a:t>
            </a:r>
            <a:r>
              <a:rPr dirty="0" sz="2900" spc="-60">
                <a:solidFill>
                  <a:srgbClr val="04191A"/>
                </a:solidFill>
                <a:latin typeface="Century Gothic"/>
                <a:cs typeface="Century Gothic"/>
              </a:rPr>
              <a:t> </a:t>
            </a:r>
            <a:r>
              <a:rPr dirty="0" sz="2900" spc="-145">
                <a:solidFill>
                  <a:srgbClr val="04191A"/>
                </a:solidFill>
                <a:latin typeface="Century Gothic"/>
                <a:cs typeface="Century Gothic"/>
              </a:rPr>
              <a:t>Delay</a:t>
            </a:r>
            <a:r>
              <a:rPr dirty="0" sz="2900" spc="-55">
                <a:solidFill>
                  <a:srgbClr val="04191A"/>
                </a:solidFill>
                <a:latin typeface="Century Gothic"/>
                <a:cs typeface="Century Gothic"/>
              </a:rPr>
              <a:t> </a:t>
            </a:r>
            <a:r>
              <a:rPr dirty="0" sz="2900" spc="-10">
                <a:solidFill>
                  <a:srgbClr val="04191A"/>
                </a:solidFill>
                <a:latin typeface="Century Gothic"/>
                <a:cs typeface="Century Gothic"/>
              </a:rPr>
              <a:t>Patterns</a:t>
            </a:r>
            <a:endParaRPr sz="2900">
              <a:latin typeface="Century Gothic"/>
              <a:cs typeface="Century Gothic"/>
            </a:endParaRPr>
          </a:p>
          <a:p>
            <a:pPr marL="484505" marR="2439670" indent="-472440">
              <a:lnSpc>
                <a:spcPct val="100000"/>
              </a:lnSpc>
              <a:spcBef>
                <a:spcPts val="2000"/>
              </a:spcBef>
              <a:buAutoNum type="arabicPeriod" startAt="2"/>
              <a:tabLst>
                <a:tab pos="486409" algn="l"/>
              </a:tabLst>
            </a:pPr>
            <a:r>
              <a:rPr dirty="0" sz="2900" spc="-55">
                <a:solidFill>
                  <a:srgbClr val="04191A"/>
                </a:solidFill>
                <a:latin typeface="Century Gothic"/>
                <a:cs typeface="Century Gothic"/>
              </a:rPr>
              <a:t>Implications,</a:t>
            </a:r>
            <a:r>
              <a:rPr dirty="0" sz="2900" spc="-85">
                <a:solidFill>
                  <a:srgbClr val="04191A"/>
                </a:solidFill>
                <a:latin typeface="Century Gothic"/>
                <a:cs typeface="Century Gothic"/>
              </a:rPr>
              <a:t> </a:t>
            </a:r>
            <a:r>
              <a:rPr dirty="0" sz="2900">
                <a:solidFill>
                  <a:srgbClr val="04191A"/>
                </a:solidFill>
                <a:latin typeface="Century Gothic"/>
                <a:cs typeface="Century Gothic"/>
              </a:rPr>
              <a:t>Limitations,</a:t>
            </a:r>
            <a:r>
              <a:rPr dirty="0" sz="2900" spc="-85">
                <a:solidFill>
                  <a:srgbClr val="04191A"/>
                </a:solidFill>
                <a:latin typeface="Century Gothic"/>
                <a:cs typeface="Century Gothic"/>
              </a:rPr>
              <a:t> </a:t>
            </a:r>
            <a:r>
              <a:rPr dirty="0" sz="2900" spc="-190">
                <a:solidFill>
                  <a:srgbClr val="04191A"/>
                </a:solidFill>
                <a:latin typeface="Century Gothic"/>
                <a:cs typeface="Century Gothic"/>
              </a:rPr>
              <a:t>and </a:t>
            </a:r>
            <a:r>
              <a:rPr dirty="0" sz="2900" spc="-190">
                <a:solidFill>
                  <a:srgbClr val="04191A"/>
                </a:solidFill>
                <a:latin typeface="Century Gothic"/>
                <a:cs typeface="Century Gothic"/>
              </a:rPr>
              <a:t>	</a:t>
            </a:r>
            <a:r>
              <a:rPr dirty="0" sz="2900" spc="-55">
                <a:solidFill>
                  <a:srgbClr val="04191A"/>
                </a:solidFill>
                <a:latin typeface="Century Gothic"/>
                <a:cs typeface="Century Gothic"/>
              </a:rPr>
              <a:t>Recommendations</a:t>
            </a:r>
            <a:endParaRPr sz="29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225674" y="562607"/>
            <a:ext cx="1574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solidFill>
                  <a:srgbClr val="04191A"/>
                </a:solidFill>
                <a:latin typeface="Century Gothic"/>
                <a:cs typeface="Century Gothic"/>
              </a:rPr>
              <a:t>2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5894" y="7671301"/>
            <a:ext cx="3493770" cy="1137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300" spc="-305" b="1">
                <a:solidFill>
                  <a:srgbClr val="04191A"/>
                </a:solidFill>
                <a:latin typeface="Century Gothic"/>
                <a:cs typeface="Century Gothic"/>
              </a:rPr>
              <a:t>Agenda</a:t>
            </a:r>
            <a:endParaRPr sz="73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05894" y="6744201"/>
            <a:ext cx="9991090" cy="2065020"/>
          </a:xfrm>
          <a:prstGeom prst="rect"/>
        </p:spPr>
        <p:txBody>
          <a:bodyPr wrap="square" lIns="0" tIns="198120" rIns="0" bIns="0" rtlCol="0" vert="horz">
            <a:spAutoFit/>
          </a:bodyPr>
          <a:lstStyle/>
          <a:p>
            <a:pPr marL="12700" marR="5080">
              <a:lnSpc>
                <a:spcPts val="7300"/>
              </a:lnSpc>
              <a:spcBef>
                <a:spcPts val="1560"/>
              </a:spcBef>
            </a:pPr>
            <a:r>
              <a:rPr dirty="0" sz="7300" spc="155" b="1">
                <a:solidFill>
                  <a:srgbClr val="04191A"/>
                </a:solidFill>
                <a:latin typeface="Century Gothic"/>
                <a:cs typeface="Century Gothic"/>
              </a:rPr>
              <a:t>Introduction</a:t>
            </a:r>
            <a:r>
              <a:rPr dirty="0" sz="7300" spc="-305" b="1">
                <a:solidFill>
                  <a:srgbClr val="04191A"/>
                </a:solidFill>
                <a:latin typeface="Century Gothic"/>
                <a:cs typeface="Century Gothic"/>
              </a:rPr>
              <a:t> </a:t>
            </a:r>
            <a:r>
              <a:rPr dirty="0" sz="7300" spc="-190" b="1">
                <a:solidFill>
                  <a:srgbClr val="04191A"/>
                </a:solidFill>
                <a:latin typeface="Century Gothic"/>
                <a:cs typeface="Century Gothic"/>
              </a:rPr>
              <a:t>and</a:t>
            </a:r>
            <a:r>
              <a:rPr dirty="0" sz="7300" spc="-300" b="1">
                <a:solidFill>
                  <a:srgbClr val="04191A"/>
                </a:solidFill>
                <a:latin typeface="Century Gothic"/>
                <a:cs typeface="Century Gothic"/>
              </a:rPr>
              <a:t> </a:t>
            </a:r>
            <a:r>
              <a:rPr dirty="0" sz="7300" spc="-20" b="1">
                <a:solidFill>
                  <a:srgbClr val="04191A"/>
                </a:solidFill>
                <a:latin typeface="Century Gothic"/>
                <a:cs typeface="Century Gothic"/>
              </a:rPr>
              <a:t>Data </a:t>
            </a:r>
            <a:r>
              <a:rPr dirty="0" sz="7300" spc="-10" b="1">
                <a:solidFill>
                  <a:srgbClr val="04191A"/>
                </a:solidFill>
                <a:latin typeface="Century Gothic"/>
                <a:cs typeface="Century Gothic"/>
              </a:rPr>
              <a:t>Collection</a:t>
            </a:r>
            <a:endParaRPr sz="73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220477" y="563767"/>
            <a:ext cx="1606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0">
                <a:solidFill>
                  <a:srgbClr val="04191A"/>
                </a:solidFill>
                <a:latin typeface="Century Gothic"/>
                <a:cs typeface="Century Gothic"/>
              </a:rPr>
              <a:t>3</a:t>
            </a:r>
            <a:endParaRPr sz="18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05866" y="1612394"/>
            <a:ext cx="9275445" cy="726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10"/>
              <a:t>Understanding</a:t>
            </a:r>
            <a:r>
              <a:rPr dirty="0" spc="-130"/>
              <a:t> </a:t>
            </a:r>
            <a:r>
              <a:rPr dirty="0" spc="-40"/>
              <a:t>Dublin's</a:t>
            </a:r>
            <a:r>
              <a:rPr dirty="0" spc="-125"/>
              <a:t> </a:t>
            </a:r>
            <a:r>
              <a:rPr dirty="0" spc="140"/>
              <a:t>Bus</a:t>
            </a:r>
            <a:r>
              <a:rPr dirty="0" spc="-125"/>
              <a:t> </a:t>
            </a:r>
            <a:r>
              <a:rPr dirty="0" spc="-90"/>
              <a:t>Delays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16690" y="4751951"/>
            <a:ext cx="7458075" cy="27578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00">
                <a:latin typeface="Century Gothic"/>
                <a:cs typeface="Century Gothic"/>
              </a:rPr>
              <a:t>West</a:t>
            </a:r>
            <a:r>
              <a:rPr dirty="0" sz="2900" spc="-85">
                <a:latin typeface="Century Gothic"/>
                <a:cs typeface="Century Gothic"/>
              </a:rPr>
              <a:t> </a:t>
            </a:r>
            <a:r>
              <a:rPr dirty="0" sz="2900" spc="-40">
                <a:latin typeface="Century Gothic"/>
                <a:cs typeface="Century Gothic"/>
              </a:rPr>
              <a:t>Dublin</a:t>
            </a:r>
            <a:r>
              <a:rPr dirty="0" sz="2900" spc="-80">
                <a:latin typeface="Century Gothic"/>
                <a:cs typeface="Century Gothic"/>
              </a:rPr>
              <a:t> </a:t>
            </a:r>
            <a:r>
              <a:rPr dirty="0" sz="2900" spc="-90">
                <a:latin typeface="Century Gothic"/>
                <a:cs typeface="Century Gothic"/>
              </a:rPr>
              <a:t>Faces</a:t>
            </a:r>
            <a:r>
              <a:rPr dirty="0" sz="2900" spc="-80">
                <a:latin typeface="Century Gothic"/>
                <a:cs typeface="Century Gothic"/>
              </a:rPr>
              <a:t> </a:t>
            </a:r>
            <a:r>
              <a:rPr dirty="0" sz="2900" spc="-95">
                <a:latin typeface="Century Gothic"/>
                <a:cs typeface="Century Gothic"/>
              </a:rPr>
              <a:t>Severe</a:t>
            </a:r>
            <a:r>
              <a:rPr dirty="0" sz="2900" spc="-85">
                <a:latin typeface="Century Gothic"/>
                <a:cs typeface="Century Gothic"/>
              </a:rPr>
              <a:t> </a:t>
            </a:r>
            <a:r>
              <a:rPr dirty="0" sz="2900">
                <a:latin typeface="Century Gothic"/>
                <a:cs typeface="Century Gothic"/>
              </a:rPr>
              <a:t>Rush</a:t>
            </a:r>
            <a:r>
              <a:rPr dirty="0" sz="2900" spc="-80">
                <a:latin typeface="Century Gothic"/>
                <a:cs typeface="Century Gothic"/>
              </a:rPr>
              <a:t> </a:t>
            </a:r>
            <a:r>
              <a:rPr dirty="0" sz="2900">
                <a:latin typeface="Century Gothic"/>
                <a:cs typeface="Century Gothic"/>
              </a:rPr>
              <a:t>Hour</a:t>
            </a:r>
            <a:r>
              <a:rPr dirty="0" sz="2900" spc="-80">
                <a:latin typeface="Century Gothic"/>
                <a:cs typeface="Century Gothic"/>
              </a:rPr>
              <a:t> </a:t>
            </a:r>
            <a:r>
              <a:rPr dirty="0" sz="2900" spc="-30">
                <a:latin typeface="Century Gothic"/>
                <a:cs typeface="Century Gothic"/>
              </a:rPr>
              <a:t>Delays</a:t>
            </a:r>
            <a:endParaRPr sz="2900">
              <a:latin typeface="Century Gothic"/>
              <a:cs typeface="Century Gothic"/>
            </a:endParaRPr>
          </a:p>
          <a:p>
            <a:pPr marL="12700" marR="321945">
              <a:lnSpc>
                <a:spcPct val="101499"/>
              </a:lnSpc>
              <a:spcBef>
                <a:spcPts val="1810"/>
              </a:spcBef>
            </a:pPr>
            <a:r>
              <a:rPr dirty="0" sz="1950" spc="-35">
                <a:latin typeface="Century Gothic"/>
                <a:cs typeface="Century Gothic"/>
              </a:rPr>
              <a:t>Morning</a:t>
            </a:r>
            <a:r>
              <a:rPr dirty="0" sz="1950" spc="25">
                <a:latin typeface="Century Gothic"/>
                <a:cs typeface="Century Gothic"/>
              </a:rPr>
              <a:t> </a:t>
            </a:r>
            <a:r>
              <a:rPr dirty="0" sz="1950" spc="90">
                <a:latin typeface="Century Gothic"/>
                <a:cs typeface="Century Gothic"/>
              </a:rPr>
              <a:t>(07:00–</a:t>
            </a:r>
            <a:r>
              <a:rPr dirty="0" sz="1950" spc="65">
                <a:latin typeface="Century Gothic"/>
                <a:cs typeface="Century Gothic"/>
              </a:rPr>
              <a:t>10:00)</a:t>
            </a:r>
            <a:r>
              <a:rPr dirty="0" sz="1950" spc="25">
                <a:latin typeface="Century Gothic"/>
                <a:cs typeface="Century Gothic"/>
              </a:rPr>
              <a:t> </a:t>
            </a:r>
            <a:r>
              <a:rPr dirty="0" sz="1950" spc="-145">
                <a:latin typeface="Century Gothic"/>
                <a:cs typeface="Century Gothic"/>
              </a:rPr>
              <a:t>and</a:t>
            </a:r>
            <a:r>
              <a:rPr dirty="0" sz="1950" spc="20">
                <a:latin typeface="Century Gothic"/>
                <a:cs typeface="Century Gothic"/>
              </a:rPr>
              <a:t> </a:t>
            </a:r>
            <a:r>
              <a:rPr dirty="0" sz="1950" spc="-90">
                <a:latin typeface="Century Gothic"/>
                <a:cs typeface="Century Gothic"/>
              </a:rPr>
              <a:t>evening</a:t>
            </a:r>
            <a:r>
              <a:rPr dirty="0" sz="1950" spc="25">
                <a:latin typeface="Century Gothic"/>
                <a:cs typeface="Century Gothic"/>
              </a:rPr>
              <a:t> </a:t>
            </a:r>
            <a:r>
              <a:rPr dirty="0" sz="1950">
                <a:latin typeface="Century Gothic"/>
                <a:cs typeface="Century Gothic"/>
              </a:rPr>
              <a:t>(17:00–</a:t>
            </a:r>
            <a:r>
              <a:rPr dirty="0" sz="1950" spc="100">
                <a:latin typeface="Century Gothic"/>
                <a:cs typeface="Century Gothic"/>
              </a:rPr>
              <a:t>20:00)</a:t>
            </a:r>
            <a:r>
              <a:rPr dirty="0" sz="1950" spc="25">
                <a:latin typeface="Century Gothic"/>
                <a:cs typeface="Century Gothic"/>
              </a:rPr>
              <a:t> </a:t>
            </a:r>
            <a:r>
              <a:rPr dirty="0" sz="1950" spc="-60">
                <a:latin typeface="Century Gothic"/>
                <a:cs typeface="Century Gothic"/>
              </a:rPr>
              <a:t>peaks</a:t>
            </a:r>
            <a:r>
              <a:rPr dirty="0" sz="1950" spc="25">
                <a:latin typeface="Century Gothic"/>
                <a:cs typeface="Century Gothic"/>
              </a:rPr>
              <a:t> </a:t>
            </a:r>
            <a:r>
              <a:rPr dirty="0" sz="1950" spc="-25">
                <a:latin typeface="Century Gothic"/>
                <a:cs typeface="Century Gothic"/>
              </a:rPr>
              <a:t>see major</a:t>
            </a:r>
            <a:r>
              <a:rPr dirty="0" sz="1950" spc="-110">
                <a:latin typeface="Century Gothic"/>
                <a:cs typeface="Century Gothic"/>
              </a:rPr>
              <a:t> </a:t>
            </a:r>
            <a:r>
              <a:rPr dirty="0" sz="1950" spc="-10">
                <a:latin typeface="Century Gothic"/>
                <a:cs typeface="Century Gothic"/>
              </a:rPr>
              <a:t>congestion</a:t>
            </a:r>
            <a:endParaRPr sz="195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410"/>
              </a:spcBef>
            </a:pPr>
            <a:endParaRPr sz="195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</a:pPr>
            <a:r>
              <a:rPr dirty="0" sz="2900" spc="-30">
                <a:latin typeface="Century Gothic"/>
                <a:cs typeface="Century Gothic"/>
              </a:rPr>
              <a:t>Implications</a:t>
            </a:r>
            <a:r>
              <a:rPr dirty="0" sz="2900" spc="-60">
                <a:latin typeface="Century Gothic"/>
                <a:cs typeface="Century Gothic"/>
              </a:rPr>
              <a:t> </a:t>
            </a:r>
            <a:r>
              <a:rPr dirty="0" sz="2900">
                <a:latin typeface="Century Gothic"/>
                <a:cs typeface="Century Gothic"/>
              </a:rPr>
              <a:t>for</a:t>
            </a:r>
            <a:r>
              <a:rPr dirty="0" sz="2900" spc="-55">
                <a:latin typeface="Century Gothic"/>
                <a:cs typeface="Century Gothic"/>
              </a:rPr>
              <a:t> </a:t>
            </a:r>
            <a:r>
              <a:rPr dirty="0" sz="2900" spc="65">
                <a:latin typeface="Century Gothic"/>
                <a:cs typeface="Century Gothic"/>
              </a:rPr>
              <a:t>Transit</a:t>
            </a:r>
            <a:r>
              <a:rPr dirty="0" sz="2900" spc="-55">
                <a:latin typeface="Century Gothic"/>
                <a:cs typeface="Century Gothic"/>
              </a:rPr>
              <a:t> </a:t>
            </a:r>
            <a:r>
              <a:rPr dirty="0" sz="2900" spc="-10">
                <a:latin typeface="Century Gothic"/>
                <a:cs typeface="Century Gothic"/>
              </a:rPr>
              <a:t>Policy</a:t>
            </a:r>
            <a:endParaRPr sz="29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845"/>
              </a:spcBef>
            </a:pPr>
            <a:r>
              <a:rPr dirty="0" sz="1950" spc="-80">
                <a:latin typeface="Century Gothic"/>
                <a:cs typeface="Century Gothic"/>
              </a:rPr>
              <a:t>Targeted</a:t>
            </a:r>
            <a:r>
              <a:rPr dirty="0" sz="1950">
                <a:latin typeface="Century Gothic"/>
                <a:cs typeface="Century Gothic"/>
              </a:rPr>
              <a:t> interventions</a:t>
            </a:r>
            <a:r>
              <a:rPr dirty="0" sz="1950" spc="5">
                <a:latin typeface="Century Gothic"/>
                <a:cs typeface="Century Gothic"/>
              </a:rPr>
              <a:t> </a:t>
            </a:r>
            <a:r>
              <a:rPr dirty="0" sz="1950" spc="-155">
                <a:latin typeface="Century Gothic"/>
                <a:cs typeface="Century Gothic"/>
              </a:rPr>
              <a:t>can</a:t>
            </a:r>
            <a:r>
              <a:rPr dirty="0" sz="1950">
                <a:latin typeface="Century Gothic"/>
                <a:cs typeface="Century Gothic"/>
              </a:rPr>
              <a:t> address </a:t>
            </a:r>
            <a:r>
              <a:rPr dirty="0" sz="1950" spc="-75">
                <a:latin typeface="Century Gothic"/>
                <a:cs typeface="Century Gothic"/>
              </a:rPr>
              <a:t>regional</a:t>
            </a:r>
            <a:r>
              <a:rPr dirty="0" sz="1950" spc="5">
                <a:latin typeface="Century Gothic"/>
                <a:cs typeface="Century Gothic"/>
              </a:rPr>
              <a:t> </a:t>
            </a:r>
            <a:r>
              <a:rPr dirty="0" sz="1950" spc="-10">
                <a:latin typeface="Century Gothic"/>
                <a:cs typeface="Century Gothic"/>
              </a:rPr>
              <a:t>bottlenecks</a:t>
            </a:r>
            <a:endParaRPr sz="195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5866" y="4751951"/>
            <a:ext cx="7824470" cy="27578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00" spc="90">
                <a:latin typeface="Century Gothic"/>
                <a:cs typeface="Century Gothic"/>
              </a:rPr>
              <a:t>Bus</a:t>
            </a:r>
            <a:r>
              <a:rPr dirty="0" sz="2900" spc="-75">
                <a:latin typeface="Century Gothic"/>
                <a:cs typeface="Century Gothic"/>
              </a:rPr>
              <a:t> </a:t>
            </a:r>
            <a:r>
              <a:rPr dirty="0" sz="2900" spc="-80">
                <a:latin typeface="Century Gothic"/>
                <a:cs typeface="Century Gothic"/>
              </a:rPr>
              <a:t>Delays</a:t>
            </a:r>
            <a:r>
              <a:rPr dirty="0" sz="2900" spc="-75">
                <a:latin typeface="Century Gothic"/>
                <a:cs typeface="Century Gothic"/>
              </a:rPr>
              <a:t> </a:t>
            </a:r>
            <a:r>
              <a:rPr dirty="0" sz="2900" spc="-95">
                <a:latin typeface="Century Gothic"/>
                <a:cs typeface="Century Gothic"/>
              </a:rPr>
              <a:t>Are</a:t>
            </a:r>
            <a:r>
              <a:rPr dirty="0" sz="2900" spc="-75">
                <a:latin typeface="Century Gothic"/>
                <a:cs typeface="Century Gothic"/>
              </a:rPr>
              <a:t> </a:t>
            </a:r>
            <a:r>
              <a:rPr dirty="0" sz="2900" spc="-65">
                <a:latin typeface="Century Gothic"/>
                <a:cs typeface="Century Gothic"/>
              </a:rPr>
              <a:t>Not</a:t>
            </a:r>
            <a:r>
              <a:rPr dirty="0" sz="2900" spc="-75">
                <a:latin typeface="Century Gothic"/>
                <a:cs typeface="Century Gothic"/>
              </a:rPr>
              <a:t> </a:t>
            </a:r>
            <a:r>
              <a:rPr dirty="0" sz="2900" spc="-10">
                <a:latin typeface="Century Gothic"/>
                <a:cs typeface="Century Gothic"/>
              </a:rPr>
              <a:t>Uniform</a:t>
            </a:r>
            <a:r>
              <a:rPr dirty="0" sz="2900" spc="-70">
                <a:latin typeface="Century Gothic"/>
                <a:cs typeface="Century Gothic"/>
              </a:rPr>
              <a:t> </a:t>
            </a:r>
            <a:r>
              <a:rPr dirty="0" sz="2900">
                <a:latin typeface="Century Gothic"/>
                <a:cs typeface="Century Gothic"/>
              </a:rPr>
              <a:t>Across</a:t>
            </a:r>
            <a:r>
              <a:rPr dirty="0" sz="2900" spc="-75">
                <a:latin typeface="Century Gothic"/>
                <a:cs typeface="Century Gothic"/>
              </a:rPr>
              <a:t> </a:t>
            </a:r>
            <a:r>
              <a:rPr dirty="0" sz="2900" spc="-10">
                <a:latin typeface="Century Gothic"/>
                <a:cs typeface="Century Gothic"/>
              </a:rPr>
              <a:t>Dublin</a:t>
            </a:r>
            <a:endParaRPr sz="29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845"/>
              </a:spcBef>
            </a:pPr>
            <a:r>
              <a:rPr dirty="0" sz="1950" spc="-40">
                <a:latin typeface="Century Gothic"/>
                <a:cs typeface="Century Gothic"/>
              </a:rPr>
              <a:t>Central</a:t>
            </a:r>
            <a:r>
              <a:rPr dirty="0" sz="1950" spc="-95">
                <a:latin typeface="Century Gothic"/>
                <a:cs typeface="Century Gothic"/>
              </a:rPr>
              <a:t> </a:t>
            </a:r>
            <a:r>
              <a:rPr dirty="0" sz="1950" spc="-20">
                <a:latin typeface="Century Gothic"/>
                <a:cs typeface="Century Gothic"/>
              </a:rPr>
              <a:t>Dublin</a:t>
            </a:r>
            <a:r>
              <a:rPr dirty="0" sz="1950" spc="-75">
                <a:latin typeface="Century Gothic"/>
                <a:cs typeface="Century Gothic"/>
              </a:rPr>
              <a:t> </a:t>
            </a:r>
            <a:r>
              <a:rPr dirty="0" sz="1950" spc="-10">
                <a:latin typeface="Century Gothic"/>
                <a:cs typeface="Century Gothic"/>
              </a:rPr>
              <a:t>maintains</a:t>
            </a:r>
            <a:r>
              <a:rPr dirty="0" sz="1950" spc="-60">
                <a:latin typeface="Century Gothic"/>
                <a:cs typeface="Century Gothic"/>
              </a:rPr>
              <a:t> </a:t>
            </a:r>
            <a:r>
              <a:rPr dirty="0" sz="1950">
                <a:latin typeface="Century Gothic"/>
                <a:cs typeface="Century Gothic"/>
              </a:rPr>
              <a:t>smoother</a:t>
            </a:r>
            <a:r>
              <a:rPr dirty="0" sz="1950" spc="-60">
                <a:latin typeface="Century Gothic"/>
                <a:cs typeface="Century Gothic"/>
              </a:rPr>
              <a:t> </a:t>
            </a:r>
            <a:r>
              <a:rPr dirty="0" sz="1950" spc="-10">
                <a:latin typeface="Century Gothic"/>
                <a:cs typeface="Century Gothic"/>
              </a:rPr>
              <a:t>ﬂow</a:t>
            </a:r>
            <a:r>
              <a:rPr dirty="0" sz="1950" spc="-55">
                <a:latin typeface="Century Gothic"/>
                <a:cs typeface="Century Gothic"/>
              </a:rPr>
              <a:t> </a:t>
            </a:r>
            <a:r>
              <a:rPr dirty="0" sz="1950" spc="-100">
                <a:latin typeface="Century Gothic"/>
                <a:cs typeface="Century Gothic"/>
              </a:rPr>
              <a:t>due</a:t>
            </a:r>
            <a:r>
              <a:rPr dirty="0" sz="1950" spc="-35">
                <a:latin typeface="Century Gothic"/>
                <a:cs typeface="Century Gothic"/>
              </a:rPr>
              <a:t> </a:t>
            </a:r>
            <a:r>
              <a:rPr dirty="0" sz="1950">
                <a:latin typeface="Century Gothic"/>
                <a:cs typeface="Century Gothic"/>
              </a:rPr>
              <a:t>to</a:t>
            </a:r>
            <a:r>
              <a:rPr dirty="0" sz="1950" spc="-60">
                <a:latin typeface="Century Gothic"/>
                <a:cs typeface="Century Gothic"/>
              </a:rPr>
              <a:t> </a:t>
            </a:r>
            <a:r>
              <a:rPr dirty="0" sz="1950" spc="-105">
                <a:latin typeface="Century Gothic"/>
                <a:cs typeface="Century Gothic"/>
              </a:rPr>
              <a:t>dedicated</a:t>
            </a:r>
            <a:r>
              <a:rPr dirty="0" sz="1950" spc="-30">
                <a:latin typeface="Century Gothic"/>
                <a:cs typeface="Century Gothic"/>
              </a:rPr>
              <a:t> </a:t>
            </a:r>
            <a:r>
              <a:rPr dirty="0" sz="1950" spc="-10">
                <a:latin typeface="Century Gothic"/>
                <a:cs typeface="Century Gothic"/>
              </a:rPr>
              <a:t>corridors</a:t>
            </a:r>
            <a:endParaRPr sz="195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</a:pPr>
            <a:endParaRPr sz="195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395"/>
              </a:spcBef>
            </a:pPr>
            <a:endParaRPr sz="195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</a:pPr>
            <a:r>
              <a:rPr dirty="0" sz="2900" spc="-100">
                <a:latin typeface="Century Gothic"/>
                <a:cs typeface="Century Gothic"/>
              </a:rPr>
              <a:t>Data-</a:t>
            </a:r>
            <a:r>
              <a:rPr dirty="0" sz="2900" spc="-20">
                <a:latin typeface="Century Gothic"/>
                <a:cs typeface="Century Gothic"/>
              </a:rPr>
              <a:t>Driven</a:t>
            </a:r>
            <a:r>
              <a:rPr dirty="0" sz="2900" spc="30">
                <a:latin typeface="Century Gothic"/>
                <a:cs typeface="Century Gothic"/>
              </a:rPr>
              <a:t> </a:t>
            </a:r>
            <a:r>
              <a:rPr dirty="0" sz="2900">
                <a:latin typeface="Century Gothic"/>
                <a:cs typeface="Century Gothic"/>
              </a:rPr>
              <a:t>Insights</a:t>
            </a:r>
            <a:r>
              <a:rPr dirty="0" sz="2900" spc="35">
                <a:latin typeface="Century Gothic"/>
                <a:cs typeface="Century Gothic"/>
              </a:rPr>
              <a:t> </a:t>
            </a:r>
            <a:r>
              <a:rPr dirty="0" sz="2900">
                <a:latin typeface="Century Gothic"/>
                <a:cs typeface="Century Gothic"/>
              </a:rPr>
              <a:t>for</a:t>
            </a:r>
            <a:r>
              <a:rPr dirty="0" sz="2900" spc="30">
                <a:latin typeface="Century Gothic"/>
                <a:cs typeface="Century Gothic"/>
              </a:rPr>
              <a:t> </a:t>
            </a:r>
            <a:r>
              <a:rPr dirty="0" sz="2900" spc="-90">
                <a:latin typeface="Century Gothic"/>
                <a:cs typeface="Century Gothic"/>
              </a:rPr>
              <a:t>Urban</a:t>
            </a:r>
            <a:r>
              <a:rPr dirty="0" sz="2900" spc="35">
                <a:latin typeface="Century Gothic"/>
                <a:cs typeface="Century Gothic"/>
              </a:rPr>
              <a:t> </a:t>
            </a:r>
            <a:r>
              <a:rPr dirty="0" sz="2900" spc="-10">
                <a:latin typeface="Century Gothic"/>
                <a:cs typeface="Century Gothic"/>
              </a:rPr>
              <a:t>Planning</a:t>
            </a:r>
            <a:endParaRPr sz="29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845"/>
              </a:spcBef>
            </a:pPr>
            <a:r>
              <a:rPr dirty="0" sz="1950" spc="-170">
                <a:latin typeface="Century Gothic"/>
                <a:cs typeface="Century Gothic"/>
              </a:rPr>
              <a:t>1.5</a:t>
            </a:r>
            <a:r>
              <a:rPr dirty="0" sz="1950" spc="-15">
                <a:latin typeface="Century Gothic"/>
                <a:cs typeface="Century Gothic"/>
              </a:rPr>
              <a:t> </a:t>
            </a:r>
            <a:r>
              <a:rPr dirty="0" sz="1950">
                <a:latin typeface="Century Gothic"/>
                <a:cs typeface="Century Gothic"/>
              </a:rPr>
              <a:t>million</a:t>
            </a:r>
            <a:r>
              <a:rPr dirty="0" sz="1950" spc="-70">
                <a:latin typeface="Century Gothic"/>
                <a:cs typeface="Century Gothic"/>
              </a:rPr>
              <a:t> </a:t>
            </a:r>
            <a:r>
              <a:rPr dirty="0" sz="1950">
                <a:latin typeface="Century Gothic"/>
                <a:cs typeface="Century Gothic"/>
              </a:rPr>
              <a:t>records</a:t>
            </a:r>
            <a:r>
              <a:rPr dirty="0" sz="1950" spc="-30">
                <a:latin typeface="Century Gothic"/>
                <a:cs typeface="Century Gothic"/>
              </a:rPr>
              <a:t> </a:t>
            </a:r>
            <a:r>
              <a:rPr dirty="0" sz="1950" spc="-85">
                <a:latin typeface="Century Gothic"/>
                <a:cs typeface="Century Gothic"/>
              </a:rPr>
              <a:t>reveal</a:t>
            </a:r>
            <a:r>
              <a:rPr dirty="0" sz="1950" spc="-30">
                <a:latin typeface="Century Gothic"/>
                <a:cs typeface="Century Gothic"/>
              </a:rPr>
              <a:t> </a:t>
            </a:r>
            <a:r>
              <a:rPr dirty="0" sz="1950" spc="-20">
                <a:latin typeface="Century Gothic"/>
                <a:cs typeface="Century Gothic"/>
              </a:rPr>
              <a:t>spatial</a:t>
            </a:r>
            <a:r>
              <a:rPr dirty="0" sz="1950" spc="-35">
                <a:latin typeface="Century Gothic"/>
                <a:cs typeface="Century Gothic"/>
              </a:rPr>
              <a:t> </a:t>
            </a:r>
            <a:r>
              <a:rPr dirty="0" sz="1950" spc="-145">
                <a:latin typeface="Century Gothic"/>
                <a:cs typeface="Century Gothic"/>
              </a:rPr>
              <a:t>and</a:t>
            </a:r>
            <a:r>
              <a:rPr dirty="0" sz="1950" spc="-15">
                <a:latin typeface="Century Gothic"/>
                <a:cs typeface="Century Gothic"/>
              </a:rPr>
              <a:t> </a:t>
            </a:r>
            <a:r>
              <a:rPr dirty="0" sz="1950" spc="-40">
                <a:latin typeface="Century Gothic"/>
                <a:cs typeface="Century Gothic"/>
              </a:rPr>
              <a:t>temporal</a:t>
            </a:r>
            <a:r>
              <a:rPr dirty="0" sz="1950" spc="-30">
                <a:latin typeface="Century Gothic"/>
                <a:cs typeface="Century Gothic"/>
              </a:rPr>
              <a:t> </a:t>
            </a:r>
            <a:r>
              <a:rPr dirty="0" sz="1950" spc="-90">
                <a:latin typeface="Century Gothic"/>
                <a:cs typeface="Century Gothic"/>
              </a:rPr>
              <a:t>delay</a:t>
            </a:r>
            <a:r>
              <a:rPr dirty="0" sz="1950" spc="-35">
                <a:latin typeface="Century Gothic"/>
                <a:cs typeface="Century Gothic"/>
              </a:rPr>
              <a:t> </a:t>
            </a:r>
            <a:r>
              <a:rPr dirty="0" sz="1950" spc="-10">
                <a:latin typeface="Century Gothic"/>
                <a:cs typeface="Century Gothic"/>
              </a:rPr>
              <a:t>patterns</a:t>
            </a:r>
            <a:endParaRPr sz="195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216856" y="561158"/>
            <a:ext cx="1644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40">
                <a:solidFill>
                  <a:srgbClr val="04191A"/>
                </a:solidFill>
                <a:latin typeface="Century Gothic"/>
                <a:cs typeface="Century Gothic"/>
              </a:rPr>
              <a:t>4</a:t>
            </a:r>
            <a:endParaRPr sz="1800">
              <a:latin typeface="Century Gothic"/>
              <a:cs typeface="Century Gothic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133917" y="4819894"/>
            <a:ext cx="19050" cy="2705100"/>
            <a:chOff x="9133917" y="4819894"/>
            <a:chExt cx="19050" cy="2705100"/>
          </a:xfrm>
        </p:grpSpPr>
        <p:sp>
          <p:nvSpPr>
            <p:cNvPr id="7" name="object 7"/>
            <p:cNvSpPr/>
            <p:nvPr/>
          </p:nvSpPr>
          <p:spPr>
            <a:xfrm>
              <a:off x="9143442" y="6577792"/>
              <a:ext cx="0" cy="946785"/>
            </a:xfrm>
            <a:custGeom>
              <a:avLst/>
              <a:gdLst/>
              <a:ahLst/>
              <a:cxnLst/>
              <a:rect l="l" t="t" r="r" b="b"/>
              <a:pathLst>
                <a:path w="0" h="946784">
                  <a:moveTo>
                    <a:pt x="0" y="946708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2DC29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9143442" y="4819894"/>
              <a:ext cx="0" cy="1249045"/>
            </a:xfrm>
            <a:custGeom>
              <a:avLst/>
              <a:gdLst/>
              <a:ahLst/>
              <a:cxnLst/>
              <a:rect l="l" t="t" r="r" b="b"/>
              <a:pathLst>
                <a:path w="0" h="1249045">
                  <a:moveTo>
                    <a:pt x="0" y="1248422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2DC29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905904" y="561158"/>
            <a:ext cx="42418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5">
                <a:solidFill>
                  <a:srgbClr val="04191A"/>
                </a:solidFill>
                <a:latin typeface="Century Gothic"/>
                <a:cs typeface="Century Gothic"/>
              </a:rPr>
              <a:t>INTRODUCTION</a:t>
            </a:r>
            <a:r>
              <a:rPr dirty="0" sz="1800" spc="-10">
                <a:solidFill>
                  <a:srgbClr val="04191A"/>
                </a:solidFill>
                <a:latin typeface="Century Gothic"/>
                <a:cs typeface="Century Gothic"/>
              </a:rPr>
              <a:t> </a:t>
            </a:r>
            <a:r>
              <a:rPr dirty="0" sz="1800" spc="-130">
                <a:solidFill>
                  <a:srgbClr val="04191A"/>
                </a:solidFill>
                <a:latin typeface="Century Gothic"/>
                <a:cs typeface="Century Gothic"/>
              </a:rPr>
              <a:t>AND</a:t>
            </a:r>
            <a:r>
              <a:rPr dirty="0" sz="1800" spc="-10">
                <a:solidFill>
                  <a:srgbClr val="04191A"/>
                </a:solidFill>
                <a:latin typeface="Century Gothic"/>
                <a:cs typeface="Century Gothic"/>
              </a:rPr>
              <a:t> </a:t>
            </a:r>
            <a:r>
              <a:rPr dirty="0" sz="1800" spc="-140">
                <a:solidFill>
                  <a:srgbClr val="04191A"/>
                </a:solidFill>
                <a:latin typeface="Century Gothic"/>
                <a:cs typeface="Century Gothic"/>
              </a:rPr>
              <a:t>DATA</a:t>
            </a:r>
            <a:r>
              <a:rPr dirty="0" sz="1800" spc="-10">
                <a:solidFill>
                  <a:srgbClr val="04191A"/>
                </a:solidFill>
                <a:latin typeface="Century Gothic"/>
                <a:cs typeface="Century Gothic"/>
              </a:rPr>
              <a:t> COLLECTION</a:t>
            </a:r>
            <a:endParaRPr sz="18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419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2397738" y="4611028"/>
            <a:ext cx="670560" cy="845819"/>
          </a:xfrm>
          <a:custGeom>
            <a:avLst/>
            <a:gdLst/>
            <a:ahLst/>
            <a:cxnLst/>
            <a:rect l="l" t="t" r="r" b="b"/>
            <a:pathLst>
              <a:path w="670559" h="845820">
                <a:moveTo>
                  <a:pt x="335241" y="0"/>
                </a:moveTo>
                <a:lnTo>
                  <a:pt x="285770" y="3810"/>
                </a:lnTo>
                <a:lnTo>
                  <a:pt x="238529" y="15240"/>
                </a:lnTo>
                <a:lnTo>
                  <a:pt x="194042" y="31750"/>
                </a:lnTo>
                <a:lnTo>
                  <a:pt x="152831" y="54610"/>
                </a:lnTo>
                <a:lnTo>
                  <a:pt x="115420" y="82550"/>
                </a:lnTo>
                <a:lnTo>
                  <a:pt x="82330" y="115570"/>
                </a:lnTo>
                <a:lnTo>
                  <a:pt x="54085" y="153670"/>
                </a:lnTo>
                <a:lnTo>
                  <a:pt x="31206" y="194310"/>
                </a:lnTo>
                <a:lnTo>
                  <a:pt x="14218" y="238760"/>
                </a:lnTo>
                <a:lnTo>
                  <a:pt x="3641" y="285750"/>
                </a:lnTo>
                <a:lnTo>
                  <a:pt x="0" y="335280"/>
                </a:lnTo>
                <a:lnTo>
                  <a:pt x="5260" y="379730"/>
                </a:lnTo>
                <a:lnTo>
                  <a:pt x="19930" y="426720"/>
                </a:lnTo>
                <a:lnTo>
                  <a:pt x="42342" y="477520"/>
                </a:lnTo>
                <a:lnTo>
                  <a:pt x="70827" y="528320"/>
                </a:lnTo>
                <a:lnTo>
                  <a:pt x="103718" y="579120"/>
                </a:lnTo>
                <a:lnTo>
                  <a:pt x="139347" y="628650"/>
                </a:lnTo>
                <a:lnTo>
                  <a:pt x="176046" y="675640"/>
                </a:lnTo>
                <a:lnTo>
                  <a:pt x="212146" y="718820"/>
                </a:lnTo>
                <a:lnTo>
                  <a:pt x="245980" y="758190"/>
                </a:lnTo>
                <a:lnTo>
                  <a:pt x="275880" y="791210"/>
                </a:lnTo>
                <a:lnTo>
                  <a:pt x="317207" y="834390"/>
                </a:lnTo>
                <a:lnTo>
                  <a:pt x="331647" y="845820"/>
                </a:lnTo>
                <a:lnTo>
                  <a:pt x="338836" y="845820"/>
                </a:lnTo>
                <a:lnTo>
                  <a:pt x="342430" y="844550"/>
                </a:lnTo>
                <a:lnTo>
                  <a:pt x="345173" y="842010"/>
                </a:lnTo>
                <a:lnTo>
                  <a:pt x="353263" y="834390"/>
                </a:lnTo>
                <a:lnTo>
                  <a:pt x="373928" y="812800"/>
                </a:lnTo>
                <a:lnTo>
                  <a:pt x="335241" y="812800"/>
                </a:lnTo>
                <a:lnTo>
                  <a:pt x="317901" y="793750"/>
                </a:lnTo>
                <a:lnTo>
                  <a:pt x="231732" y="698500"/>
                </a:lnTo>
                <a:lnTo>
                  <a:pt x="196866" y="655320"/>
                </a:lnTo>
                <a:lnTo>
                  <a:pt x="161548" y="610870"/>
                </a:lnTo>
                <a:lnTo>
                  <a:pt x="127351" y="562610"/>
                </a:lnTo>
                <a:lnTo>
                  <a:pt x="95846" y="514350"/>
                </a:lnTo>
                <a:lnTo>
                  <a:pt x="68606" y="467360"/>
                </a:lnTo>
                <a:lnTo>
                  <a:pt x="47203" y="420370"/>
                </a:lnTo>
                <a:lnTo>
                  <a:pt x="33208" y="375920"/>
                </a:lnTo>
                <a:lnTo>
                  <a:pt x="28194" y="335280"/>
                </a:lnTo>
                <a:lnTo>
                  <a:pt x="31529" y="290830"/>
                </a:lnTo>
                <a:lnTo>
                  <a:pt x="41215" y="247650"/>
                </a:lnTo>
                <a:lnTo>
                  <a:pt x="56774" y="207010"/>
                </a:lnTo>
                <a:lnTo>
                  <a:pt x="77727" y="168910"/>
                </a:lnTo>
                <a:lnTo>
                  <a:pt x="103596" y="134620"/>
                </a:lnTo>
                <a:lnTo>
                  <a:pt x="133902" y="104140"/>
                </a:lnTo>
                <a:lnTo>
                  <a:pt x="168166" y="78740"/>
                </a:lnTo>
                <a:lnTo>
                  <a:pt x="205911" y="57150"/>
                </a:lnTo>
                <a:lnTo>
                  <a:pt x="246657" y="41910"/>
                </a:lnTo>
                <a:lnTo>
                  <a:pt x="289927" y="31750"/>
                </a:lnTo>
                <a:lnTo>
                  <a:pt x="335241" y="29210"/>
                </a:lnTo>
                <a:lnTo>
                  <a:pt x="469597" y="29210"/>
                </a:lnTo>
                <a:lnTo>
                  <a:pt x="431954" y="15240"/>
                </a:lnTo>
                <a:lnTo>
                  <a:pt x="384713" y="3810"/>
                </a:lnTo>
                <a:lnTo>
                  <a:pt x="335241" y="0"/>
                </a:lnTo>
                <a:close/>
              </a:path>
              <a:path w="670559" h="845820">
                <a:moveTo>
                  <a:pt x="469597" y="29210"/>
                </a:moveTo>
                <a:lnTo>
                  <a:pt x="335241" y="29210"/>
                </a:lnTo>
                <a:lnTo>
                  <a:pt x="384979" y="33020"/>
                </a:lnTo>
                <a:lnTo>
                  <a:pt x="432186" y="44450"/>
                </a:lnTo>
                <a:lnTo>
                  <a:pt x="476224" y="63500"/>
                </a:lnTo>
                <a:lnTo>
                  <a:pt x="516457" y="87630"/>
                </a:lnTo>
                <a:lnTo>
                  <a:pt x="552248" y="119380"/>
                </a:lnTo>
                <a:lnTo>
                  <a:pt x="582960" y="154940"/>
                </a:lnTo>
                <a:lnTo>
                  <a:pt x="607955" y="194310"/>
                </a:lnTo>
                <a:lnTo>
                  <a:pt x="626598" y="238760"/>
                </a:lnTo>
                <a:lnTo>
                  <a:pt x="638251" y="285750"/>
                </a:lnTo>
                <a:lnTo>
                  <a:pt x="642277" y="335280"/>
                </a:lnTo>
                <a:lnTo>
                  <a:pt x="637262" y="375920"/>
                </a:lnTo>
                <a:lnTo>
                  <a:pt x="623267" y="420370"/>
                </a:lnTo>
                <a:lnTo>
                  <a:pt x="601864" y="467360"/>
                </a:lnTo>
                <a:lnTo>
                  <a:pt x="574624" y="514350"/>
                </a:lnTo>
                <a:lnTo>
                  <a:pt x="543120" y="562610"/>
                </a:lnTo>
                <a:lnTo>
                  <a:pt x="508923" y="610870"/>
                </a:lnTo>
                <a:lnTo>
                  <a:pt x="473607" y="655320"/>
                </a:lnTo>
                <a:lnTo>
                  <a:pt x="438742" y="698500"/>
                </a:lnTo>
                <a:lnTo>
                  <a:pt x="376656" y="768350"/>
                </a:lnTo>
                <a:lnTo>
                  <a:pt x="352578" y="793750"/>
                </a:lnTo>
                <a:lnTo>
                  <a:pt x="335241" y="812800"/>
                </a:lnTo>
                <a:lnTo>
                  <a:pt x="373928" y="812800"/>
                </a:lnTo>
                <a:lnTo>
                  <a:pt x="394592" y="791210"/>
                </a:lnTo>
                <a:lnTo>
                  <a:pt x="424493" y="758190"/>
                </a:lnTo>
                <a:lnTo>
                  <a:pt x="458328" y="718820"/>
                </a:lnTo>
                <a:lnTo>
                  <a:pt x="494430" y="675640"/>
                </a:lnTo>
                <a:lnTo>
                  <a:pt x="531130" y="628650"/>
                </a:lnTo>
                <a:lnTo>
                  <a:pt x="566760" y="579120"/>
                </a:lnTo>
                <a:lnTo>
                  <a:pt x="599653" y="528320"/>
                </a:lnTo>
                <a:lnTo>
                  <a:pt x="628139" y="477520"/>
                </a:lnTo>
                <a:lnTo>
                  <a:pt x="650552" y="426720"/>
                </a:lnTo>
                <a:lnTo>
                  <a:pt x="665222" y="379730"/>
                </a:lnTo>
                <a:lnTo>
                  <a:pt x="670483" y="335280"/>
                </a:lnTo>
                <a:lnTo>
                  <a:pt x="666935" y="287020"/>
                </a:lnTo>
                <a:lnTo>
                  <a:pt x="656265" y="238760"/>
                </a:lnTo>
                <a:lnTo>
                  <a:pt x="639276" y="194310"/>
                </a:lnTo>
                <a:lnTo>
                  <a:pt x="616398" y="153670"/>
                </a:lnTo>
                <a:lnTo>
                  <a:pt x="588153" y="115570"/>
                </a:lnTo>
                <a:lnTo>
                  <a:pt x="555063" y="82550"/>
                </a:lnTo>
                <a:lnTo>
                  <a:pt x="517651" y="54610"/>
                </a:lnTo>
                <a:lnTo>
                  <a:pt x="476441" y="31750"/>
                </a:lnTo>
                <a:lnTo>
                  <a:pt x="469597" y="29210"/>
                </a:lnTo>
                <a:close/>
              </a:path>
              <a:path w="670559" h="845820">
                <a:moveTo>
                  <a:pt x="269335" y="430530"/>
                </a:moveTo>
                <a:lnTo>
                  <a:pt x="237096" y="430530"/>
                </a:lnTo>
                <a:lnTo>
                  <a:pt x="232287" y="440690"/>
                </a:lnTo>
                <a:lnTo>
                  <a:pt x="228684" y="452120"/>
                </a:lnTo>
                <a:lnTo>
                  <a:pt x="226464" y="462280"/>
                </a:lnTo>
                <a:lnTo>
                  <a:pt x="225888" y="471170"/>
                </a:lnTo>
                <a:lnTo>
                  <a:pt x="225806" y="472440"/>
                </a:lnTo>
                <a:lnTo>
                  <a:pt x="227039" y="483870"/>
                </a:lnTo>
                <a:lnTo>
                  <a:pt x="252098" y="515620"/>
                </a:lnTo>
                <a:lnTo>
                  <a:pt x="272091" y="524510"/>
                </a:lnTo>
                <a:lnTo>
                  <a:pt x="287591" y="524510"/>
                </a:lnTo>
                <a:lnTo>
                  <a:pt x="302052" y="521970"/>
                </a:lnTo>
                <a:lnTo>
                  <a:pt x="315045" y="516890"/>
                </a:lnTo>
                <a:lnTo>
                  <a:pt x="326224" y="509270"/>
                </a:lnTo>
                <a:lnTo>
                  <a:pt x="335241" y="502920"/>
                </a:lnTo>
                <a:lnTo>
                  <a:pt x="433690" y="502920"/>
                </a:lnTo>
                <a:lnTo>
                  <a:pt x="434888" y="501650"/>
                </a:lnTo>
                <a:lnTo>
                  <a:pt x="437897" y="496570"/>
                </a:lnTo>
                <a:lnTo>
                  <a:pt x="278894" y="496570"/>
                </a:lnTo>
                <a:lnTo>
                  <a:pt x="272805" y="495300"/>
                </a:lnTo>
                <a:lnTo>
                  <a:pt x="266902" y="492760"/>
                </a:lnTo>
                <a:lnTo>
                  <a:pt x="261124" y="487680"/>
                </a:lnTo>
                <a:lnTo>
                  <a:pt x="256374" y="483870"/>
                </a:lnTo>
                <a:lnTo>
                  <a:pt x="254114" y="478790"/>
                </a:lnTo>
                <a:lnTo>
                  <a:pt x="253987" y="472440"/>
                </a:lnTo>
                <a:lnTo>
                  <a:pt x="258335" y="452120"/>
                </a:lnTo>
                <a:lnTo>
                  <a:pt x="269335" y="430530"/>
                </a:lnTo>
                <a:close/>
              </a:path>
              <a:path w="670559" h="845820">
                <a:moveTo>
                  <a:pt x="433690" y="502920"/>
                </a:moveTo>
                <a:lnTo>
                  <a:pt x="335241" y="502920"/>
                </a:lnTo>
                <a:lnTo>
                  <a:pt x="344251" y="509270"/>
                </a:lnTo>
                <a:lnTo>
                  <a:pt x="355426" y="516890"/>
                </a:lnTo>
                <a:lnTo>
                  <a:pt x="368419" y="521970"/>
                </a:lnTo>
                <a:lnTo>
                  <a:pt x="382879" y="524510"/>
                </a:lnTo>
                <a:lnTo>
                  <a:pt x="394845" y="524510"/>
                </a:lnTo>
                <a:lnTo>
                  <a:pt x="406331" y="521970"/>
                </a:lnTo>
                <a:lnTo>
                  <a:pt x="417296" y="516890"/>
                </a:lnTo>
                <a:lnTo>
                  <a:pt x="427697" y="509270"/>
                </a:lnTo>
                <a:lnTo>
                  <a:pt x="433690" y="502920"/>
                </a:lnTo>
                <a:close/>
              </a:path>
              <a:path w="670559" h="845820">
                <a:moveTo>
                  <a:pt x="339407" y="468630"/>
                </a:moveTo>
                <a:lnTo>
                  <a:pt x="331431" y="468630"/>
                </a:lnTo>
                <a:lnTo>
                  <a:pt x="327177" y="471170"/>
                </a:lnTo>
                <a:lnTo>
                  <a:pt x="324497" y="473710"/>
                </a:lnTo>
                <a:lnTo>
                  <a:pt x="321212" y="477520"/>
                </a:lnTo>
                <a:lnTo>
                  <a:pt x="312607" y="485140"/>
                </a:lnTo>
                <a:lnTo>
                  <a:pt x="300130" y="492760"/>
                </a:lnTo>
                <a:lnTo>
                  <a:pt x="285229" y="496570"/>
                </a:lnTo>
                <a:lnTo>
                  <a:pt x="385241" y="496570"/>
                </a:lnTo>
                <a:lnTo>
                  <a:pt x="370346" y="492760"/>
                </a:lnTo>
                <a:lnTo>
                  <a:pt x="357873" y="485140"/>
                </a:lnTo>
                <a:lnTo>
                  <a:pt x="349276" y="477520"/>
                </a:lnTo>
                <a:lnTo>
                  <a:pt x="346011" y="473710"/>
                </a:lnTo>
                <a:lnTo>
                  <a:pt x="343344" y="471170"/>
                </a:lnTo>
                <a:lnTo>
                  <a:pt x="339407" y="468630"/>
                </a:lnTo>
                <a:close/>
              </a:path>
              <a:path w="670559" h="845820">
                <a:moveTo>
                  <a:pt x="376643" y="353060"/>
                </a:moveTo>
                <a:lnTo>
                  <a:pt x="335241" y="353060"/>
                </a:lnTo>
                <a:lnTo>
                  <a:pt x="340739" y="358140"/>
                </a:lnTo>
                <a:lnTo>
                  <a:pt x="346694" y="364490"/>
                </a:lnTo>
                <a:lnTo>
                  <a:pt x="353072" y="370840"/>
                </a:lnTo>
                <a:lnTo>
                  <a:pt x="359841" y="377190"/>
                </a:lnTo>
                <a:lnTo>
                  <a:pt x="381718" y="402590"/>
                </a:lnTo>
                <a:lnTo>
                  <a:pt x="399849" y="427990"/>
                </a:lnTo>
                <a:lnTo>
                  <a:pt x="412137" y="452120"/>
                </a:lnTo>
                <a:lnTo>
                  <a:pt x="416483" y="472440"/>
                </a:lnTo>
                <a:lnTo>
                  <a:pt x="416369" y="478790"/>
                </a:lnTo>
                <a:lnTo>
                  <a:pt x="414096" y="483870"/>
                </a:lnTo>
                <a:lnTo>
                  <a:pt x="409346" y="487680"/>
                </a:lnTo>
                <a:lnTo>
                  <a:pt x="403553" y="492760"/>
                </a:lnTo>
                <a:lnTo>
                  <a:pt x="397622" y="495300"/>
                </a:lnTo>
                <a:lnTo>
                  <a:pt x="391528" y="496570"/>
                </a:lnTo>
                <a:lnTo>
                  <a:pt x="437897" y="496570"/>
                </a:lnTo>
                <a:lnTo>
                  <a:pt x="440153" y="492760"/>
                </a:lnTo>
                <a:lnTo>
                  <a:pt x="443432" y="483870"/>
                </a:lnTo>
                <a:lnTo>
                  <a:pt x="444665" y="472440"/>
                </a:lnTo>
                <a:lnTo>
                  <a:pt x="444006" y="462280"/>
                </a:lnTo>
                <a:lnTo>
                  <a:pt x="441788" y="452120"/>
                </a:lnTo>
                <a:lnTo>
                  <a:pt x="438189" y="440690"/>
                </a:lnTo>
                <a:lnTo>
                  <a:pt x="433387" y="430530"/>
                </a:lnTo>
                <a:lnTo>
                  <a:pt x="506171" y="430530"/>
                </a:lnTo>
                <a:lnTo>
                  <a:pt x="512495" y="424180"/>
                </a:lnTo>
                <a:lnTo>
                  <a:pt x="519968" y="414020"/>
                </a:lnTo>
                <a:lnTo>
                  <a:pt x="520531" y="412750"/>
                </a:lnTo>
                <a:lnTo>
                  <a:pt x="474662" y="412750"/>
                </a:lnTo>
                <a:lnTo>
                  <a:pt x="454163" y="408940"/>
                </a:lnTo>
                <a:lnTo>
                  <a:pt x="430507" y="396240"/>
                </a:lnTo>
                <a:lnTo>
                  <a:pt x="405218" y="378460"/>
                </a:lnTo>
                <a:lnTo>
                  <a:pt x="379818" y="356870"/>
                </a:lnTo>
                <a:lnTo>
                  <a:pt x="376643" y="353060"/>
                </a:lnTo>
                <a:close/>
              </a:path>
              <a:path w="670559" h="845820">
                <a:moveTo>
                  <a:pt x="194716" y="222250"/>
                </a:moveTo>
                <a:lnTo>
                  <a:pt x="157975" y="240030"/>
                </a:lnTo>
                <a:lnTo>
                  <a:pt x="142596" y="281940"/>
                </a:lnTo>
                <a:lnTo>
                  <a:pt x="142544" y="284480"/>
                </a:lnTo>
                <a:lnTo>
                  <a:pt x="145440" y="298450"/>
                </a:lnTo>
                <a:lnTo>
                  <a:pt x="150896" y="312420"/>
                </a:lnTo>
                <a:lnTo>
                  <a:pt x="157727" y="322580"/>
                </a:lnTo>
                <a:lnTo>
                  <a:pt x="164744" y="331470"/>
                </a:lnTo>
                <a:lnTo>
                  <a:pt x="157727" y="341630"/>
                </a:lnTo>
                <a:lnTo>
                  <a:pt x="150896" y="351790"/>
                </a:lnTo>
                <a:lnTo>
                  <a:pt x="145440" y="365760"/>
                </a:lnTo>
                <a:lnTo>
                  <a:pt x="142544" y="379730"/>
                </a:lnTo>
                <a:lnTo>
                  <a:pt x="142726" y="388620"/>
                </a:lnTo>
                <a:lnTo>
                  <a:pt x="142778" y="391160"/>
                </a:lnTo>
                <a:lnTo>
                  <a:pt x="165564" y="431800"/>
                </a:lnTo>
                <a:lnTo>
                  <a:pt x="194716" y="441960"/>
                </a:lnTo>
                <a:lnTo>
                  <a:pt x="195732" y="441960"/>
                </a:lnTo>
                <a:lnTo>
                  <a:pt x="205674" y="440690"/>
                </a:lnTo>
                <a:lnTo>
                  <a:pt x="215938" y="438150"/>
                </a:lnTo>
                <a:lnTo>
                  <a:pt x="237096" y="430530"/>
                </a:lnTo>
                <a:lnTo>
                  <a:pt x="269335" y="430530"/>
                </a:lnTo>
                <a:lnTo>
                  <a:pt x="270629" y="427990"/>
                </a:lnTo>
                <a:lnTo>
                  <a:pt x="281512" y="412750"/>
                </a:lnTo>
                <a:lnTo>
                  <a:pt x="188480" y="412750"/>
                </a:lnTo>
                <a:lnTo>
                  <a:pt x="170649" y="382270"/>
                </a:lnTo>
                <a:lnTo>
                  <a:pt x="174879" y="367030"/>
                </a:lnTo>
                <a:lnTo>
                  <a:pt x="182624" y="354330"/>
                </a:lnTo>
                <a:lnTo>
                  <a:pt x="190100" y="346710"/>
                </a:lnTo>
                <a:lnTo>
                  <a:pt x="193522" y="342900"/>
                </a:lnTo>
                <a:lnTo>
                  <a:pt x="196684" y="340360"/>
                </a:lnTo>
                <a:lnTo>
                  <a:pt x="198501" y="336550"/>
                </a:lnTo>
                <a:lnTo>
                  <a:pt x="198526" y="327660"/>
                </a:lnTo>
                <a:lnTo>
                  <a:pt x="196710" y="323850"/>
                </a:lnTo>
                <a:lnTo>
                  <a:pt x="193560" y="321310"/>
                </a:lnTo>
                <a:lnTo>
                  <a:pt x="190116" y="317500"/>
                </a:lnTo>
                <a:lnTo>
                  <a:pt x="182629" y="309880"/>
                </a:lnTo>
                <a:lnTo>
                  <a:pt x="174879" y="297180"/>
                </a:lnTo>
                <a:lnTo>
                  <a:pt x="170649" y="281940"/>
                </a:lnTo>
                <a:lnTo>
                  <a:pt x="170809" y="275590"/>
                </a:lnTo>
                <a:lnTo>
                  <a:pt x="195808" y="250190"/>
                </a:lnTo>
                <a:lnTo>
                  <a:pt x="280225" y="250190"/>
                </a:lnTo>
                <a:lnTo>
                  <a:pt x="270379" y="236220"/>
                </a:lnTo>
                <a:lnTo>
                  <a:pt x="269104" y="233680"/>
                </a:lnTo>
                <a:lnTo>
                  <a:pt x="236956" y="233680"/>
                </a:lnTo>
                <a:lnTo>
                  <a:pt x="226084" y="228600"/>
                </a:lnTo>
                <a:lnTo>
                  <a:pt x="215360" y="224790"/>
                </a:lnTo>
                <a:lnTo>
                  <a:pt x="194716" y="222250"/>
                </a:lnTo>
                <a:close/>
              </a:path>
              <a:path w="670559" h="845820">
                <a:moveTo>
                  <a:pt x="506171" y="430530"/>
                </a:moveTo>
                <a:lnTo>
                  <a:pt x="433387" y="430530"/>
                </a:lnTo>
                <a:lnTo>
                  <a:pt x="454539" y="438150"/>
                </a:lnTo>
                <a:lnTo>
                  <a:pt x="464802" y="440690"/>
                </a:lnTo>
                <a:lnTo>
                  <a:pt x="474738" y="441960"/>
                </a:lnTo>
                <a:lnTo>
                  <a:pt x="475767" y="441960"/>
                </a:lnTo>
                <a:lnTo>
                  <a:pt x="486413" y="440690"/>
                </a:lnTo>
                <a:lnTo>
                  <a:pt x="496169" y="436880"/>
                </a:lnTo>
                <a:lnTo>
                  <a:pt x="504906" y="431800"/>
                </a:lnTo>
                <a:lnTo>
                  <a:pt x="506171" y="430530"/>
                </a:lnTo>
                <a:close/>
              </a:path>
              <a:path w="670559" h="845820">
                <a:moveTo>
                  <a:pt x="280225" y="250190"/>
                </a:moveTo>
                <a:lnTo>
                  <a:pt x="195808" y="250190"/>
                </a:lnTo>
                <a:lnTo>
                  <a:pt x="216314" y="255270"/>
                </a:lnTo>
                <a:lnTo>
                  <a:pt x="239976" y="267970"/>
                </a:lnTo>
                <a:lnTo>
                  <a:pt x="290677" y="307340"/>
                </a:lnTo>
                <a:lnTo>
                  <a:pt x="309104" y="326390"/>
                </a:lnTo>
                <a:lnTo>
                  <a:pt x="314718" y="331470"/>
                </a:lnTo>
                <a:lnTo>
                  <a:pt x="309104" y="337820"/>
                </a:lnTo>
                <a:lnTo>
                  <a:pt x="303182" y="342900"/>
                </a:lnTo>
                <a:lnTo>
                  <a:pt x="297014" y="349250"/>
                </a:lnTo>
                <a:lnTo>
                  <a:pt x="265263" y="378460"/>
                </a:lnTo>
                <a:lnTo>
                  <a:pt x="216309" y="408940"/>
                </a:lnTo>
                <a:lnTo>
                  <a:pt x="195808" y="412750"/>
                </a:lnTo>
                <a:lnTo>
                  <a:pt x="281512" y="412750"/>
                </a:lnTo>
                <a:lnTo>
                  <a:pt x="288768" y="402590"/>
                </a:lnTo>
                <a:lnTo>
                  <a:pt x="310654" y="377190"/>
                </a:lnTo>
                <a:lnTo>
                  <a:pt x="317416" y="370840"/>
                </a:lnTo>
                <a:lnTo>
                  <a:pt x="323791" y="364490"/>
                </a:lnTo>
                <a:lnTo>
                  <a:pt x="329744" y="358140"/>
                </a:lnTo>
                <a:lnTo>
                  <a:pt x="335241" y="353060"/>
                </a:lnTo>
                <a:lnTo>
                  <a:pt x="376643" y="353060"/>
                </a:lnTo>
                <a:lnTo>
                  <a:pt x="373468" y="349250"/>
                </a:lnTo>
                <a:lnTo>
                  <a:pt x="367299" y="342900"/>
                </a:lnTo>
                <a:lnTo>
                  <a:pt x="361373" y="337820"/>
                </a:lnTo>
                <a:lnTo>
                  <a:pt x="355752" y="331470"/>
                </a:lnTo>
                <a:lnTo>
                  <a:pt x="361354" y="326390"/>
                </a:lnTo>
                <a:lnTo>
                  <a:pt x="367260" y="320040"/>
                </a:lnTo>
                <a:lnTo>
                  <a:pt x="373406" y="313690"/>
                </a:lnTo>
                <a:lnTo>
                  <a:pt x="375935" y="311150"/>
                </a:lnTo>
                <a:lnTo>
                  <a:pt x="335241" y="311150"/>
                </a:lnTo>
                <a:lnTo>
                  <a:pt x="329591" y="306070"/>
                </a:lnTo>
                <a:lnTo>
                  <a:pt x="323465" y="299720"/>
                </a:lnTo>
                <a:lnTo>
                  <a:pt x="316896" y="293370"/>
                </a:lnTo>
                <a:lnTo>
                  <a:pt x="309918" y="287020"/>
                </a:lnTo>
                <a:lnTo>
                  <a:pt x="288280" y="261620"/>
                </a:lnTo>
                <a:lnTo>
                  <a:pt x="280225" y="250190"/>
                </a:lnTo>
                <a:close/>
              </a:path>
              <a:path w="670559" h="845820">
                <a:moveTo>
                  <a:pt x="519968" y="250190"/>
                </a:moveTo>
                <a:lnTo>
                  <a:pt x="475259" y="250190"/>
                </a:lnTo>
                <a:lnTo>
                  <a:pt x="481990" y="251460"/>
                </a:lnTo>
                <a:lnTo>
                  <a:pt x="487019" y="252730"/>
                </a:lnTo>
                <a:lnTo>
                  <a:pt x="499833" y="281940"/>
                </a:lnTo>
                <a:lnTo>
                  <a:pt x="495597" y="297180"/>
                </a:lnTo>
                <a:lnTo>
                  <a:pt x="487848" y="309880"/>
                </a:lnTo>
                <a:lnTo>
                  <a:pt x="480370" y="317500"/>
                </a:lnTo>
                <a:lnTo>
                  <a:pt x="476948" y="321310"/>
                </a:lnTo>
                <a:lnTo>
                  <a:pt x="473773" y="323850"/>
                </a:lnTo>
                <a:lnTo>
                  <a:pt x="471944" y="327660"/>
                </a:lnTo>
                <a:lnTo>
                  <a:pt x="471944" y="336550"/>
                </a:lnTo>
                <a:lnTo>
                  <a:pt x="473773" y="340360"/>
                </a:lnTo>
                <a:lnTo>
                  <a:pt x="476948" y="342900"/>
                </a:lnTo>
                <a:lnTo>
                  <a:pt x="480377" y="346710"/>
                </a:lnTo>
                <a:lnTo>
                  <a:pt x="487837" y="354330"/>
                </a:lnTo>
                <a:lnTo>
                  <a:pt x="495570" y="367030"/>
                </a:lnTo>
                <a:lnTo>
                  <a:pt x="499821" y="382270"/>
                </a:lnTo>
                <a:lnTo>
                  <a:pt x="499675" y="388620"/>
                </a:lnTo>
                <a:lnTo>
                  <a:pt x="481990" y="412750"/>
                </a:lnTo>
                <a:lnTo>
                  <a:pt x="520531" y="412750"/>
                </a:lnTo>
                <a:lnTo>
                  <a:pt x="527926" y="379730"/>
                </a:lnTo>
                <a:lnTo>
                  <a:pt x="525032" y="365760"/>
                </a:lnTo>
                <a:lnTo>
                  <a:pt x="519579" y="351790"/>
                </a:lnTo>
                <a:lnTo>
                  <a:pt x="512749" y="341630"/>
                </a:lnTo>
                <a:lnTo>
                  <a:pt x="505726" y="331470"/>
                </a:lnTo>
                <a:lnTo>
                  <a:pt x="512749" y="322580"/>
                </a:lnTo>
                <a:lnTo>
                  <a:pt x="519579" y="312420"/>
                </a:lnTo>
                <a:lnTo>
                  <a:pt x="525032" y="298450"/>
                </a:lnTo>
                <a:lnTo>
                  <a:pt x="527926" y="284480"/>
                </a:lnTo>
                <a:lnTo>
                  <a:pt x="527748" y="275590"/>
                </a:lnTo>
                <a:lnTo>
                  <a:pt x="527697" y="273050"/>
                </a:lnTo>
                <a:lnTo>
                  <a:pt x="525040" y="260350"/>
                </a:lnTo>
                <a:lnTo>
                  <a:pt x="519968" y="250190"/>
                </a:lnTo>
                <a:close/>
              </a:path>
              <a:path w="670559" h="845820">
                <a:moveTo>
                  <a:pt x="437897" y="167640"/>
                </a:moveTo>
                <a:lnTo>
                  <a:pt x="391560" y="167640"/>
                </a:lnTo>
                <a:lnTo>
                  <a:pt x="397651" y="168910"/>
                </a:lnTo>
                <a:lnTo>
                  <a:pt x="403563" y="171450"/>
                </a:lnTo>
                <a:lnTo>
                  <a:pt x="409346" y="176530"/>
                </a:lnTo>
                <a:lnTo>
                  <a:pt x="414096" y="180340"/>
                </a:lnTo>
                <a:lnTo>
                  <a:pt x="416369" y="185420"/>
                </a:lnTo>
                <a:lnTo>
                  <a:pt x="399918" y="236220"/>
                </a:lnTo>
                <a:lnTo>
                  <a:pt x="360045" y="287020"/>
                </a:lnTo>
                <a:lnTo>
                  <a:pt x="353220" y="293370"/>
                </a:lnTo>
                <a:lnTo>
                  <a:pt x="346790" y="299720"/>
                </a:lnTo>
                <a:lnTo>
                  <a:pt x="340787" y="306070"/>
                </a:lnTo>
                <a:lnTo>
                  <a:pt x="335241" y="311150"/>
                </a:lnTo>
                <a:lnTo>
                  <a:pt x="375935" y="311150"/>
                </a:lnTo>
                <a:lnTo>
                  <a:pt x="405325" y="285750"/>
                </a:lnTo>
                <a:lnTo>
                  <a:pt x="454635" y="255270"/>
                </a:lnTo>
                <a:lnTo>
                  <a:pt x="475259" y="250190"/>
                </a:lnTo>
                <a:lnTo>
                  <a:pt x="519968" y="250190"/>
                </a:lnTo>
                <a:lnTo>
                  <a:pt x="512495" y="240030"/>
                </a:lnTo>
                <a:lnTo>
                  <a:pt x="506171" y="233680"/>
                </a:lnTo>
                <a:lnTo>
                  <a:pt x="433374" y="233680"/>
                </a:lnTo>
                <a:lnTo>
                  <a:pt x="438183" y="223520"/>
                </a:lnTo>
                <a:lnTo>
                  <a:pt x="444582" y="193040"/>
                </a:lnTo>
                <a:lnTo>
                  <a:pt x="444665" y="191770"/>
                </a:lnTo>
                <a:lnTo>
                  <a:pt x="443432" y="180340"/>
                </a:lnTo>
                <a:lnTo>
                  <a:pt x="440153" y="171450"/>
                </a:lnTo>
                <a:lnTo>
                  <a:pt x="437897" y="167640"/>
                </a:lnTo>
                <a:close/>
              </a:path>
              <a:path w="670559" h="845820">
                <a:moveTo>
                  <a:pt x="287591" y="139700"/>
                </a:moveTo>
                <a:lnTo>
                  <a:pt x="275627" y="139700"/>
                </a:lnTo>
                <a:lnTo>
                  <a:pt x="264144" y="142240"/>
                </a:lnTo>
                <a:lnTo>
                  <a:pt x="230322" y="171450"/>
                </a:lnTo>
                <a:lnTo>
                  <a:pt x="225943" y="190500"/>
                </a:lnTo>
                <a:lnTo>
                  <a:pt x="226048" y="195580"/>
                </a:lnTo>
                <a:lnTo>
                  <a:pt x="226453" y="201930"/>
                </a:lnTo>
                <a:lnTo>
                  <a:pt x="228642" y="212090"/>
                </a:lnTo>
                <a:lnTo>
                  <a:pt x="232201" y="222250"/>
                </a:lnTo>
                <a:lnTo>
                  <a:pt x="236956" y="233680"/>
                </a:lnTo>
                <a:lnTo>
                  <a:pt x="269104" y="233680"/>
                </a:lnTo>
                <a:lnTo>
                  <a:pt x="258265" y="212090"/>
                </a:lnTo>
                <a:lnTo>
                  <a:pt x="253987" y="191770"/>
                </a:lnTo>
                <a:lnTo>
                  <a:pt x="254114" y="185420"/>
                </a:lnTo>
                <a:lnTo>
                  <a:pt x="256374" y="180340"/>
                </a:lnTo>
                <a:lnTo>
                  <a:pt x="268046" y="170180"/>
                </a:lnTo>
                <a:lnTo>
                  <a:pt x="275170" y="167640"/>
                </a:lnTo>
                <a:lnTo>
                  <a:pt x="437897" y="167640"/>
                </a:lnTo>
                <a:lnTo>
                  <a:pt x="434888" y="162560"/>
                </a:lnTo>
                <a:lnTo>
                  <a:pt x="433690" y="161290"/>
                </a:lnTo>
                <a:lnTo>
                  <a:pt x="335241" y="161290"/>
                </a:lnTo>
                <a:lnTo>
                  <a:pt x="326224" y="154940"/>
                </a:lnTo>
                <a:lnTo>
                  <a:pt x="315045" y="147320"/>
                </a:lnTo>
                <a:lnTo>
                  <a:pt x="302052" y="142240"/>
                </a:lnTo>
                <a:lnTo>
                  <a:pt x="287591" y="139700"/>
                </a:lnTo>
                <a:close/>
              </a:path>
              <a:path w="670559" h="845820">
                <a:moveTo>
                  <a:pt x="475767" y="222250"/>
                </a:moveTo>
                <a:lnTo>
                  <a:pt x="465564" y="223520"/>
                </a:lnTo>
                <a:lnTo>
                  <a:pt x="444277" y="228600"/>
                </a:lnTo>
                <a:lnTo>
                  <a:pt x="433374" y="233680"/>
                </a:lnTo>
                <a:lnTo>
                  <a:pt x="506171" y="233680"/>
                </a:lnTo>
                <a:lnTo>
                  <a:pt x="504906" y="232410"/>
                </a:lnTo>
                <a:lnTo>
                  <a:pt x="496169" y="227330"/>
                </a:lnTo>
                <a:lnTo>
                  <a:pt x="486413" y="223520"/>
                </a:lnTo>
                <a:lnTo>
                  <a:pt x="475767" y="222250"/>
                </a:lnTo>
                <a:close/>
              </a:path>
              <a:path w="670559" h="845820">
                <a:moveTo>
                  <a:pt x="385241" y="167640"/>
                </a:moveTo>
                <a:lnTo>
                  <a:pt x="285229" y="167640"/>
                </a:lnTo>
                <a:lnTo>
                  <a:pt x="300129" y="171450"/>
                </a:lnTo>
                <a:lnTo>
                  <a:pt x="312602" y="179070"/>
                </a:lnTo>
                <a:lnTo>
                  <a:pt x="321196" y="186690"/>
                </a:lnTo>
                <a:lnTo>
                  <a:pt x="324459" y="190500"/>
                </a:lnTo>
                <a:lnTo>
                  <a:pt x="327139" y="193040"/>
                </a:lnTo>
                <a:lnTo>
                  <a:pt x="331076" y="195580"/>
                </a:lnTo>
                <a:lnTo>
                  <a:pt x="339369" y="195580"/>
                </a:lnTo>
                <a:lnTo>
                  <a:pt x="343306" y="193040"/>
                </a:lnTo>
                <a:lnTo>
                  <a:pt x="345986" y="190500"/>
                </a:lnTo>
                <a:lnTo>
                  <a:pt x="349265" y="186690"/>
                </a:lnTo>
                <a:lnTo>
                  <a:pt x="357870" y="179070"/>
                </a:lnTo>
                <a:lnTo>
                  <a:pt x="370346" y="171450"/>
                </a:lnTo>
                <a:lnTo>
                  <a:pt x="385241" y="167640"/>
                </a:lnTo>
                <a:close/>
              </a:path>
              <a:path w="670559" h="845820">
                <a:moveTo>
                  <a:pt x="394840" y="139700"/>
                </a:moveTo>
                <a:lnTo>
                  <a:pt x="382879" y="139700"/>
                </a:lnTo>
                <a:lnTo>
                  <a:pt x="368419" y="142240"/>
                </a:lnTo>
                <a:lnTo>
                  <a:pt x="355426" y="147320"/>
                </a:lnTo>
                <a:lnTo>
                  <a:pt x="344251" y="154940"/>
                </a:lnTo>
                <a:lnTo>
                  <a:pt x="335241" y="161290"/>
                </a:lnTo>
                <a:lnTo>
                  <a:pt x="433690" y="161290"/>
                </a:lnTo>
                <a:lnTo>
                  <a:pt x="427697" y="154940"/>
                </a:lnTo>
                <a:lnTo>
                  <a:pt x="417294" y="147320"/>
                </a:lnTo>
                <a:lnTo>
                  <a:pt x="406326" y="142240"/>
                </a:lnTo>
                <a:lnTo>
                  <a:pt x="394840" y="139700"/>
                </a:lnTo>
                <a:close/>
              </a:path>
            </a:pathLst>
          </a:custGeom>
          <a:solidFill>
            <a:srgbClr val="2DC29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657954" y="4610776"/>
            <a:ext cx="1031240" cy="842010"/>
          </a:xfrm>
          <a:custGeom>
            <a:avLst/>
            <a:gdLst/>
            <a:ahLst/>
            <a:cxnLst/>
            <a:rect l="l" t="t" r="r" b="b"/>
            <a:pathLst>
              <a:path w="1031240" h="842010">
                <a:moveTo>
                  <a:pt x="555855" y="781049"/>
                </a:moveTo>
                <a:lnTo>
                  <a:pt x="370805" y="781049"/>
                </a:lnTo>
                <a:lnTo>
                  <a:pt x="420198" y="782319"/>
                </a:lnTo>
                <a:lnTo>
                  <a:pt x="469463" y="784859"/>
                </a:lnTo>
                <a:lnTo>
                  <a:pt x="566788" y="792479"/>
                </a:lnTo>
                <a:lnTo>
                  <a:pt x="620105" y="800099"/>
                </a:lnTo>
                <a:lnTo>
                  <a:pt x="673784" y="808989"/>
                </a:lnTo>
                <a:lnTo>
                  <a:pt x="726831" y="821689"/>
                </a:lnTo>
                <a:lnTo>
                  <a:pt x="778255" y="838199"/>
                </a:lnTo>
                <a:lnTo>
                  <a:pt x="792788" y="842009"/>
                </a:lnTo>
                <a:lnTo>
                  <a:pt x="804451" y="842009"/>
                </a:lnTo>
                <a:lnTo>
                  <a:pt x="815916" y="840739"/>
                </a:lnTo>
                <a:lnTo>
                  <a:pt x="829856" y="834389"/>
                </a:lnTo>
                <a:lnTo>
                  <a:pt x="833908" y="831849"/>
                </a:lnTo>
                <a:lnTo>
                  <a:pt x="804110" y="831849"/>
                </a:lnTo>
                <a:lnTo>
                  <a:pt x="794487" y="830579"/>
                </a:lnTo>
                <a:lnTo>
                  <a:pt x="782040" y="826769"/>
                </a:lnTo>
                <a:lnTo>
                  <a:pt x="730015" y="810259"/>
                </a:lnTo>
                <a:lnTo>
                  <a:pt x="676297" y="798829"/>
                </a:lnTo>
                <a:lnTo>
                  <a:pt x="621945" y="788669"/>
                </a:lnTo>
                <a:lnTo>
                  <a:pt x="568020" y="782319"/>
                </a:lnTo>
                <a:lnTo>
                  <a:pt x="555855" y="781049"/>
                </a:lnTo>
                <a:close/>
              </a:path>
              <a:path w="1031240" h="842010">
                <a:moveTo>
                  <a:pt x="608901" y="739139"/>
                </a:moveTo>
                <a:lnTo>
                  <a:pt x="454324" y="739139"/>
                </a:lnTo>
                <a:lnTo>
                  <a:pt x="511063" y="741679"/>
                </a:lnTo>
                <a:lnTo>
                  <a:pt x="568020" y="745489"/>
                </a:lnTo>
                <a:lnTo>
                  <a:pt x="690909" y="760729"/>
                </a:lnTo>
                <a:lnTo>
                  <a:pt x="745422" y="772159"/>
                </a:lnTo>
                <a:lnTo>
                  <a:pt x="792770" y="784859"/>
                </a:lnTo>
                <a:lnTo>
                  <a:pt x="831049" y="801369"/>
                </a:lnTo>
                <a:lnTo>
                  <a:pt x="839554" y="814069"/>
                </a:lnTo>
                <a:lnTo>
                  <a:pt x="834402" y="819149"/>
                </a:lnTo>
                <a:lnTo>
                  <a:pt x="825512" y="824229"/>
                </a:lnTo>
                <a:lnTo>
                  <a:pt x="813565" y="829309"/>
                </a:lnTo>
                <a:lnTo>
                  <a:pt x="804110" y="831849"/>
                </a:lnTo>
                <a:lnTo>
                  <a:pt x="833908" y="831849"/>
                </a:lnTo>
                <a:lnTo>
                  <a:pt x="844040" y="825499"/>
                </a:lnTo>
                <a:lnTo>
                  <a:pt x="851115" y="814069"/>
                </a:lnTo>
                <a:lnTo>
                  <a:pt x="849133" y="801369"/>
                </a:lnTo>
                <a:lnTo>
                  <a:pt x="802003" y="775969"/>
                </a:lnTo>
                <a:lnTo>
                  <a:pt x="760579" y="764539"/>
                </a:lnTo>
                <a:lnTo>
                  <a:pt x="713204" y="754379"/>
                </a:lnTo>
                <a:lnTo>
                  <a:pt x="661212" y="745489"/>
                </a:lnTo>
                <a:lnTo>
                  <a:pt x="660536" y="742949"/>
                </a:lnTo>
                <a:lnTo>
                  <a:pt x="649160" y="742949"/>
                </a:lnTo>
                <a:lnTo>
                  <a:pt x="629057" y="740409"/>
                </a:lnTo>
                <a:lnTo>
                  <a:pt x="608901" y="739139"/>
                </a:lnTo>
                <a:close/>
              </a:path>
              <a:path w="1031240" h="842010">
                <a:moveTo>
                  <a:pt x="445905" y="727709"/>
                </a:moveTo>
                <a:lnTo>
                  <a:pt x="341425" y="727709"/>
                </a:lnTo>
                <a:lnTo>
                  <a:pt x="294563" y="730249"/>
                </a:lnTo>
                <a:lnTo>
                  <a:pt x="252878" y="734059"/>
                </a:lnTo>
                <a:lnTo>
                  <a:pt x="217563" y="737869"/>
                </a:lnTo>
                <a:lnTo>
                  <a:pt x="200352" y="748029"/>
                </a:lnTo>
                <a:lnTo>
                  <a:pt x="196275" y="765809"/>
                </a:lnTo>
                <a:lnTo>
                  <a:pt x="204433" y="781049"/>
                </a:lnTo>
                <a:lnTo>
                  <a:pt x="223926" y="786129"/>
                </a:lnTo>
                <a:lnTo>
                  <a:pt x="272464" y="783589"/>
                </a:lnTo>
                <a:lnTo>
                  <a:pt x="370805" y="781049"/>
                </a:lnTo>
                <a:lnTo>
                  <a:pt x="555855" y="781049"/>
                </a:lnTo>
                <a:lnTo>
                  <a:pt x="519362" y="777239"/>
                </a:lnTo>
                <a:lnTo>
                  <a:pt x="502953" y="775969"/>
                </a:lnTo>
                <a:lnTo>
                  <a:pt x="223088" y="775969"/>
                </a:lnTo>
                <a:lnTo>
                  <a:pt x="211966" y="772159"/>
                </a:lnTo>
                <a:lnTo>
                  <a:pt x="207359" y="764539"/>
                </a:lnTo>
                <a:lnTo>
                  <a:pt x="209686" y="755649"/>
                </a:lnTo>
                <a:lnTo>
                  <a:pt x="219367" y="749299"/>
                </a:lnTo>
                <a:lnTo>
                  <a:pt x="255530" y="744219"/>
                </a:lnTo>
                <a:lnTo>
                  <a:pt x="346697" y="739139"/>
                </a:lnTo>
                <a:lnTo>
                  <a:pt x="608901" y="739139"/>
                </a:lnTo>
                <a:lnTo>
                  <a:pt x="588717" y="736599"/>
                </a:lnTo>
                <a:lnTo>
                  <a:pt x="568528" y="735329"/>
                </a:lnTo>
                <a:lnTo>
                  <a:pt x="568231" y="734059"/>
                </a:lnTo>
                <a:lnTo>
                  <a:pt x="556767" y="734059"/>
                </a:lnTo>
                <a:lnTo>
                  <a:pt x="501135" y="730249"/>
                </a:lnTo>
                <a:lnTo>
                  <a:pt x="445905" y="727709"/>
                </a:lnTo>
                <a:close/>
              </a:path>
              <a:path w="1031240" h="842010">
                <a:moveTo>
                  <a:pt x="420555" y="770889"/>
                </a:moveTo>
                <a:lnTo>
                  <a:pt x="321214" y="770889"/>
                </a:lnTo>
                <a:lnTo>
                  <a:pt x="271890" y="772159"/>
                </a:lnTo>
                <a:lnTo>
                  <a:pt x="223088" y="775969"/>
                </a:lnTo>
                <a:lnTo>
                  <a:pt x="502953" y="775969"/>
                </a:lnTo>
                <a:lnTo>
                  <a:pt x="470134" y="773429"/>
                </a:lnTo>
                <a:lnTo>
                  <a:pt x="420555" y="770889"/>
                </a:lnTo>
                <a:close/>
              </a:path>
              <a:path w="1031240" h="842010">
                <a:moveTo>
                  <a:pt x="746328" y="623569"/>
                </a:moveTo>
                <a:lnTo>
                  <a:pt x="542416" y="623569"/>
                </a:lnTo>
                <a:lnTo>
                  <a:pt x="618362" y="627379"/>
                </a:lnTo>
                <a:lnTo>
                  <a:pt x="649160" y="742949"/>
                </a:lnTo>
                <a:lnTo>
                  <a:pt x="660536" y="742949"/>
                </a:lnTo>
                <a:lnTo>
                  <a:pt x="630123" y="628649"/>
                </a:lnTo>
                <a:lnTo>
                  <a:pt x="846927" y="628649"/>
                </a:lnTo>
                <a:lnTo>
                  <a:pt x="746328" y="623569"/>
                </a:lnTo>
                <a:close/>
              </a:path>
              <a:path w="1031240" h="842010">
                <a:moveTo>
                  <a:pt x="140169" y="513079"/>
                </a:moveTo>
                <a:lnTo>
                  <a:pt x="133984" y="513079"/>
                </a:lnTo>
                <a:lnTo>
                  <a:pt x="131483" y="515619"/>
                </a:lnTo>
                <a:lnTo>
                  <a:pt x="131406" y="600709"/>
                </a:lnTo>
                <a:lnTo>
                  <a:pt x="133794" y="603249"/>
                </a:lnTo>
                <a:lnTo>
                  <a:pt x="136880" y="603249"/>
                </a:lnTo>
                <a:lnTo>
                  <a:pt x="530745" y="623569"/>
                </a:lnTo>
                <a:lnTo>
                  <a:pt x="556767" y="734059"/>
                </a:lnTo>
                <a:lnTo>
                  <a:pt x="568231" y="734059"/>
                </a:lnTo>
                <a:lnTo>
                  <a:pt x="542416" y="623569"/>
                </a:lnTo>
                <a:lnTo>
                  <a:pt x="746328" y="623569"/>
                </a:lnTo>
                <a:lnTo>
                  <a:pt x="142735" y="593089"/>
                </a:lnTo>
                <a:lnTo>
                  <a:pt x="142684" y="515619"/>
                </a:lnTo>
                <a:lnTo>
                  <a:pt x="140169" y="513079"/>
                </a:lnTo>
                <a:close/>
              </a:path>
              <a:path w="1031240" h="842010">
                <a:moveTo>
                  <a:pt x="609041" y="647699"/>
                </a:moveTo>
                <a:lnTo>
                  <a:pt x="602564" y="648969"/>
                </a:lnTo>
                <a:lnTo>
                  <a:pt x="603757" y="654049"/>
                </a:lnTo>
                <a:lnTo>
                  <a:pt x="623925" y="725169"/>
                </a:lnTo>
                <a:lnTo>
                  <a:pt x="630402" y="723899"/>
                </a:lnTo>
                <a:lnTo>
                  <a:pt x="609041" y="647699"/>
                </a:lnTo>
                <a:close/>
              </a:path>
              <a:path w="1031240" h="842010">
                <a:moveTo>
                  <a:pt x="846927" y="628649"/>
                </a:moveTo>
                <a:lnTo>
                  <a:pt x="630123" y="628649"/>
                </a:lnTo>
                <a:lnTo>
                  <a:pt x="1006513" y="647699"/>
                </a:lnTo>
                <a:lnTo>
                  <a:pt x="1006424" y="646429"/>
                </a:lnTo>
                <a:lnTo>
                  <a:pt x="1017968" y="636269"/>
                </a:lnTo>
                <a:lnTo>
                  <a:pt x="997826" y="636269"/>
                </a:lnTo>
                <a:lnTo>
                  <a:pt x="846927" y="628649"/>
                </a:lnTo>
                <a:close/>
              </a:path>
              <a:path w="1031240" h="842010">
                <a:moveTo>
                  <a:pt x="1018424" y="11429"/>
                </a:moveTo>
                <a:lnTo>
                  <a:pt x="998613" y="11429"/>
                </a:lnTo>
                <a:lnTo>
                  <a:pt x="998564" y="50799"/>
                </a:lnTo>
                <a:lnTo>
                  <a:pt x="998445" y="144779"/>
                </a:lnTo>
                <a:lnTo>
                  <a:pt x="998404" y="177799"/>
                </a:lnTo>
                <a:lnTo>
                  <a:pt x="998279" y="276859"/>
                </a:lnTo>
                <a:lnTo>
                  <a:pt x="998154" y="375919"/>
                </a:lnTo>
                <a:lnTo>
                  <a:pt x="998031" y="473709"/>
                </a:lnTo>
                <a:lnTo>
                  <a:pt x="997919" y="562609"/>
                </a:lnTo>
                <a:lnTo>
                  <a:pt x="997826" y="636269"/>
                </a:lnTo>
                <a:lnTo>
                  <a:pt x="1017968" y="636269"/>
                </a:lnTo>
                <a:lnTo>
                  <a:pt x="1021930" y="631189"/>
                </a:lnTo>
                <a:lnTo>
                  <a:pt x="1023114" y="628649"/>
                </a:lnTo>
                <a:lnTo>
                  <a:pt x="1009027" y="628649"/>
                </a:lnTo>
                <a:lnTo>
                  <a:pt x="1009110" y="562609"/>
                </a:lnTo>
                <a:lnTo>
                  <a:pt x="1009221" y="473709"/>
                </a:lnTo>
                <a:lnTo>
                  <a:pt x="1009348" y="372109"/>
                </a:lnTo>
                <a:lnTo>
                  <a:pt x="1009475" y="270509"/>
                </a:lnTo>
                <a:lnTo>
                  <a:pt x="1009597" y="172719"/>
                </a:lnTo>
                <a:lnTo>
                  <a:pt x="1009632" y="144779"/>
                </a:lnTo>
                <a:lnTo>
                  <a:pt x="1009750" y="50799"/>
                </a:lnTo>
                <a:lnTo>
                  <a:pt x="1009789" y="19049"/>
                </a:lnTo>
                <a:lnTo>
                  <a:pt x="1021770" y="19049"/>
                </a:lnTo>
                <a:lnTo>
                  <a:pt x="1018424" y="11429"/>
                </a:lnTo>
                <a:close/>
              </a:path>
              <a:path w="1031240" h="842010">
                <a:moveTo>
                  <a:pt x="1021770" y="19049"/>
                </a:moveTo>
                <a:lnTo>
                  <a:pt x="1009789" y="19049"/>
                </a:lnTo>
                <a:lnTo>
                  <a:pt x="1014124" y="27939"/>
                </a:lnTo>
                <a:lnTo>
                  <a:pt x="1017273" y="40639"/>
                </a:lnTo>
                <a:lnTo>
                  <a:pt x="1019112" y="54609"/>
                </a:lnTo>
                <a:lnTo>
                  <a:pt x="1019396" y="63499"/>
                </a:lnTo>
                <a:lnTo>
                  <a:pt x="1019372" y="184149"/>
                </a:lnTo>
                <a:lnTo>
                  <a:pt x="1019247" y="284479"/>
                </a:lnTo>
                <a:lnTo>
                  <a:pt x="1019121" y="386079"/>
                </a:lnTo>
                <a:lnTo>
                  <a:pt x="1018996" y="486409"/>
                </a:lnTo>
                <a:lnTo>
                  <a:pt x="1018870" y="588009"/>
                </a:lnTo>
                <a:lnTo>
                  <a:pt x="1018745" y="593089"/>
                </a:lnTo>
                <a:lnTo>
                  <a:pt x="1018621" y="598169"/>
                </a:lnTo>
                <a:lnTo>
                  <a:pt x="1017970" y="605789"/>
                </a:lnTo>
                <a:lnTo>
                  <a:pt x="1017862" y="607059"/>
                </a:lnTo>
                <a:lnTo>
                  <a:pt x="1016543" y="614679"/>
                </a:lnTo>
                <a:lnTo>
                  <a:pt x="1014615" y="619759"/>
                </a:lnTo>
                <a:lnTo>
                  <a:pt x="1013231" y="623569"/>
                </a:lnTo>
                <a:lnTo>
                  <a:pt x="1011389" y="626109"/>
                </a:lnTo>
                <a:lnTo>
                  <a:pt x="1009027" y="628649"/>
                </a:lnTo>
                <a:lnTo>
                  <a:pt x="1023114" y="628649"/>
                </a:lnTo>
                <a:lnTo>
                  <a:pt x="1024889" y="624839"/>
                </a:lnTo>
                <a:lnTo>
                  <a:pt x="1027233" y="618489"/>
                </a:lnTo>
                <a:lnTo>
                  <a:pt x="1028838" y="609599"/>
                </a:lnTo>
                <a:lnTo>
                  <a:pt x="1029648" y="600709"/>
                </a:lnTo>
                <a:lnTo>
                  <a:pt x="1029763" y="599439"/>
                </a:lnTo>
                <a:lnTo>
                  <a:pt x="1030071" y="588009"/>
                </a:lnTo>
                <a:lnTo>
                  <a:pt x="1030198" y="486409"/>
                </a:lnTo>
                <a:lnTo>
                  <a:pt x="1030323" y="386079"/>
                </a:lnTo>
                <a:lnTo>
                  <a:pt x="1030450" y="284479"/>
                </a:lnTo>
                <a:lnTo>
                  <a:pt x="1030575" y="184149"/>
                </a:lnTo>
                <a:lnTo>
                  <a:pt x="1030637" y="67309"/>
                </a:lnTo>
                <a:lnTo>
                  <a:pt x="1029656" y="52069"/>
                </a:lnTo>
                <a:lnTo>
                  <a:pt x="1029574" y="50799"/>
                </a:lnTo>
                <a:lnTo>
                  <a:pt x="1025117" y="26669"/>
                </a:lnTo>
                <a:lnTo>
                  <a:pt x="1021770" y="19049"/>
                </a:lnTo>
                <a:close/>
              </a:path>
              <a:path w="1031240" h="842010">
                <a:moveTo>
                  <a:pt x="970572" y="511809"/>
                </a:moveTo>
                <a:lnTo>
                  <a:pt x="876185" y="605789"/>
                </a:lnTo>
                <a:lnTo>
                  <a:pt x="880960" y="610869"/>
                </a:lnTo>
                <a:lnTo>
                  <a:pt x="884097" y="607059"/>
                </a:lnTo>
                <a:lnTo>
                  <a:pt x="975334" y="515619"/>
                </a:lnTo>
                <a:lnTo>
                  <a:pt x="970572" y="511809"/>
                </a:lnTo>
                <a:close/>
              </a:path>
              <a:path w="1031240" h="842010">
                <a:moveTo>
                  <a:pt x="963790" y="562609"/>
                </a:moveTo>
                <a:lnTo>
                  <a:pt x="921092" y="605789"/>
                </a:lnTo>
                <a:lnTo>
                  <a:pt x="925855" y="610869"/>
                </a:lnTo>
                <a:lnTo>
                  <a:pt x="928992" y="607059"/>
                </a:lnTo>
                <a:lnTo>
                  <a:pt x="968552" y="567689"/>
                </a:lnTo>
                <a:lnTo>
                  <a:pt x="963790" y="562609"/>
                </a:lnTo>
                <a:close/>
              </a:path>
              <a:path w="1031240" h="842010">
                <a:moveTo>
                  <a:pt x="170802" y="167639"/>
                </a:moveTo>
                <a:lnTo>
                  <a:pt x="163410" y="167639"/>
                </a:lnTo>
                <a:lnTo>
                  <a:pt x="12941" y="172719"/>
                </a:lnTo>
                <a:lnTo>
                  <a:pt x="5905" y="172719"/>
                </a:lnTo>
                <a:lnTo>
                  <a:pt x="0" y="177799"/>
                </a:lnTo>
                <a:lnTo>
                  <a:pt x="97" y="209549"/>
                </a:lnTo>
                <a:lnTo>
                  <a:pt x="212" y="247649"/>
                </a:lnTo>
                <a:lnTo>
                  <a:pt x="338" y="289559"/>
                </a:lnTo>
                <a:lnTo>
                  <a:pt x="460" y="330199"/>
                </a:lnTo>
                <a:lnTo>
                  <a:pt x="586" y="372109"/>
                </a:lnTo>
                <a:lnTo>
                  <a:pt x="681" y="403859"/>
                </a:lnTo>
                <a:lnTo>
                  <a:pt x="788" y="439419"/>
                </a:lnTo>
                <a:lnTo>
                  <a:pt x="914" y="481329"/>
                </a:lnTo>
                <a:lnTo>
                  <a:pt x="6553" y="486409"/>
                </a:lnTo>
                <a:lnTo>
                  <a:pt x="171348" y="496569"/>
                </a:lnTo>
                <a:lnTo>
                  <a:pt x="176656" y="491489"/>
                </a:lnTo>
                <a:lnTo>
                  <a:pt x="176656" y="485139"/>
                </a:lnTo>
                <a:lnTo>
                  <a:pt x="161378" y="485139"/>
                </a:lnTo>
                <a:lnTo>
                  <a:pt x="13131" y="476249"/>
                </a:lnTo>
                <a:lnTo>
                  <a:pt x="12090" y="474979"/>
                </a:lnTo>
                <a:lnTo>
                  <a:pt x="11963" y="435609"/>
                </a:lnTo>
                <a:lnTo>
                  <a:pt x="11868" y="403859"/>
                </a:lnTo>
                <a:lnTo>
                  <a:pt x="11773" y="372109"/>
                </a:lnTo>
                <a:lnTo>
                  <a:pt x="11647" y="330199"/>
                </a:lnTo>
                <a:lnTo>
                  <a:pt x="11526" y="289559"/>
                </a:lnTo>
                <a:lnTo>
                  <a:pt x="11400" y="247649"/>
                </a:lnTo>
                <a:lnTo>
                  <a:pt x="11286" y="209549"/>
                </a:lnTo>
                <a:lnTo>
                  <a:pt x="11214" y="185419"/>
                </a:lnTo>
                <a:lnTo>
                  <a:pt x="11366" y="184149"/>
                </a:lnTo>
                <a:lnTo>
                  <a:pt x="13639" y="184149"/>
                </a:lnTo>
                <a:lnTo>
                  <a:pt x="162001" y="179069"/>
                </a:lnTo>
                <a:lnTo>
                  <a:pt x="176656" y="179069"/>
                </a:lnTo>
                <a:lnTo>
                  <a:pt x="176656" y="175259"/>
                </a:lnTo>
                <a:lnTo>
                  <a:pt x="170802" y="167639"/>
                </a:lnTo>
                <a:close/>
              </a:path>
              <a:path w="1031240" h="842010">
                <a:moveTo>
                  <a:pt x="176656" y="179069"/>
                </a:moveTo>
                <a:lnTo>
                  <a:pt x="164566" y="179069"/>
                </a:lnTo>
                <a:lnTo>
                  <a:pt x="165417" y="180339"/>
                </a:lnTo>
                <a:lnTo>
                  <a:pt x="165480" y="483869"/>
                </a:lnTo>
                <a:lnTo>
                  <a:pt x="164274" y="485139"/>
                </a:lnTo>
                <a:lnTo>
                  <a:pt x="176656" y="485139"/>
                </a:lnTo>
                <a:lnTo>
                  <a:pt x="176656" y="179069"/>
                </a:lnTo>
                <a:close/>
              </a:path>
              <a:path w="1031240" h="842010">
                <a:moveTo>
                  <a:pt x="391502" y="199389"/>
                </a:moveTo>
                <a:lnTo>
                  <a:pt x="342513" y="209549"/>
                </a:lnTo>
                <a:lnTo>
                  <a:pt x="303012" y="237489"/>
                </a:lnTo>
                <a:lnTo>
                  <a:pt x="276642" y="278129"/>
                </a:lnTo>
                <a:lnTo>
                  <a:pt x="267042" y="326389"/>
                </a:lnTo>
                <a:lnTo>
                  <a:pt x="276642" y="375919"/>
                </a:lnTo>
                <a:lnTo>
                  <a:pt x="303012" y="416559"/>
                </a:lnTo>
                <a:lnTo>
                  <a:pt x="342513" y="444499"/>
                </a:lnTo>
                <a:lnTo>
                  <a:pt x="391502" y="454659"/>
                </a:lnTo>
                <a:lnTo>
                  <a:pt x="440490" y="444499"/>
                </a:lnTo>
                <a:lnTo>
                  <a:pt x="442286" y="443229"/>
                </a:lnTo>
                <a:lnTo>
                  <a:pt x="391502" y="443229"/>
                </a:lnTo>
                <a:lnTo>
                  <a:pt x="346862" y="434339"/>
                </a:lnTo>
                <a:lnTo>
                  <a:pt x="310937" y="408939"/>
                </a:lnTo>
                <a:lnTo>
                  <a:pt x="286989" y="372109"/>
                </a:lnTo>
                <a:lnTo>
                  <a:pt x="278282" y="326389"/>
                </a:lnTo>
                <a:lnTo>
                  <a:pt x="286448" y="283209"/>
                </a:lnTo>
                <a:lnTo>
                  <a:pt x="309024" y="246379"/>
                </a:lnTo>
                <a:lnTo>
                  <a:pt x="343128" y="220979"/>
                </a:lnTo>
                <a:lnTo>
                  <a:pt x="385876" y="210819"/>
                </a:lnTo>
                <a:lnTo>
                  <a:pt x="442520" y="210819"/>
                </a:lnTo>
                <a:lnTo>
                  <a:pt x="419620" y="201929"/>
                </a:lnTo>
                <a:lnTo>
                  <a:pt x="391502" y="199389"/>
                </a:lnTo>
                <a:close/>
              </a:path>
              <a:path w="1031240" h="842010">
                <a:moveTo>
                  <a:pt x="41224" y="433069"/>
                </a:moveTo>
                <a:lnTo>
                  <a:pt x="40855" y="439419"/>
                </a:lnTo>
                <a:lnTo>
                  <a:pt x="45275" y="440689"/>
                </a:lnTo>
                <a:lnTo>
                  <a:pt x="91922" y="443229"/>
                </a:lnTo>
                <a:lnTo>
                  <a:pt x="92290" y="435609"/>
                </a:lnTo>
                <a:lnTo>
                  <a:pt x="41224" y="433069"/>
                </a:lnTo>
                <a:close/>
              </a:path>
              <a:path w="1031240" h="842010">
                <a:moveTo>
                  <a:pt x="499370" y="262889"/>
                </a:moveTo>
                <a:lnTo>
                  <a:pt x="486333" y="262889"/>
                </a:lnTo>
                <a:lnTo>
                  <a:pt x="494107" y="276859"/>
                </a:lnTo>
                <a:lnTo>
                  <a:pt x="499879" y="293369"/>
                </a:lnTo>
                <a:lnTo>
                  <a:pt x="503473" y="309879"/>
                </a:lnTo>
                <a:lnTo>
                  <a:pt x="504710" y="326389"/>
                </a:lnTo>
                <a:lnTo>
                  <a:pt x="496003" y="372109"/>
                </a:lnTo>
                <a:lnTo>
                  <a:pt x="472057" y="408939"/>
                </a:lnTo>
                <a:lnTo>
                  <a:pt x="436136" y="434339"/>
                </a:lnTo>
                <a:lnTo>
                  <a:pt x="391502" y="443229"/>
                </a:lnTo>
                <a:lnTo>
                  <a:pt x="442286" y="443229"/>
                </a:lnTo>
                <a:lnTo>
                  <a:pt x="479986" y="416559"/>
                </a:lnTo>
                <a:lnTo>
                  <a:pt x="506352" y="375919"/>
                </a:lnTo>
                <a:lnTo>
                  <a:pt x="515950" y="326389"/>
                </a:lnTo>
                <a:lnTo>
                  <a:pt x="514101" y="304799"/>
                </a:lnTo>
                <a:lnTo>
                  <a:pt x="508763" y="284479"/>
                </a:lnTo>
                <a:lnTo>
                  <a:pt x="500246" y="264159"/>
                </a:lnTo>
                <a:lnTo>
                  <a:pt x="499370" y="262889"/>
                </a:lnTo>
                <a:close/>
              </a:path>
              <a:path w="1031240" h="842010">
                <a:moveTo>
                  <a:pt x="40436" y="403859"/>
                </a:moveTo>
                <a:lnTo>
                  <a:pt x="40225" y="408939"/>
                </a:lnTo>
                <a:lnTo>
                  <a:pt x="40119" y="411479"/>
                </a:lnTo>
                <a:lnTo>
                  <a:pt x="44538" y="411479"/>
                </a:lnTo>
                <a:lnTo>
                  <a:pt x="128028" y="415289"/>
                </a:lnTo>
                <a:lnTo>
                  <a:pt x="132435" y="415289"/>
                </a:lnTo>
                <a:lnTo>
                  <a:pt x="132753" y="408939"/>
                </a:lnTo>
                <a:lnTo>
                  <a:pt x="128333" y="408939"/>
                </a:lnTo>
                <a:lnTo>
                  <a:pt x="40436" y="403859"/>
                </a:lnTo>
                <a:close/>
              </a:path>
              <a:path w="1031240" h="842010">
                <a:moveTo>
                  <a:pt x="608329" y="375919"/>
                </a:moveTo>
                <a:lnTo>
                  <a:pt x="608210" y="382269"/>
                </a:lnTo>
                <a:lnTo>
                  <a:pt x="608114" y="387349"/>
                </a:lnTo>
                <a:lnTo>
                  <a:pt x="615480" y="387349"/>
                </a:lnTo>
                <a:lnTo>
                  <a:pt x="737857" y="389889"/>
                </a:lnTo>
                <a:lnTo>
                  <a:pt x="737929" y="386079"/>
                </a:lnTo>
                <a:lnTo>
                  <a:pt x="738049" y="379729"/>
                </a:lnTo>
                <a:lnTo>
                  <a:pt x="738073" y="378459"/>
                </a:lnTo>
                <a:lnTo>
                  <a:pt x="608329" y="375919"/>
                </a:lnTo>
                <a:close/>
              </a:path>
              <a:path w="1031240" h="842010">
                <a:moveTo>
                  <a:pt x="40424" y="375919"/>
                </a:moveTo>
                <a:lnTo>
                  <a:pt x="40307" y="378459"/>
                </a:lnTo>
                <a:lnTo>
                  <a:pt x="40248" y="379729"/>
                </a:lnTo>
                <a:lnTo>
                  <a:pt x="40131" y="382269"/>
                </a:lnTo>
                <a:lnTo>
                  <a:pt x="44551" y="382269"/>
                </a:lnTo>
                <a:lnTo>
                  <a:pt x="132968" y="386079"/>
                </a:lnTo>
                <a:lnTo>
                  <a:pt x="133136" y="382269"/>
                </a:lnTo>
                <a:lnTo>
                  <a:pt x="133248" y="379729"/>
                </a:lnTo>
                <a:lnTo>
                  <a:pt x="40424" y="375919"/>
                </a:lnTo>
                <a:close/>
              </a:path>
              <a:path w="1031240" h="842010">
                <a:moveTo>
                  <a:pt x="94952" y="250189"/>
                </a:moveTo>
                <a:lnTo>
                  <a:pt x="85153" y="250189"/>
                </a:lnTo>
                <a:lnTo>
                  <a:pt x="66031" y="253999"/>
                </a:lnTo>
                <a:lnTo>
                  <a:pt x="50609" y="264159"/>
                </a:lnTo>
                <a:lnTo>
                  <a:pt x="40312" y="280669"/>
                </a:lnTo>
                <a:lnTo>
                  <a:pt x="36563" y="299719"/>
                </a:lnTo>
                <a:lnTo>
                  <a:pt x="40312" y="318769"/>
                </a:lnTo>
                <a:lnTo>
                  <a:pt x="50609" y="334009"/>
                </a:lnTo>
                <a:lnTo>
                  <a:pt x="66031" y="345439"/>
                </a:lnTo>
                <a:lnTo>
                  <a:pt x="85153" y="349249"/>
                </a:lnTo>
                <a:lnTo>
                  <a:pt x="104275" y="345439"/>
                </a:lnTo>
                <a:lnTo>
                  <a:pt x="107702" y="342899"/>
                </a:lnTo>
                <a:lnTo>
                  <a:pt x="85153" y="342899"/>
                </a:lnTo>
                <a:lnTo>
                  <a:pt x="68644" y="339089"/>
                </a:lnTo>
                <a:lnTo>
                  <a:pt x="55367" y="330199"/>
                </a:lnTo>
                <a:lnTo>
                  <a:pt x="46521" y="316229"/>
                </a:lnTo>
                <a:lnTo>
                  <a:pt x="43306" y="299719"/>
                </a:lnTo>
                <a:lnTo>
                  <a:pt x="46199" y="284479"/>
                </a:lnTo>
                <a:lnTo>
                  <a:pt x="54227" y="270509"/>
                </a:lnTo>
                <a:lnTo>
                  <a:pt x="66415" y="261619"/>
                </a:lnTo>
                <a:lnTo>
                  <a:pt x="81787" y="256539"/>
                </a:lnTo>
                <a:lnTo>
                  <a:pt x="109591" y="256539"/>
                </a:lnTo>
                <a:lnTo>
                  <a:pt x="104082" y="253999"/>
                </a:lnTo>
                <a:lnTo>
                  <a:pt x="94952" y="250189"/>
                </a:lnTo>
                <a:close/>
              </a:path>
              <a:path w="1031240" h="842010">
                <a:moveTo>
                  <a:pt x="128019" y="276859"/>
                </a:moveTo>
                <a:lnTo>
                  <a:pt x="120903" y="276859"/>
                </a:lnTo>
                <a:lnTo>
                  <a:pt x="124777" y="283209"/>
                </a:lnTo>
                <a:lnTo>
                  <a:pt x="126999" y="290829"/>
                </a:lnTo>
                <a:lnTo>
                  <a:pt x="126999" y="299719"/>
                </a:lnTo>
                <a:lnTo>
                  <a:pt x="123785" y="316229"/>
                </a:lnTo>
                <a:lnTo>
                  <a:pt x="114939" y="330199"/>
                </a:lnTo>
                <a:lnTo>
                  <a:pt x="101662" y="339089"/>
                </a:lnTo>
                <a:lnTo>
                  <a:pt x="85153" y="342899"/>
                </a:lnTo>
                <a:lnTo>
                  <a:pt x="107702" y="342899"/>
                </a:lnTo>
                <a:lnTo>
                  <a:pt x="119697" y="334009"/>
                </a:lnTo>
                <a:lnTo>
                  <a:pt x="129994" y="318769"/>
                </a:lnTo>
                <a:lnTo>
                  <a:pt x="133743" y="299719"/>
                </a:lnTo>
                <a:lnTo>
                  <a:pt x="132882" y="290829"/>
                </a:lnTo>
                <a:lnTo>
                  <a:pt x="132759" y="289559"/>
                </a:lnTo>
                <a:lnTo>
                  <a:pt x="129935" y="280669"/>
                </a:lnTo>
                <a:lnTo>
                  <a:pt x="128019" y="276859"/>
                </a:lnTo>
                <a:close/>
              </a:path>
              <a:path w="1031240" h="842010">
                <a:moveTo>
                  <a:pt x="397116" y="210819"/>
                </a:moveTo>
                <a:lnTo>
                  <a:pt x="385876" y="210819"/>
                </a:lnTo>
                <a:lnTo>
                  <a:pt x="385876" y="331469"/>
                </a:lnTo>
                <a:lnTo>
                  <a:pt x="391629" y="334009"/>
                </a:lnTo>
                <a:lnTo>
                  <a:pt x="395198" y="331469"/>
                </a:lnTo>
                <a:lnTo>
                  <a:pt x="415450" y="316229"/>
                </a:lnTo>
                <a:lnTo>
                  <a:pt x="397116" y="316229"/>
                </a:lnTo>
                <a:lnTo>
                  <a:pt x="397116" y="210819"/>
                </a:lnTo>
                <a:close/>
              </a:path>
              <a:path w="1031240" h="842010">
                <a:moveTo>
                  <a:pt x="862634" y="318769"/>
                </a:moveTo>
                <a:lnTo>
                  <a:pt x="605993" y="318769"/>
                </a:lnTo>
                <a:lnTo>
                  <a:pt x="605993" y="328929"/>
                </a:lnTo>
                <a:lnTo>
                  <a:pt x="855268" y="330199"/>
                </a:lnTo>
                <a:lnTo>
                  <a:pt x="862634" y="330199"/>
                </a:lnTo>
                <a:lnTo>
                  <a:pt x="862634" y="318769"/>
                </a:lnTo>
                <a:close/>
              </a:path>
              <a:path w="1031240" h="842010">
                <a:moveTo>
                  <a:pt x="442520" y="210819"/>
                </a:moveTo>
                <a:lnTo>
                  <a:pt x="397116" y="210819"/>
                </a:lnTo>
                <a:lnTo>
                  <a:pt x="421056" y="214629"/>
                </a:lnTo>
                <a:lnTo>
                  <a:pt x="443260" y="223519"/>
                </a:lnTo>
                <a:lnTo>
                  <a:pt x="463079" y="236219"/>
                </a:lnTo>
                <a:lnTo>
                  <a:pt x="479869" y="253999"/>
                </a:lnTo>
                <a:lnTo>
                  <a:pt x="397116" y="316229"/>
                </a:lnTo>
                <a:lnTo>
                  <a:pt x="415450" y="316229"/>
                </a:lnTo>
                <a:lnTo>
                  <a:pt x="486333" y="262889"/>
                </a:lnTo>
                <a:lnTo>
                  <a:pt x="499370" y="262889"/>
                </a:lnTo>
                <a:lnTo>
                  <a:pt x="488861" y="247649"/>
                </a:lnTo>
                <a:lnTo>
                  <a:pt x="469159" y="227329"/>
                </a:lnTo>
                <a:lnTo>
                  <a:pt x="445792" y="212089"/>
                </a:lnTo>
                <a:lnTo>
                  <a:pt x="442520" y="210819"/>
                </a:lnTo>
                <a:close/>
              </a:path>
              <a:path w="1031240" h="842010">
                <a:moveTo>
                  <a:pt x="88531" y="256539"/>
                </a:moveTo>
                <a:lnTo>
                  <a:pt x="81787" y="256539"/>
                </a:lnTo>
                <a:lnTo>
                  <a:pt x="81787" y="302259"/>
                </a:lnTo>
                <a:lnTo>
                  <a:pt x="85229" y="303529"/>
                </a:lnTo>
                <a:lnTo>
                  <a:pt x="87375" y="302259"/>
                </a:lnTo>
                <a:lnTo>
                  <a:pt x="99110" y="293369"/>
                </a:lnTo>
                <a:lnTo>
                  <a:pt x="88531" y="293369"/>
                </a:lnTo>
                <a:lnTo>
                  <a:pt x="88531" y="256539"/>
                </a:lnTo>
                <a:close/>
              </a:path>
              <a:path w="1031240" h="842010">
                <a:moveTo>
                  <a:pt x="109591" y="256539"/>
                </a:moveTo>
                <a:lnTo>
                  <a:pt x="88531" y="256539"/>
                </a:lnTo>
                <a:lnTo>
                  <a:pt x="95966" y="257809"/>
                </a:lnTo>
                <a:lnTo>
                  <a:pt x="102892" y="260349"/>
                </a:lnTo>
                <a:lnTo>
                  <a:pt x="109184" y="264159"/>
                </a:lnTo>
                <a:lnTo>
                  <a:pt x="114719" y="269239"/>
                </a:lnTo>
                <a:lnTo>
                  <a:pt x="115519" y="270509"/>
                </a:lnTo>
                <a:lnTo>
                  <a:pt x="116293" y="270509"/>
                </a:lnTo>
                <a:lnTo>
                  <a:pt x="117030" y="271779"/>
                </a:lnTo>
                <a:lnTo>
                  <a:pt x="88531" y="293369"/>
                </a:lnTo>
                <a:lnTo>
                  <a:pt x="99110" y="293369"/>
                </a:lnTo>
                <a:lnTo>
                  <a:pt x="120903" y="276859"/>
                </a:lnTo>
                <a:lnTo>
                  <a:pt x="128019" y="276859"/>
                </a:lnTo>
                <a:lnTo>
                  <a:pt x="125465" y="271779"/>
                </a:lnTo>
                <a:lnTo>
                  <a:pt x="119545" y="264159"/>
                </a:lnTo>
                <a:lnTo>
                  <a:pt x="112346" y="257809"/>
                </a:lnTo>
                <a:lnTo>
                  <a:pt x="109591" y="256539"/>
                </a:lnTo>
                <a:close/>
              </a:path>
              <a:path w="1031240" h="842010">
                <a:moveTo>
                  <a:pt x="863688" y="257809"/>
                </a:moveTo>
                <a:lnTo>
                  <a:pt x="856322" y="259079"/>
                </a:lnTo>
                <a:lnTo>
                  <a:pt x="611073" y="261619"/>
                </a:lnTo>
                <a:lnTo>
                  <a:pt x="603707" y="261619"/>
                </a:lnTo>
                <a:lnTo>
                  <a:pt x="603834" y="273049"/>
                </a:lnTo>
                <a:lnTo>
                  <a:pt x="611200" y="273049"/>
                </a:lnTo>
                <a:lnTo>
                  <a:pt x="856449" y="269239"/>
                </a:lnTo>
                <a:lnTo>
                  <a:pt x="863815" y="269239"/>
                </a:lnTo>
                <a:lnTo>
                  <a:pt x="863703" y="259079"/>
                </a:lnTo>
                <a:lnTo>
                  <a:pt x="863688" y="257809"/>
                </a:lnTo>
                <a:close/>
              </a:path>
              <a:path w="1031240" h="842010">
                <a:moveTo>
                  <a:pt x="100228" y="198119"/>
                </a:moveTo>
                <a:lnTo>
                  <a:pt x="71386" y="198119"/>
                </a:lnTo>
                <a:lnTo>
                  <a:pt x="71488" y="204469"/>
                </a:lnTo>
                <a:lnTo>
                  <a:pt x="100329" y="204469"/>
                </a:lnTo>
                <a:lnTo>
                  <a:pt x="100228" y="198119"/>
                </a:lnTo>
                <a:close/>
              </a:path>
              <a:path w="1031240" h="842010">
                <a:moveTo>
                  <a:pt x="1003884" y="0"/>
                </a:moveTo>
                <a:lnTo>
                  <a:pt x="140347" y="52069"/>
                </a:lnTo>
                <a:lnTo>
                  <a:pt x="133007" y="52069"/>
                </a:lnTo>
                <a:lnTo>
                  <a:pt x="130759" y="55879"/>
                </a:lnTo>
                <a:lnTo>
                  <a:pt x="131152" y="63499"/>
                </a:lnTo>
                <a:lnTo>
                  <a:pt x="131216" y="144779"/>
                </a:lnTo>
                <a:lnTo>
                  <a:pt x="133718" y="147319"/>
                </a:lnTo>
                <a:lnTo>
                  <a:pt x="139903" y="147319"/>
                </a:lnTo>
                <a:lnTo>
                  <a:pt x="142417" y="144779"/>
                </a:lnTo>
                <a:lnTo>
                  <a:pt x="142341" y="63499"/>
                </a:lnTo>
                <a:lnTo>
                  <a:pt x="998613" y="11429"/>
                </a:lnTo>
                <a:lnTo>
                  <a:pt x="1018424" y="11429"/>
                </a:lnTo>
                <a:lnTo>
                  <a:pt x="1016751" y="7619"/>
                </a:lnTo>
                <a:lnTo>
                  <a:pt x="1003884" y="0"/>
                </a:lnTo>
                <a:close/>
              </a:path>
            </a:pathLst>
          </a:custGeom>
          <a:solidFill>
            <a:srgbClr val="2DC295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8606" y="4611025"/>
            <a:ext cx="818675" cy="84581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7215907" y="562607"/>
            <a:ext cx="1651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40">
                <a:solidFill>
                  <a:srgbClr val="FFFFFF"/>
                </a:solidFill>
                <a:latin typeface="Century Gothic"/>
                <a:cs typeface="Century Gothic"/>
              </a:rPr>
              <a:t>5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2013220" y="4611005"/>
            <a:ext cx="0" cy="2917190"/>
          </a:xfrm>
          <a:custGeom>
            <a:avLst/>
            <a:gdLst/>
            <a:ahLst/>
            <a:cxnLst/>
            <a:rect l="l" t="t" r="r" b="b"/>
            <a:pathLst>
              <a:path w="0" h="2917190">
                <a:moveTo>
                  <a:pt x="0" y="2916643"/>
                </a:moveTo>
                <a:lnTo>
                  <a:pt x="0" y="0"/>
                </a:lnTo>
              </a:path>
            </a:pathLst>
          </a:custGeom>
          <a:ln w="19050">
            <a:solidFill>
              <a:srgbClr val="2DC29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273663" y="4611005"/>
            <a:ext cx="0" cy="2917190"/>
          </a:xfrm>
          <a:custGeom>
            <a:avLst/>
            <a:gdLst/>
            <a:ahLst/>
            <a:cxnLst/>
            <a:rect l="l" t="t" r="r" b="b"/>
            <a:pathLst>
              <a:path w="0" h="2917190">
                <a:moveTo>
                  <a:pt x="0" y="2916643"/>
                </a:moveTo>
                <a:lnTo>
                  <a:pt x="0" y="0"/>
                </a:lnTo>
              </a:path>
            </a:pathLst>
          </a:custGeom>
          <a:ln w="19050">
            <a:solidFill>
              <a:srgbClr val="2DC29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2385016" y="5769323"/>
            <a:ext cx="4803775" cy="17437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900" spc="-90">
                <a:solidFill>
                  <a:srgbClr val="FFFFFF"/>
                </a:solidFill>
                <a:latin typeface="Century Gothic"/>
                <a:cs typeface="Century Gothic"/>
              </a:rPr>
              <a:t>Urban</a:t>
            </a:r>
            <a:r>
              <a:rPr dirty="0" sz="2900" spc="-85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2900" spc="-50">
                <a:solidFill>
                  <a:srgbClr val="FFFFFF"/>
                </a:solidFill>
                <a:latin typeface="Century Gothic"/>
                <a:cs typeface="Century Gothic"/>
              </a:rPr>
              <a:t>Focus:</a:t>
            </a:r>
            <a:r>
              <a:rPr dirty="0" sz="2900" spc="-85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2900" spc="-120">
                <a:solidFill>
                  <a:srgbClr val="FFFFFF"/>
                </a:solidFill>
                <a:latin typeface="Century Gothic"/>
                <a:cs typeface="Century Gothic"/>
              </a:rPr>
              <a:t>Greater</a:t>
            </a:r>
            <a:r>
              <a:rPr dirty="0" sz="2900" spc="-8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2900" spc="-35">
                <a:solidFill>
                  <a:srgbClr val="FFFFFF"/>
                </a:solidFill>
                <a:latin typeface="Century Gothic"/>
                <a:cs typeface="Century Gothic"/>
              </a:rPr>
              <a:t>Dublin </a:t>
            </a:r>
            <a:r>
              <a:rPr dirty="0" sz="2900" spc="-20">
                <a:solidFill>
                  <a:srgbClr val="FFFFFF"/>
                </a:solidFill>
                <a:latin typeface="Century Gothic"/>
                <a:cs typeface="Century Gothic"/>
              </a:rPr>
              <a:t>Area</a:t>
            </a:r>
            <a:endParaRPr sz="2900">
              <a:latin typeface="Century Gothic"/>
              <a:cs typeface="Century Gothic"/>
            </a:endParaRPr>
          </a:p>
          <a:p>
            <a:pPr marL="12700" marR="490220">
              <a:lnSpc>
                <a:spcPct val="101499"/>
              </a:lnSpc>
              <a:spcBef>
                <a:spcPts val="1810"/>
              </a:spcBef>
            </a:pPr>
            <a:r>
              <a:rPr dirty="0" sz="1950">
                <a:solidFill>
                  <a:srgbClr val="FFFFFF"/>
                </a:solidFill>
                <a:latin typeface="Century Gothic"/>
                <a:cs typeface="Century Gothic"/>
              </a:rPr>
              <a:t>Filtered</a:t>
            </a:r>
            <a:r>
              <a:rPr dirty="0" sz="1950" spc="-35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950" spc="-145">
                <a:solidFill>
                  <a:srgbClr val="FFFFFF"/>
                </a:solidFill>
                <a:latin typeface="Century Gothic"/>
                <a:cs typeface="Century Gothic"/>
              </a:rPr>
              <a:t>data</a:t>
            </a:r>
            <a:r>
              <a:rPr dirty="0" sz="1950" spc="-15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950">
                <a:solidFill>
                  <a:srgbClr val="FFFFFF"/>
                </a:solidFill>
                <a:latin typeface="Century Gothic"/>
                <a:cs typeface="Century Gothic"/>
              </a:rPr>
              <a:t>to</a:t>
            </a:r>
            <a:r>
              <a:rPr dirty="0" sz="1950" spc="-2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950" spc="-60">
                <a:solidFill>
                  <a:srgbClr val="FFFFFF"/>
                </a:solidFill>
                <a:latin typeface="Century Gothic"/>
                <a:cs typeface="Century Gothic"/>
              </a:rPr>
              <a:t>urban</a:t>
            </a:r>
            <a:r>
              <a:rPr dirty="0" sz="1950" spc="-25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950" spc="-40">
                <a:solidFill>
                  <a:srgbClr val="FFFFFF"/>
                </a:solidFill>
                <a:latin typeface="Century Gothic"/>
                <a:cs typeface="Century Gothic"/>
              </a:rPr>
              <a:t>boundaries</a:t>
            </a:r>
            <a:r>
              <a:rPr dirty="0" sz="1950" spc="-2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950" spc="-25">
                <a:solidFill>
                  <a:srgbClr val="FFFFFF"/>
                </a:solidFill>
                <a:latin typeface="Century Gothic"/>
                <a:cs typeface="Century Gothic"/>
              </a:rPr>
              <a:t>for </a:t>
            </a:r>
            <a:r>
              <a:rPr dirty="0" sz="1950" spc="-60">
                <a:solidFill>
                  <a:srgbClr val="FFFFFF"/>
                </a:solidFill>
                <a:latin typeface="Century Gothic"/>
                <a:cs typeface="Century Gothic"/>
              </a:rPr>
              <a:t>relevant</a:t>
            </a:r>
            <a:r>
              <a:rPr dirty="0" sz="1950" spc="-35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950" spc="-45">
                <a:solidFill>
                  <a:srgbClr val="FFFFFF"/>
                </a:solidFill>
                <a:latin typeface="Century Gothic"/>
                <a:cs typeface="Century Gothic"/>
              </a:rPr>
              <a:t>congestion</a:t>
            </a:r>
            <a:r>
              <a:rPr dirty="0" sz="1950" spc="-25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Century Gothic"/>
                <a:cs typeface="Century Gothic"/>
              </a:rPr>
              <a:t>analysis</a:t>
            </a:r>
            <a:endParaRPr sz="195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45460" y="5769323"/>
            <a:ext cx="4885690" cy="17437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924560">
              <a:lnSpc>
                <a:spcPct val="100000"/>
              </a:lnSpc>
              <a:spcBef>
                <a:spcPts val="100"/>
              </a:spcBef>
            </a:pPr>
            <a:r>
              <a:rPr dirty="0" sz="2900" spc="-120">
                <a:solidFill>
                  <a:srgbClr val="FFFFFF"/>
                </a:solidFill>
                <a:latin typeface="Century Gothic"/>
                <a:cs typeface="Century Gothic"/>
              </a:rPr>
              <a:t>Integrated</a:t>
            </a:r>
            <a:r>
              <a:rPr dirty="0" sz="2900" spc="3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2900" spc="-60">
                <a:solidFill>
                  <a:srgbClr val="FFFFFF"/>
                </a:solidFill>
                <a:latin typeface="Century Gothic"/>
                <a:cs typeface="Century Gothic"/>
              </a:rPr>
              <a:t>Real-</a:t>
            </a:r>
            <a:r>
              <a:rPr dirty="0" sz="2900">
                <a:solidFill>
                  <a:srgbClr val="FFFFFF"/>
                </a:solidFill>
                <a:latin typeface="Century Gothic"/>
                <a:cs typeface="Century Gothic"/>
              </a:rPr>
              <a:t>Time</a:t>
            </a:r>
            <a:r>
              <a:rPr dirty="0" sz="2900" spc="3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2900" spc="-50">
                <a:solidFill>
                  <a:srgbClr val="FFFFFF"/>
                </a:solidFill>
                <a:latin typeface="Century Gothic"/>
                <a:cs typeface="Century Gothic"/>
              </a:rPr>
              <a:t>&amp; </a:t>
            </a:r>
            <a:r>
              <a:rPr dirty="0" sz="2900">
                <a:solidFill>
                  <a:srgbClr val="FFFFFF"/>
                </a:solidFill>
                <a:latin typeface="Century Gothic"/>
                <a:cs typeface="Century Gothic"/>
              </a:rPr>
              <a:t>Static</a:t>
            </a:r>
            <a:r>
              <a:rPr dirty="0" sz="2900" spc="-9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2900" spc="-10">
                <a:solidFill>
                  <a:srgbClr val="FFFFFF"/>
                </a:solidFill>
                <a:latin typeface="Century Gothic"/>
                <a:cs typeface="Century Gothic"/>
              </a:rPr>
              <a:t>Sources</a:t>
            </a:r>
            <a:endParaRPr sz="2900">
              <a:latin typeface="Century Gothic"/>
              <a:cs typeface="Century Gothic"/>
            </a:endParaRPr>
          </a:p>
          <a:p>
            <a:pPr marL="12700" marR="5080">
              <a:lnSpc>
                <a:spcPct val="101499"/>
              </a:lnSpc>
              <a:spcBef>
                <a:spcPts val="1810"/>
              </a:spcBef>
            </a:pPr>
            <a:r>
              <a:rPr dirty="0" sz="1950" spc="-90">
                <a:solidFill>
                  <a:srgbClr val="FFFFFF"/>
                </a:solidFill>
                <a:latin typeface="Century Gothic"/>
                <a:cs typeface="Century Gothic"/>
              </a:rPr>
              <a:t>Combined</a:t>
            </a:r>
            <a:r>
              <a:rPr dirty="0" sz="1950" spc="-45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950">
                <a:solidFill>
                  <a:srgbClr val="FFFFFF"/>
                </a:solidFill>
                <a:latin typeface="Century Gothic"/>
                <a:cs typeface="Century Gothic"/>
              </a:rPr>
              <a:t>live</a:t>
            </a:r>
            <a:r>
              <a:rPr dirty="0" sz="1950" spc="-55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950" spc="-60">
                <a:solidFill>
                  <a:srgbClr val="FFFFFF"/>
                </a:solidFill>
                <a:latin typeface="Century Gothic"/>
                <a:cs typeface="Century Gothic"/>
              </a:rPr>
              <a:t>vehicle</a:t>
            </a:r>
            <a:r>
              <a:rPr dirty="0" sz="1950" spc="-5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950" spc="-45">
                <a:solidFill>
                  <a:srgbClr val="FFFFFF"/>
                </a:solidFill>
                <a:latin typeface="Century Gothic"/>
                <a:cs typeface="Century Gothic"/>
              </a:rPr>
              <a:t>updates </a:t>
            </a:r>
            <a:r>
              <a:rPr dirty="0" sz="1950">
                <a:solidFill>
                  <a:srgbClr val="FFFFFF"/>
                </a:solidFill>
                <a:latin typeface="Century Gothic"/>
                <a:cs typeface="Century Gothic"/>
              </a:rPr>
              <a:t>with</a:t>
            </a:r>
            <a:r>
              <a:rPr dirty="0" sz="1950" spc="-5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Century Gothic"/>
                <a:cs typeface="Century Gothic"/>
              </a:rPr>
              <a:t>static </a:t>
            </a:r>
            <a:r>
              <a:rPr dirty="0" sz="1950">
                <a:solidFill>
                  <a:srgbClr val="FFFFFF"/>
                </a:solidFill>
                <a:latin typeface="Century Gothic"/>
                <a:cs typeface="Century Gothic"/>
              </a:rPr>
              <a:t>schedules</a:t>
            </a:r>
            <a:r>
              <a:rPr dirty="0" sz="1950" spc="-4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950">
                <a:solidFill>
                  <a:srgbClr val="FFFFFF"/>
                </a:solidFill>
                <a:latin typeface="Century Gothic"/>
                <a:cs typeface="Century Gothic"/>
              </a:rPr>
              <a:t>for</a:t>
            </a:r>
            <a:r>
              <a:rPr dirty="0" sz="1950" spc="-35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Century Gothic"/>
                <a:cs typeface="Century Gothic"/>
              </a:rPr>
              <a:t>accuracy</a:t>
            </a:r>
            <a:endParaRPr sz="195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05904" y="5769323"/>
            <a:ext cx="4684395" cy="1301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00">
                <a:solidFill>
                  <a:srgbClr val="FFFFFF"/>
                </a:solidFill>
                <a:latin typeface="Century Gothic"/>
                <a:cs typeface="Century Gothic"/>
              </a:rPr>
              <a:t>Extensive</a:t>
            </a:r>
            <a:r>
              <a:rPr dirty="0" sz="2900" spc="-10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2900" spc="-229">
                <a:solidFill>
                  <a:srgbClr val="FFFFFF"/>
                </a:solidFill>
                <a:latin typeface="Century Gothic"/>
                <a:cs typeface="Century Gothic"/>
              </a:rPr>
              <a:t>Data</a:t>
            </a:r>
            <a:r>
              <a:rPr dirty="0" sz="2900" spc="-35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2900" spc="-10">
                <a:solidFill>
                  <a:srgbClr val="FFFFFF"/>
                </a:solidFill>
                <a:latin typeface="Century Gothic"/>
                <a:cs typeface="Century Gothic"/>
              </a:rPr>
              <a:t>Collection</a:t>
            </a:r>
            <a:endParaRPr sz="2900">
              <a:latin typeface="Century Gothic"/>
              <a:cs typeface="Century Gothic"/>
            </a:endParaRPr>
          </a:p>
          <a:p>
            <a:pPr marL="12700" marR="5080">
              <a:lnSpc>
                <a:spcPct val="101499"/>
              </a:lnSpc>
              <a:spcBef>
                <a:spcPts val="1810"/>
              </a:spcBef>
            </a:pPr>
            <a:r>
              <a:rPr dirty="0" sz="1950" spc="-170">
                <a:solidFill>
                  <a:srgbClr val="FFFFFF"/>
                </a:solidFill>
                <a:latin typeface="Century Gothic"/>
                <a:cs typeface="Century Gothic"/>
              </a:rPr>
              <a:t>1.5</a:t>
            </a:r>
            <a:r>
              <a:rPr dirty="0" sz="1950" spc="-15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950">
                <a:solidFill>
                  <a:srgbClr val="FFFFFF"/>
                </a:solidFill>
                <a:latin typeface="Century Gothic"/>
                <a:cs typeface="Century Gothic"/>
              </a:rPr>
              <a:t>million</a:t>
            </a:r>
            <a:r>
              <a:rPr dirty="0" sz="1950" spc="-2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950">
                <a:solidFill>
                  <a:srgbClr val="FFFFFF"/>
                </a:solidFill>
                <a:latin typeface="Century Gothic"/>
                <a:cs typeface="Century Gothic"/>
              </a:rPr>
              <a:t>records</a:t>
            </a:r>
            <a:r>
              <a:rPr dirty="0" sz="1950" spc="-15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950" spc="-100">
                <a:solidFill>
                  <a:srgbClr val="FFFFFF"/>
                </a:solidFill>
                <a:latin typeface="Century Gothic"/>
                <a:cs typeface="Century Gothic"/>
              </a:rPr>
              <a:t>gathered</a:t>
            </a:r>
            <a:r>
              <a:rPr dirty="0" sz="1950" spc="-15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950" spc="-45">
                <a:solidFill>
                  <a:srgbClr val="FFFFFF"/>
                </a:solidFill>
                <a:latin typeface="Century Gothic"/>
                <a:cs typeface="Century Gothic"/>
              </a:rPr>
              <a:t>over</a:t>
            </a:r>
            <a:r>
              <a:rPr dirty="0" sz="1950" spc="-15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950" spc="-190">
                <a:solidFill>
                  <a:srgbClr val="FFFFFF"/>
                </a:solidFill>
                <a:latin typeface="Century Gothic"/>
                <a:cs typeface="Century Gothic"/>
              </a:rPr>
              <a:t>13</a:t>
            </a:r>
            <a:r>
              <a:rPr dirty="0" sz="1950" spc="-15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950" spc="-20">
                <a:solidFill>
                  <a:srgbClr val="FFFFFF"/>
                </a:solidFill>
                <a:latin typeface="Century Gothic"/>
                <a:cs typeface="Century Gothic"/>
              </a:rPr>
              <a:t>days </a:t>
            </a:r>
            <a:r>
              <a:rPr dirty="0" sz="1950">
                <a:solidFill>
                  <a:srgbClr val="FFFFFF"/>
                </a:solidFill>
                <a:latin typeface="Century Gothic"/>
                <a:cs typeface="Century Gothic"/>
              </a:rPr>
              <a:t>from</a:t>
            </a:r>
            <a:r>
              <a:rPr dirty="0" sz="1950" spc="-45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950">
                <a:solidFill>
                  <a:srgbClr val="FFFFFF"/>
                </a:solidFill>
                <a:latin typeface="Century Gothic"/>
                <a:cs typeface="Century Gothic"/>
              </a:rPr>
              <a:t>NTA</a:t>
            </a:r>
            <a:r>
              <a:rPr dirty="0" sz="1950" spc="-45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950" spc="85">
                <a:solidFill>
                  <a:srgbClr val="FFFFFF"/>
                </a:solidFill>
                <a:latin typeface="Century Gothic"/>
                <a:cs typeface="Century Gothic"/>
              </a:rPr>
              <a:t>GTFS</a:t>
            </a:r>
            <a:r>
              <a:rPr dirty="0" sz="1950" spc="-45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Century Gothic"/>
                <a:cs typeface="Century Gothic"/>
              </a:rPr>
              <a:t>feeds</a:t>
            </a:r>
            <a:endParaRPr sz="1950">
              <a:latin typeface="Century Gothic"/>
              <a:cs typeface="Century Gothic"/>
            </a:endParaRPr>
          </a:p>
        </p:txBody>
      </p: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0">
                <a:solidFill>
                  <a:srgbClr val="FFFFFF"/>
                </a:solidFill>
              </a:rPr>
              <a:t>Project</a:t>
            </a:r>
            <a:r>
              <a:rPr dirty="0" spc="-235">
                <a:solidFill>
                  <a:srgbClr val="FFFFFF"/>
                </a:solidFill>
              </a:rPr>
              <a:t> </a:t>
            </a:r>
            <a:r>
              <a:rPr dirty="0" spc="-260">
                <a:solidFill>
                  <a:srgbClr val="FFFFFF"/>
                </a:solidFill>
              </a:rPr>
              <a:t>Approach</a:t>
            </a:r>
            <a:r>
              <a:rPr dirty="0" spc="-60">
                <a:solidFill>
                  <a:srgbClr val="FFFFFF"/>
                </a:solidFill>
              </a:rPr>
              <a:t> </a:t>
            </a:r>
            <a:r>
              <a:rPr dirty="0" spc="-365">
                <a:solidFill>
                  <a:srgbClr val="FFFFFF"/>
                </a:solidFill>
              </a:rPr>
              <a:t>and</a:t>
            </a:r>
            <a:r>
              <a:rPr dirty="0" spc="-50">
                <a:solidFill>
                  <a:srgbClr val="FFFFFF"/>
                </a:solidFill>
              </a:rPr>
              <a:t> </a:t>
            </a:r>
            <a:r>
              <a:rPr dirty="0" spc="-355">
                <a:solidFill>
                  <a:srgbClr val="FFFFFF"/>
                </a:solidFill>
              </a:rPr>
              <a:t>Data</a:t>
            </a:r>
            <a:r>
              <a:rPr dirty="0" spc="-50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Sources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905904" y="562607"/>
            <a:ext cx="42418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5">
                <a:solidFill>
                  <a:srgbClr val="FFFFFF"/>
                </a:solidFill>
                <a:latin typeface="Century Gothic"/>
                <a:cs typeface="Century Gothic"/>
              </a:rPr>
              <a:t>INTRODUCTION</a:t>
            </a:r>
            <a:r>
              <a:rPr dirty="0" sz="1800" spc="-1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800" spc="-130">
                <a:solidFill>
                  <a:srgbClr val="FFFFFF"/>
                </a:solidFill>
                <a:latin typeface="Century Gothic"/>
                <a:cs typeface="Century Gothic"/>
              </a:rPr>
              <a:t>AND</a:t>
            </a:r>
            <a:r>
              <a:rPr dirty="0" sz="1800" spc="-1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800" spc="-140">
                <a:solidFill>
                  <a:srgbClr val="FFFFFF"/>
                </a:solidFill>
                <a:latin typeface="Century Gothic"/>
                <a:cs typeface="Century Gothic"/>
              </a:rPr>
              <a:t>DATA</a:t>
            </a:r>
            <a:r>
              <a:rPr dirty="0" sz="1800" spc="-10">
                <a:solidFill>
                  <a:srgbClr val="FFFFFF"/>
                </a:solidFill>
                <a:latin typeface="Century Gothic"/>
                <a:cs typeface="Century Gothic"/>
              </a:rPr>
              <a:t> COLLECTION</a:t>
            </a:r>
            <a:endParaRPr sz="18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5904" y="1606411"/>
            <a:ext cx="6527800" cy="1310640"/>
          </a:xfrm>
          <a:prstGeom prst="rect">
            <a:avLst/>
          </a:prstGeom>
        </p:spPr>
        <p:txBody>
          <a:bodyPr wrap="square" lIns="0" tIns="129539" rIns="0" bIns="0" rtlCol="0" vert="horz">
            <a:spAutoFit/>
          </a:bodyPr>
          <a:lstStyle/>
          <a:p>
            <a:pPr marL="12700" marR="5080">
              <a:lnSpc>
                <a:spcPts val="4600"/>
              </a:lnSpc>
              <a:spcBef>
                <a:spcPts val="1019"/>
              </a:spcBef>
            </a:pPr>
            <a:r>
              <a:rPr dirty="0" sz="4600">
                <a:solidFill>
                  <a:srgbClr val="04191A"/>
                </a:solidFill>
                <a:latin typeface="Century Gothic"/>
                <a:cs typeface="Century Gothic"/>
              </a:rPr>
              <a:t>Big</a:t>
            </a:r>
            <a:r>
              <a:rPr dirty="0" sz="4600" spc="-254">
                <a:solidFill>
                  <a:srgbClr val="04191A"/>
                </a:solidFill>
                <a:latin typeface="Century Gothic"/>
                <a:cs typeface="Century Gothic"/>
              </a:rPr>
              <a:t> </a:t>
            </a:r>
            <a:r>
              <a:rPr dirty="0" sz="4600" spc="-355">
                <a:solidFill>
                  <a:srgbClr val="04191A"/>
                </a:solidFill>
                <a:latin typeface="Century Gothic"/>
                <a:cs typeface="Century Gothic"/>
              </a:rPr>
              <a:t>Data</a:t>
            </a:r>
            <a:r>
              <a:rPr dirty="0" sz="4600" spc="-50">
                <a:solidFill>
                  <a:srgbClr val="04191A"/>
                </a:solidFill>
                <a:latin typeface="Century Gothic"/>
                <a:cs typeface="Century Gothic"/>
              </a:rPr>
              <a:t> </a:t>
            </a:r>
            <a:r>
              <a:rPr dirty="0" sz="4600" spc="-220">
                <a:solidFill>
                  <a:srgbClr val="04191A"/>
                </a:solidFill>
                <a:latin typeface="Century Gothic"/>
                <a:cs typeface="Century Gothic"/>
              </a:rPr>
              <a:t>Challenges</a:t>
            </a:r>
            <a:r>
              <a:rPr dirty="0" sz="4600" spc="-100">
                <a:solidFill>
                  <a:srgbClr val="04191A"/>
                </a:solidFill>
                <a:latin typeface="Century Gothic"/>
                <a:cs typeface="Century Gothic"/>
              </a:rPr>
              <a:t> </a:t>
            </a:r>
            <a:r>
              <a:rPr dirty="0" sz="4600" spc="-390">
                <a:solidFill>
                  <a:srgbClr val="04191A"/>
                </a:solidFill>
                <a:latin typeface="Century Gothic"/>
                <a:cs typeface="Century Gothic"/>
              </a:rPr>
              <a:t>and </a:t>
            </a:r>
            <a:r>
              <a:rPr dirty="0" sz="4600" spc="-10">
                <a:solidFill>
                  <a:srgbClr val="04191A"/>
                </a:solidFill>
                <a:latin typeface="Century Gothic"/>
                <a:cs typeface="Century Gothic"/>
              </a:rPr>
              <a:t>Solutions</a:t>
            </a:r>
            <a:endParaRPr sz="46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592685" y="1638797"/>
            <a:ext cx="6891655" cy="10001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00" spc="-160">
                <a:latin typeface="Century Gothic"/>
                <a:cs typeface="Century Gothic"/>
              </a:rPr>
              <a:t>Handled</a:t>
            </a:r>
            <a:r>
              <a:rPr dirty="0" sz="2900" spc="-40">
                <a:latin typeface="Century Gothic"/>
                <a:cs typeface="Century Gothic"/>
              </a:rPr>
              <a:t> </a:t>
            </a:r>
            <a:r>
              <a:rPr dirty="0" sz="2900" spc="-30">
                <a:latin typeface="Century Gothic"/>
                <a:cs typeface="Century Gothic"/>
              </a:rPr>
              <a:t>Massive</a:t>
            </a:r>
            <a:r>
              <a:rPr dirty="0" sz="2900" spc="-85">
                <a:latin typeface="Century Gothic"/>
                <a:cs typeface="Century Gothic"/>
              </a:rPr>
              <a:t> </a:t>
            </a:r>
            <a:r>
              <a:rPr dirty="0" sz="2900" spc="-229">
                <a:latin typeface="Century Gothic"/>
                <a:cs typeface="Century Gothic"/>
              </a:rPr>
              <a:t>Data</a:t>
            </a:r>
            <a:r>
              <a:rPr dirty="0" sz="2900" spc="-35">
                <a:latin typeface="Century Gothic"/>
                <a:cs typeface="Century Gothic"/>
              </a:rPr>
              <a:t> </a:t>
            </a:r>
            <a:r>
              <a:rPr dirty="0" sz="2900" spc="-10">
                <a:latin typeface="Century Gothic"/>
                <a:cs typeface="Century Gothic"/>
              </a:rPr>
              <a:t>Streams</a:t>
            </a:r>
            <a:endParaRPr sz="29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845"/>
              </a:spcBef>
            </a:pPr>
            <a:r>
              <a:rPr dirty="0" sz="1950">
                <a:latin typeface="Century Gothic"/>
                <a:cs typeface="Century Gothic"/>
              </a:rPr>
              <a:t>Processed </a:t>
            </a:r>
            <a:r>
              <a:rPr dirty="0" sz="1950" spc="-155">
                <a:latin typeface="Century Gothic"/>
                <a:cs typeface="Century Gothic"/>
              </a:rPr>
              <a:t>1.5M+</a:t>
            </a:r>
            <a:r>
              <a:rPr dirty="0" sz="1950" spc="5">
                <a:latin typeface="Century Gothic"/>
                <a:cs typeface="Century Gothic"/>
              </a:rPr>
              <a:t> </a:t>
            </a:r>
            <a:r>
              <a:rPr dirty="0" sz="1950">
                <a:latin typeface="Century Gothic"/>
                <a:cs typeface="Century Gothic"/>
              </a:rPr>
              <a:t>records</a:t>
            </a:r>
            <a:r>
              <a:rPr dirty="0" sz="1950" spc="5">
                <a:latin typeface="Century Gothic"/>
                <a:cs typeface="Century Gothic"/>
              </a:rPr>
              <a:t> </a:t>
            </a:r>
            <a:r>
              <a:rPr dirty="0" sz="1950">
                <a:latin typeface="Century Gothic"/>
                <a:cs typeface="Century Gothic"/>
              </a:rPr>
              <a:t>from</a:t>
            </a:r>
            <a:r>
              <a:rPr dirty="0" sz="1950" spc="5">
                <a:latin typeface="Century Gothic"/>
                <a:cs typeface="Century Gothic"/>
              </a:rPr>
              <a:t> </a:t>
            </a:r>
            <a:r>
              <a:rPr dirty="0" sz="1950">
                <a:latin typeface="Century Gothic"/>
                <a:cs typeface="Century Gothic"/>
              </a:rPr>
              <a:t>real-time</a:t>
            </a:r>
            <a:r>
              <a:rPr dirty="0" sz="1950" spc="5">
                <a:latin typeface="Century Gothic"/>
                <a:cs typeface="Century Gothic"/>
              </a:rPr>
              <a:t> </a:t>
            </a:r>
            <a:r>
              <a:rPr dirty="0" sz="1950" spc="-145">
                <a:latin typeface="Century Gothic"/>
                <a:cs typeface="Century Gothic"/>
              </a:rPr>
              <a:t>and</a:t>
            </a:r>
            <a:r>
              <a:rPr dirty="0" sz="1950">
                <a:latin typeface="Century Gothic"/>
                <a:cs typeface="Century Gothic"/>
              </a:rPr>
              <a:t> static</a:t>
            </a:r>
            <a:r>
              <a:rPr dirty="0" sz="1950" spc="5">
                <a:latin typeface="Century Gothic"/>
                <a:cs typeface="Century Gothic"/>
              </a:rPr>
              <a:t> </a:t>
            </a:r>
            <a:r>
              <a:rPr dirty="0" sz="1950" spc="-10">
                <a:latin typeface="Century Gothic"/>
                <a:cs typeface="Century Gothic"/>
              </a:rPr>
              <a:t>sources</a:t>
            </a:r>
            <a:endParaRPr sz="195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92685" y="2966671"/>
            <a:ext cx="7449820" cy="3655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00" spc="-65">
                <a:latin typeface="Century Gothic"/>
                <a:cs typeface="Century Gothic"/>
              </a:rPr>
              <a:t>Optimized</a:t>
            </a:r>
            <a:r>
              <a:rPr dirty="0" sz="2900" spc="-85">
                <a:latin typeface="Century Gothic"/>
                <a:cs typeface="Century Gothic"/>
              </a:rPr>
              <a:t> </a:t>
            </a:r>
            <a:r>
              <a:rPr dirty="0" sz="2900" spc="-20">
                <a:latin typeface="Century Gothic"/>
                <a:cs typeface="Century Gothic"/>
              </a:rPr>
              <a:t>Processing</a:t>
            </a:r>
            <a:r>
              <a:rPr dirty="0" sz="2900" spc="-55">
                <a:latin typeface="Century Gothic"/>
                <a:cs typeface="Century Gothic"/>
              </a:rPr>
              <a:t> </a:t>
            </a:r>
            <a:r>
              <a:rPr dirty="0" sz="2900">
                <a:latin typeface="Century Gothic"/>
                <a:cs typeface="Century Gothic"/>
              </a:rPr>
              <a:t>with</a:t>
            </a:r>
            <a:r>
              <a:rPr dirty="0" sz="2900" spc="-60">
                <a:latin typeface="Century Gothic"/>
                <a:cs typeface="Century Gothic"/>
              </a:rPr>
              <a:t> </a:t>
            </a:r>
            <a:r>
              <a:rPr dirty="0" sz="2900" spc="-235">
                <a:latin typeface="Century Gothic"/>
                <a:cs typeface="Century Gothic"/>
              </a:rPr>
              <a:t>Advanced</a:t>
            </a:r>
            <a:r>
              <a:rPr dirty="0" sz="2900" spc="-35">
                <a:latin typeface="Century Gothic"/>
                <a:cs typeface="Century Gothic"/>
              </a:rPr>
              <a:t> </a:t>
            </a:r>
            <a:r>
              <a:rPr dirty="0" sz="2900" spc="-10">
                <a:latin typeface="Century Gothic"/>
                <a:cs typeface="Century Gothic"/>
              </a:rPr>
              <a:t>Tools</a:t>
            </a:r>
            <a:endParaRPr sz="29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845"/>
              </a:spcBef>
            </a:pPr>
            <a:r>
              <a:rPr dirty="0" sz="1950">
                <a:latin typeface="Century Gothic"/>
                <a:cs typeface="Century Gothic"/>
              </a:rPr>
              <a:t>Used</a:t>
            </a:r>
            <a:r>
              <a:rPr dirty="0" sz="1950" spc="-15">
                <a:latin typeface="Century Gothic"/>
                <a:cs typeface="Century Gothic"/>
              </a:rPr>
              <a:t> </a:t>
            </a:r>
            <a:r>
              <a:rPr dirty="0" sz="1950">
                <a:latin typeface="Century Gothic"/>
                <a:cs typeface="Century Gothic"/>
              </a:rPr>
              <a:t>Polars</a:t>
            </a:r>
            <a:r>
              <a:rPr dirty="0" sz="1950" spc="-15">
                <a:latin typeface="Century Gothic"/>
                <a:cs typeface="Century Gothic"/>
              </a:rPr>
              <a:t> </a:t>
            </a:r>
            <a:r>
              <a:rPr dirty="0" sz="1950" spc="-145">
                <a:latin typeface="Century Gothic"/>
                <a:cs typeface="Century Gothic"/>
              </a:rPr>
              <a:t>and</a:t>
            </a:r>
            <a:r>
              <a:rPr dirty="0" sz="1950" spc="-10">
                <a:latin typeface="Century Gothic"/>
                <a:cs typeface="Century Gothic"/>
              </a:rPr>
              <a:t> </a:t>
            </a:r>
            <a:r>
              <a:rPr dirty="0" sz="1950" spc="-135">
                <a:latin typeface="Century Gothic"/>
                <a:cs typeface="Century Gothic"/>
              </a:rPr>
              <a:t>Google</a:t>
            </a:r>
            <a:r>
              <a:rPr dirty="0" sz="1950" spc="-15">
                <a:latin typeface="Century Gothic"/>
                <a:cs typeface="Century Gothic"/>
              </a:rPr>
              <a:t> </a:t>
            </a:r>
            <a:r>
              <a:rPr dirty="0" sz="1950" spc="-120">
                <a:latin typeface="Century Gothic"/>
                <a:cs typeface="Century Gothic"/>
              </a:rPr>
              <a:t>Colab</a:t>
            </a:r>
            <a:r>
              <a:rPr dirty="0" sz="1950" spc="-10">
                <a:latin typeface="Century Gothic"/>
                <a:cs typeface="Century Gothic"/>
              </a:rPr>
              <a:t> </a:t>
            </a:r>
            <a:r>
              <a:rPr dirty="0" sz="1950">
                <a:latin typeface="Century Gothic"/>
                <a:cs typeface="Century Gothic"/>
              </a:rPr>
              <a:t>for</a:t>
            </a:r>
            <a:r>
              <a:rPr dirty="0" sz="1950" spc="-15">
                <a:latin typeface="Century Gothic"/>
                <a:cs typeface="Century Gothic"/>
              </a:rPr>
              <a:t> </a:t>
            </a:r>
            <a:r>
              <a:rPr dirty="0" sz="1950">
                <a:latin typeface="Century Gothic"/>
                <a:cs typeface="Century Gothic"/>
              </a:rPr>
              <a:t>fast,</a:t>
            </a:r>
            <a:r>
              <a:rPr dirty="0" sz="1950" spc="-10">
                <a:latin typeface="Century Gothic"/>
                <a:cs typeface="Century Gothic"/>
              </a:rPr>
              <a:t> </a:t>
            </a:r>
            <a:r>
              <a:rPr dirty="0" sz="1950" spc="-65">
                <a:latin typeface="Century Gothic"/>
                <a:cs typeface="Century Gothic"/>
              </a:rPr>
              <a:t>scalable</a:t>
            </a:r>
            <a:r>
              <a:rPr dirty="0" sz="1950" spc="-15">
                <a:latin typeface="Century Gothic"/>
                <a:cs typeface="Century Gothic"/>
              </a:rPr>
              <a:t> </a:t>
            </a:r>
            <a:r>
              <a:rPr dirty="0" sz="1950" spc="-145">
                <a:latin typeface="Century Gothic"/>
                <a:cs typeface="Century Gothic"/>
              </a:rPr>
              <a:t>data</a:t>
            </a:r>
            <a:r>
              <a:rPr dirty="0" sz="1950" spc="-10">
                <a:latin typeface="Century Gothic"/>
                <a:cs typeface="Century Gothic"/>
              </a:rPr>
              <a:t> handling</a:t>
            </a:r>
            <a:endParaRPr sz="195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195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900" spc="-120">
                <a:latin typeface="Century Gothic"/>
                <a:cs typeface="Century Gothic"/>
              </a:rPr>
              <a:t>Integrated</a:t>
            </a:r>
            <a:r>
              <a:rPr dirty="0" sz="2900" spc="-80">
                <a:latin typeface="Century Gothic"/>
                <a:cs typeface="Century Gothic"/>
              </a:rPr>
              <a:t> </a:t>
            </a:r>
            <a:r>
              <a:rPr dirty="0" sz="2900" spc="-10">
                <a:latin typeface="Century Gothic"/>
                <a:cs typeface="Century Gothic"/>
              </a:rPr>
              <a:t>Diverse</a:t>
            </a:r>
            <a:r>
              <a:rPr dirty="0" sz="2900" spc="-75">
                <a:latin typeface="Century Gothic"/>
                <a:cs typeface="Century Gothic"/>
              </a:rPr>
              <a:t> </a:t>
            </a:r>
            <a:r>
              <a:rPr dirty="0" sz="2900" spc="-229">
                <a:latin typeface="Century Gothic"/>
                <a:cs typeface="Century Gothic"/>
              </a:rPr>
              <a:t>Data</a:t>
            </a:r>
            <a:r>
              <a:rPr dirty="0" sz="2900" spc="-35">
                <a:latin typeface="Century Gothic"/>
                <a:cs typeface="Century Gothic"/>
              </a:rPr>
              <a:t> </a:t>
            </a:r>
            <a:r>
              <a:rPr dirty="0" sz="2900" spc="-10">
                <a:latin typeface="Century Gothic"/>
                <a:cs typeface="Century Gothic"/>
              </a:rPr>
              <a:t>Formats</a:t>
            </a:r>
            <a:endParaRPr sz="29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845"/>
              </a:spcBef>
            </a:pPr>
            <a:r>
              <a:rPr dirty="0" sz="1950" spc="-114">
                <a:latin typeface="Century Gothic"/>
                <a:cs typeface="Century Gothic"/>
              </a:rPr>
              <a:t>Merged</a:t>
            </a:r>
            <a:r>
              <a:rPr dirty="0" sz="1950" spc="-20">
                <a:latin typeface="Century Gothic"/>
                <a:cs typeface="Century Gothic"/>
              </a:rPr>
              <a:t> </a:t>
            </a:r>
            <a:r>
              <a:rPr dirty="0" sz="1950">
                <a:latin typeface="Century Gothic"/>
                <a:cs typeface="Century Gothic"/>
              </a:rPr>
              <a:t>binary</a:t>
            </a:r>
            <a:r>
              <a:rPr dirty="0" sz="1950" spc="-25">
                <a:latin typeface="Century Gothic"/>
                <a:cs typeface="Century Gothic"/>
              </a:rPr>
              <a:t> </a:t>
            </a:r>
            <a:r>
              <a:rPr dirty="0" sz="1950" spc="-10">
                <a:latin typeface="Century Gothic"/>
                <a:cs typeface="Century Gothic"/>
              </a:rPr>
              <a:t>Protobuf</a:t>
            </a:r>
            <a:r>
              <a:rPr dirty="0" sz="1950" spc="-20">
                <a:latin typeface="Century Gothic"/>
                <a:cs typeface="Century Gothic"/>
              </a:rPr>
              <a:t> </a:t>
            </a:r>
            <a:r>
              <a:rPr dirty="0" sz="1950">
                <a:latin typeface="Century Gothic"/>
                <a:cs typeface="Century Gothic"/>
              </a:rPr>
              <a:t>streams</a:t>
            </a:r>
            <a:r>
              <a:rPr dirty="0" sz="1950" spc="-25">
                <a:latin typeface="Century Gothic"/>
                <a:cs typeface="Century Gothic"/>
              </a:rPr>
              <a:t> </a:t>
            </a:r>
            <a:r>
              <a:rPr dirty="0" sz="1950">
                <a:latin typeface="Century Gothic"/>
                <a:cs typeface="Century Gothic"/>
              </a:rPr>
              <a:t>with</a:t>
            </a:r>
            <a:r>
              <a:rPr dirty="0" sz="1950" spc="-20">
                <a:latin typeface="Century Gothic"/>
                <a:cs typeface="Century Gothic"/>
              </a:rPr>
              <a:t> </a:t>
            </a:r>
            <a:r>
              <a:rPr dirty="0" sz="1950">
                <a:latin typeface="Century Gothic"/>
                <a:cs typeface="Century Gothic"/>
              </a:rPr>
              <a:t>structured</a:t>
            </a:r>
            <a:r>
              <a:rPr dirty="0" sz="1950" spc="-20">
                <a:latin typeface="Century Gothic"/>
                <a:cs typeface="Century Gothic"/>
              </a:rPr>
              <a:t> </a:t>
            </a:r>
            <a:r>
              <a:rPr dirty="0" sz="1950">
                <a:latin typeface="Century Gothic"/>
                <a:cs typeface="Century Gothic"/>
              </a:rPr>
              <a:t>CSV</a:t>
            </a:r>
            <a:r>
              <a:rPr dirty="0" sz="1950" spc="-25">
                <a:latin typeface="Century Gothic"/>
                <a:cs typeface="Century Gothic"/>
              </a:rPr>
              <a:t> </a:t>
            </a:r>
            <a:r>
              <a:rPr dirty="0" sz="1950" spc="-10">
                <a:latin typeface="Century Gothic"/>
                <a:cs typeface="Century Gothic"/>
              </a:rPr>
              <a:t>schedules</a:t>
            </a:r>
            <a:endParaRPr sz="195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195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900" spc="-135">
                <a:latin typeface="Century Gothic"/>
                <a:cs typeface="Century Gothic"/>
              </a:rPr>
              <a:t>Enabled</a:t>
            </a:r>
            <a:r>
              <a:rPr dirty="0" sz="2900" spc="-30">
                <a:latin typeface="Century Gothic"/>
                <a:cs typeface="Century Gothic"/>
              </a:rPr>
              <a:t> </a:t>
            </a:r>
            <a:r>
              <a:rPr dirty="0" sz="2900" spc="-160">
                <a:latin typeface="Century Gothic"/>
                <a:cs typeface="Century Gothic"/>
              </a:rPr>
              <a:t>Accurate</a:t>
            </a:r>
            <a:r>
              <a:rPr dirty="0" sz="2900" spc="-25">
                <a:latin typeface="Century Gothic"/>
                <a:cs typeface="Century Gothic"/>
              </a:rPr>
              <a:t> </a:t>
            </a:r>
            <a:r>
              <a:rPr dirty="0" sz="2900" spc="-114">
                <a:latin typeface="Century Gothic"/>
                <a:cs typeface="Century Gothic"/>
              </a:rPr>
              <a:t>Geospatial</a:t>
            </a:r>
            <a:r>
              <a:rPr dirty="0" sz="2900" spc="-25">
                <a:latin typeface="Century Gothic"/>
                <a:cs typeface="Century Gothic"/>
              </a:rPr>
              <a:t> Mapping</a:t>
            </a:r>
            <a:endParaRPr sz="29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845"/>
              </a:spcBef>
            </a:pPr>
            <a:r>
              <a:rPr dirty="0" sz="1950" spc="-10">
                <a:latin typeface="Century Gothic"/>
                <a:cs typeface="Century Gothic"/>
              </a:rPr>
              <a:t>Linked</a:t>
            </a:r>
            <a:r>
              <a:rPr dirty="0" sz="1950" spc="-30">
                <a:latin typeface="Century Gothic"/>
                <a:cs typeface="Century Gothic"/>
              </a:rPr>
              <a:t> </a:t>
            </a:r>
            <a:r>
              <a:rPr dirty="0" sz="1950">
                <a:latin typeface="Century Gothic"/>
                <a:cs typeface="Century Gothic"/>
              </a:rPr>
              <a:t>live</a:t>
            </a:r>
            <a:r>
              <a:rPr dirty="0" sz="1950" spc="-20">
                <a:latin typeface="Century Gothic"/>
                <a:cs typeface="Century Gothic"/>
              </a:rPr>
              <a:t> </a:t>
            </a:r>
            <a:r>
              <a:rPr dirty="0" sz="1950" spc="-90">
                <a:latin typeface="Century Gothic"/>
                <a:cs typeface="Century Gothic"/>
              </a:rPr>
              <a:t>delay</a:t>
            </a:r>
            <a:r>
              <a:rPr dirty="0" sz="1950" spc="-20">
                <a:latin typeface="Century Gothic"/>
                <a:cs typeface="Century Gothic"/>
              </a:rPr>
              <a:t> </a:t>
            </a:r>
            <a:r>
              <a:rPr dirty="0" sz="1950" spc="-145">
                <a:latin typeface="Century Gothic"/>
                <a:cs typeface="Century Gothic"/>
              </a:rPr>
              <a:t>data</a:t>
            </a:r>
            <a:r>
              <a:rPr dirty="0" sz="1950" spc="-15">
                <a:latin typeface="Century Gothic"/>
                <a:cs typeface="Century Gothic"/>
              </a:rPr>
              <a:t> </a:t>
            </a:r>
            <a:r>
              <a:rPr dirty="0" sz="1950">
                <a:latin typeface="Century Gothic"/>
                <a:cs typeface="Century Gothic"/>
              </a:rPr>
              <a:t>to</a:t>
            </a:r>
            <a:r>
              <a:rPr dirty="0" sz="1950" spc="-20">
                <a:latin typeface="Century Gothic"/>
                <a:cs typeface="Century Gothic"/>
              </a:rPr>
              <a:t> </a:t>
            </a:r>
            <a:r>
              <a:rPr dirty="0" sz="1950" spc="-25">
                <a:latin typeface="Century Gothic"/>
                <a:cs typeface="Century Gothic"/>
              </a:rPr>
              <a:t>physical</a:t>
            </a:r>
            <a:r>
              <a:rPr dirty="0" sz="1950" spc="-20">
                <a:latin typeface="Century Gothic"/>
                <a:cs typeface="Century Gothic"/>
              </a:rPr>
              <a:t> </a:t>
            </a:r>
            <a:r>
              <a:rPr dirty="0" sz="1950">
                <a:latin typeface="Century Gothic"/>
                <a:cs typeface="Century Gothic"/>
              </a:rPr>
              <a:t>bus</a:t>
            </a:r>
            <a:r>
              <a:rPr dirty="0" sz="1950" spc="-20">
                <a:latin typeface="Century Gothic"/>
                <a:cs typeface="Century Gothic"/>
              </a:rPr>
              <a:t> </a:t>
            </a:r>
            <a:r>
              <a:rPr dirty="0" sz="1950">
                <a:latin typeface="Century Gothic"/>
                <a:cs typeface="Century Gothic"/>
              </a:rPr>
              <a:t>routes</a:t>
            </a:r>
            <a:r>
              <a:rPr dirty="0" sz="1950" spc="-20">
                <a:latin typeface="Century Gothic"/>
                <a:cs typeface="Century Gothic"/>
              </a:rPr>
              <a:t> </a:t>
            </a:r>
            <a:r>
              <a:rPr dirty="0" sz="1950">
                <a:latin typeface="Century Gothic"/>
                <a:cs typeface="Century Gothic"/>
              </a:rPr>
              <a:t>for</a:t>
            </a:r>
            <a:r>
              <a:rPr dirty="0" sz="1950" spc="-20">
                <a:latin typeface="Century Gothic"/>
                <a:cs typeface="Century Gothic"/>
              </a:rPr>
              <a:t> </a:t>
            </a:r>
            <a:r>
              <a:rPr dirty="0" sz="1950" spc="-10">
                <a:latin typeface="Century Gothic"/>
                <a:cs typeface="Century Gothic"/>
              </a:rPr>
              <a:t>visualization</a:t>
            </a:r>
            <a:endParaRPr sz="195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5904" y="561158"/>
            <a:ext cx="42418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5">
                <a:solidFill>
                  <a:srgbClr val="04191A"/>
                </a:solidFill>
                <a:latin typeface="Century Gothic"/>
                <a:cs typeface="Century Gothic"/>
              </a:rPr>
              <a:t>INTRODUCTION</a:t>
            </a:r>
            <a:r>
              <a:rPr dirty="0" sz="1800" spc="-10">
                <a:solidFill>
                  <a:srgbClr val="04191A"/>
                </a:solidFill>
                <a:latin typeface="Century Gothic"/>
                <a:cs typeface="Century Gothic"/>
              </a:rPr>
              <a:t> </a:t>
            </a:r>
            <a:r>
              <a:rPr dirty="0" sz="1800" spc="-130">
                <a:solidFill>
                  <a:srgbClr val="04191A"/>
                </a:solidFill>
                <a:latin typeface="Century Gothic"/>
                <a:cs typeface="Century Gothic"/>
              </a:rPr>
              <a:t>AND</a:t>
            </a:r>
            <a:r>
              <a:rPr dirty="0" sz="1800" spc="-10">
                <a:solidFill>
                  <a:srgbClr val="04191A"/>
                </a:solidFill>
                <a:latin typeface="Century Gothic"/>
                <a:cs typeface="Century Gothic"/>
              </a:rPr>
              <a:t> </a:t>
            </a:r>
            <a:r>
              <a:rPr dirty="0" sz="1800" spc="-140">
                <a:solidFill>
                  <a:srgbClr val="04191A"/>
                </a:solidFill>
                <a:latin typeface="Century Gothic"/>
                <a:cs typeface="Century Gothic"/>
              </a:rPr>
              <a:t>DATA</a:t>
            </a:r>
            <a:r>
              <a:rPr dirty="0" sz="1800" spc="-10">
                <a:solidFill>
                  <a:srgbClr val="04191A"/>
                </a:solidFill>
                <a:latin typeface="Century Gothic"/>
                <a:cs typeface="Century Gothic"/>
              </a:rPr>
              <a:t> COLLECTION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211713" y="561158"/>
            <a:ext cx="1695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80">
                <a:solidFill>
                  <a:srgbClr val="04191A"/>
                </a:solidFill>
                <a:latin typeface="Century Gothic"/>
                <a:cs typeface="Century Gothic"/>
              </a:rPr>
              <a:t>6</a:t>
            </a:r>
            <a:endParaRPr sz="1800">
              <a:latin typeface="Century Gothic"/>
              <a:cs typeface="Century Gothic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495812"/>
            <a:ext cx="8686800" cy="5791187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9605381" y="7023272"/>
            <a:ext cx="6372860" cy="0"/>
          </a:xfrm>
          <a:custGeom>
            <a:avLst/>
            <a:gdLst/>
            <a:ahLst/>
            <a:cxnLst/>
            <a:rect l="l" t="t" r="r" b="b"/>
            <a:pathLst>
              <a:path w="6372859" h="0">
                <a:moveTo>
                  <a:pt x="6372313" y="0"/>
                </a:moveTo>
                <a:lnTo>
                  <a:pt x="0" y="0"/>
                </a:lnTo>
              </a:path>
            </a:pathLst>
          </a:custGeom>
          <a:ln w="19050">
            <a:solidFill>
              <a:srgbClr val="2DC295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05894" y="6744201"/>
            <a:ext cx="12881610" cy="2065020"/>
          </a:xfrm>
          <a:prstGeom prst="rect"/>
        </p:spPr>
        <p:txBody>
          <a:bodyPr wrap="square" lIns="0" tIns="198120" rIns="0" bIns="0" rtlCol="0" vert="horz">
            <a:spAutoFit/>
          </a:bodyPr>
          <a:lstStyle/>
          <a:p>
            <a:pPr marL="12700" marR="5080">
              <a:lnSpc>
                <a:spcPts val="7300"/>
              </a:lnSpc>
              <a:spcBef>
                <a:spcPts val="1560"/>
              </a:spcBef>
            </a:pPr>
            <a:r>
              <a:rPr dirty="0" sz="7300" spc="125" b="1">
                <a:solidFill>
                  <a:srgbClr val="04191A"/>
                </a:solidFill>
                <a:latin typeface="Century Gothic"/>
                <a:cs typeface="Century Gothic"/>
              </a:rPr>
              <a:t>Analysis</a:t>
            </a:r>
            <a:r>
              <a:rPr dirty="0" sz="7300" spc="-315" b="1">
                <a:solidFill>
                  <a:srgbClr val="04191A"/>
                </a:solidFill>
                <a:latin typeface="Century Gothic"/>
                <a:cs typeface="Century Gothic"/>
              </a:rPr>
              <a:t> </a:t>
            </a:r>
            <a:r>
              <a:rPr dirty="0" sz="7300" spc="-190" b="1">
                <a:solidFill>
                  <a:srgbClr val="04191A"/>
                </a:solidFill>
                <a:latin typeface="Century Gothic"/>
                <a:cs typeface="Century Gothic"/>
              </a:rPr>
              <a:t>and</a:t>
            </a:r>
            <a:r>
              <a:rPr dirty="0" sz="7300" spc="-315" b="1">
                <a:solidFill>
                  <a:srgbClr val="04191A"/>
                </a:solidFill>
                <a:latin typeface="Century Gothic"/>
                <a:cs typeface="Century Gothic"/>
              </a:rPr>
              <a:t> </a:t>
            </a:r>
            <a:r>
              <a:rPr dirty="0" sz="7300" spc="100" b="1">
                <a:solidFill>
                  <a:srgbClr val="04191A"/>
                </a:solidFill>
                <a:latin typeface="Century Gothic"/>
                <a:cs typeface="Century Gothic"/>
              </a:rPr>
              <a:t>Visualization</a:t>
            </a:r>
            <a:r>
              <a:rPr dirty="0" sz="7300" spc="-315" b="1">
                <a:solidFill>
                  <a:srgbClr val="04191A"/>
                </a:solidFill>
                <a:latin typeface="Century Gothic"/>
                <a:cs typeface="Century Gothic"/>
              </a:rPr>
              <a:t> </a:t>
            </a:r>
            <a:r>
              <a:rPr dirty="0" sz="7300" spc="165" b="1">
                <a:solidFill>
                  <a:srgbClr val="04191A"/>
                </a:solidFill>
                <a:latin typeface="Century Gothic"/>
                <a:cs typeface="Century Gothic"/>
              </a:rPr>
              <a:t>of </a:t>
            </a:r>
            <a:r>
              <a:rPr dirty="0" sz="7300" spc="-125" b="1">
                <a:solidFill>
                  <a:srgbClr val="04191A"/>
                </a:solidFill>
                <a:latin typeface="Century Gothic"/>
                <a:cs typeface="Century Gothic"/>
              </a:rPr>
              <a:t>Delay</a:t>
            </a:r>
            <a:r>
              <a:rPr dirty="0" sz="7300" spc="-365" b="1">
                <a:solidFill>
                  <a:srgbClr val="04191A"/>
                </a:solidFill>
                <a:latin typeface="Century Gothic"/>
                <a:cs typeface="Century Gothic"/>
              </a:rPr>
              <a:t> </a:t>
            </a:r>
            <a:r>
              <a:rPr dirty="0" sz="7300" spc="275" b="1">
                <a:solidFill>
                  <a:srgbClr val="04191A"/>
                </a:solidFill>
                <a:latin typeface="Century Gothic"/>
                <a:cs typeface="Century Gothic"/>
              </a:rPr>
              <a:t>Patterns</a:t>
            </a:r>
            <a:endParaRPr sz="73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233506" y="563767"/>
            <a:ext cx="1479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solidFill>
                  <a:srgbClr val="04191A"/>
                </a:solidFill>
                <a:latin typeface="Century Gothic"/>
                <a:cs typeface="Century Gothic"/>
              </a:rPr>
              <a:t>7</a:t>
            </a:r>
            <a:endParaRPr sz="18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70"/>
              <a:t>Key</a:t>
            </a:r>
            <a:r>
              <a:rPr dirty="0" spc="-150"/>
              <a:t> </a:t>
            </a:r>
            <a:r>
              <a:rPr dirty="0" spc="-20"/>
              <a:t>Findings:</a:t>
            </a:r>
            <a:r>
              <a:rPr dirty="0" spc="-200"/>
              <a:t> </a:t>
            </a:r>
            <a:r>
              <a:rPr dirty="0" spc="-254"/>
              <a:t>Delay</a:t>
            </a:r>
            <a:r>
              <a:rPr dirty="0" spc="-60"/>
              <a:t> </a:t>
            </a:r>
            <a:r>
              <a:rPr dirty="0" spc="-10"/>
              <a:t>Patterns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386965" y="5259062"/>
            <a:ext cx="4869815" cy="17437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688340">
              <a:lnSpc>
                <a:spcPct val="100000"/>
              </a:lnSpc>
              <a:spcBef>
                <a:spcPts val="100"/>
              </a:spcBef>
            </a:pPr>
            <a:r>
              <a:rPr dirty="0" sz="2900" spc="-85">
                <a:latin typeface="Century Gothic"/>
                <a:cs typeface="Century Gothic"/>
              </a:rPr>
              <a:t>Central</a:t>
            </a:r>
            <a:r>
              <a:rPr dirty="0" sz="2900" spc="-110">
                <a:latin typeface="Century Gothic"/>
                <a:cs typeface="Century Gothic"/>
              </a:rPr>
              <a:t> </a:t>
            </a:r>
            <a:r>
              <a:rPr dirty="0" sz="2900" spc="-40">
                <a:latin typeface="Century Gothic"/>
                <a:cs typeface="Century Gothic"/>
              </a:rPr>
              <a:t>Dublin</a:t>
            </a:r>
            <a:r>
              <a:rPr dirty="0" sz="2900" spc="-105">
                <a:latin typeface="Century Gothic"/>
                <a:cs typeface="Century Gothic"/>
              </a:rPr>
              <a:t> </a:t>
            </a:r>
            <a:r>
              <a:rPr dirty="0" sz="2900" spc="-60">
                <a:latin typeface="Century Gothic"/>
                <a:cs typeface="Century Gothic"/>
              </a:rPr>
              <a:t>Maintains </a:t>
            </a:r>
            <a:r>
              <a:rPr dirty="0" sz="2900" spc="-20">
                <a:latin typeface="Century Gothic"/>
                <a:cs typeface="Century Gothic"/>
              </a:rPr>
              <a:t>Flow</a:t>
            </a:r>
            <a:endParaRPr sz="2900">
              <a:latin typeface="Century Gothic"/>
              <a:cs typeface="Century Gothic"/>
            </a:endParaRPr>
          </a:p>
          <a:p>
            <a:pPr marL="12700" marR="5080">
              <a:lnSpc>
                <a:spcPct val="101499"/>
              </a:lnSpc>
              <a:spcBef>
                <a:spcPts val="1810"/>
              </a:spcBef>
            </a:pPr>
            <a:r>
              <a:rPr dirty="0" sz="1950" spc="-100">
                <a:latin typeface="Century Gothic"/>
                <a:cs typeface="Century Gothic"/>
              </a:rPr>
              <a:t>Dedicated</a:t>
            </a:r>
            <a:r>
              <a:rPr dirty="0" sz="1950" spc="60">
                <a:latin typeface="Century Gothic"/>
                <a:cs typeface="Century Gothic"/>
              </a:rPr>
              <a:t> </a:t>
            </a:r>
            <a:r>
              <a:rPr dirty="0" sz="1950">
                <a:latin typeface="Century Gothic"/>
                <a:cs typeface="Century Gothic"/>
              </a:rPr>
              <a:t>bus</a:t>
            </a:r>
            <a:r>
              <a:rPr dirty="0" sz="1950" spc="65">
                <a:latin typeface="Century Gothic"/>
                <a:cs typeface="Century Gothic"/>
              </a:rPr>
              <a:t> </a:t>
            </a:r>
            <a:r>
              <a:rPr dirty="0" sz="1950">
                <a:latin typeface="Century Gothic"/>
                <a:cs typeface="Century Gothic"/>
              </a:rPr>
              <a:t>corridors</a:t>
            </a:r>
            <a:r>
              <a:rPr dirty="0" sz="1950" spc="65">
                <a:latin typeface="Century Gothic"/>
                <a:cs typeface="Century Gothic"/>
              </a:rPr>
              <a:t> </a:t>
            </a:r>
            <a:r>
              <a:rPr dirty="0" sz="1950" spc="-50">
                <a:latin typeface="Century Gothic"/>
                <a:cs typeface="Century Gothic"/>
              </a:rPr>
              <a:t>help</a:t>
            </a:r>
            <a:r>
              <a:rPr dirty="0" sz="1950" spc="65">
                <a:latin typeface="Century Gothic"/>
                <a:cs typeface="Century Gothic"/>
              </a:rPr>
              <a:t> </a:t>
            </a:r>
            <a:r>
              <a:rPr dirty="0" sz="1950" spc="-110">
                <a:latin typeface="Century Gothic"/>
                <a:cs typeface="Century Gothic"/>
              </a:rPr>
              <a:t>keep</a:t>
            </a:r>
            <a:r>
              <a:rPr dirty="0" sz="1950" spc="65">
                <a:latin typeface="Century Gothic"/>
                <a:cs typeface="Century Gothic"/>
              </a:rPr>
              <a:t> </a:t>
            </a:r>
            <a:r>
              <a:rPr dirty="0" sz="1950" spc="-30">
                <a:latin typeface="Century Gothic"/>
                <a:cs typeface="Century Gothic"/>
              </a:rPr>
              <a:t>delays </a:t>
            </a:r>
            <a:r>
              <a:rPr dirty="0" sz="1950" spc="-10">
                <a:latin typeface="Century Gothic"/>
                <a:cs typeface="Century Gothic"/>
              </a:rPr>
              <a:t>minimal.</a:t>
            </a:r>
            <a:endParaRPr sz="195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46415" y="5259062"/>
            <a:ext cx="4617085" cy="17437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19075">
              <a:lnSpc>
                <a:spcPct val="100000"/>
              </a:lnSpc>
              <a:spcBef>
                <a:spcPts val="100"/>
              </a:spcBef>
            </a:pPr>
            <a:r>
              <a:rPr dirty="0" sz="2900">
                <a:latin typeface="Century Gothic"/>
                <a:cs typeface="Century Gothic"/>
              </a:rPr>
              <a:t>West</a:t>
            </a:r>
            <a:r>
              <a:rPr dirty="0" sz="2900" spc="-90">
                <a:latin typeface="Century Gothic"/>
                <a:cs typeface="Century Gothic"/>
              </a:rPr>
              <a:t> </a:t>
            </a:r>
            <a:r>
              <a:rPr dirty="0" sz="2900" spc="-40">
                <a:latin typeface="Century Gothic"/>
                <a:cs typeface="Century Gothic"/>
              </a:rPr>
              <a:t>Dublin</a:t>
            </a:r>
            <a:r>
              <a:rPr dirty="0" sz="2900" spc="-85">
                <a:latin typeface="Century Gothic"/>
                <a:cs typeface="Century Gothic"/>
              </a:rPr>
              <a:t> </a:t>
            </a:r>
            <a:r>
              <a:rPr dirty="0" sz="2900" spc="-90">
                <a:latin typeface="Century Gothic"/>
                <a:cs typeface="Century Gothic"/>
              </a:rPr>
              <a:t>Faces </a:t>
            </a:r>
            <a:r>
              <a:rPr dirty="0" sz="2900" spc="-80">
                <a:latin typeface="Century Gothic"/>
                <a:cs typeface="Century Gothic"/>
              </a:rPr>
              <a:t>Severe </a:t>
            </a:r>
            <a:r>
              <a:rPr dirty="0" sz="2900" spc="-190">
                <a:latin typeface="Century Gothic"/>
                <a:cs typeface="Century Gothic"/>
              </a:rPr>
              <a:t>Peak</a:t>
            </a:r>
            <a:r>
              <a:rPr dirty="0" sz="2900" spc="-35">
                <a:latin typeface="Century Gothic"/>
                <a:cs typeface="Century Gothic"/>
              </a:rPr>
              <a:t> </a:t>
            </a:r>
            <a:r>
              <a:rPr dirty="0" sz="2900" spc="-10">
                <a:latin typeface="Century Gothic"/>
                <a:cs typeface="Century Gothic"/>
              </a:rPr>
              <a:t>Delays</a:t>
            </a:r>
            <a:endParaRPr sz="2900">
              <a:latin typeface="Century Gothic"/>
              <a:cs typeface="Century Gothic"/>
            </a:endParaRPr>
          </a:p>
          <a:p>
            <a:pPr marL="12700" marR="5080">
              <a:lnSpc>
                <a:spcPct val="101499"/>
              </a:lnSpc>
              <a:spcBef>
                <a:spcPts val="1810"/>
              </a:spcBef>
            </a:pPr>
            <a:r>
              <a:rPr dirty="0" sz="1950" spc="-35">
                <a:latin typeface="Century Gothic"/>
                <a:cs typeface="Century Gothic"/>
              </a:rPr>
              <a:t>Morning</a:t>
            </a:r>
            <a:r>
              <a:rPr dirty="0" sz="1950" spc="-70">
                <a:latin typeface="Century Gothic"/>
                <a:cs typeface="Century Gothic"/>
              </a:rPr>
              <a:t> </a:t>
            </a:r>
            <a:r>
              <a:rPr dirty="0" sz="1950" spc="-145">
                <a:latin typeface="Century Gothic"/>
                <a:cs typeface="Century Gothic"/>
              </a:rPr>
              <a:t>and</a:t>
            </a:r>
            <a:r>
              <a:rPr dirty="0" sz="1950" spc="-15">
                <a:latin typeface="Century Gothic"/>
                <a:cs typeface="Century Gothic"/>
              </a:rPr>
              <a:t> </a:t>
            </a:r>
            <a:r>
              <a:rPr dirty="0" sz="1950" spc="-90">
                <a:latin typeface="Century Gothic"/>
                <a:cs typeface="Century Gothic"/>
              </a:rPr>
              <a:t>evening</a:t>
            </a:r>
            <a:r>
              <a:rPr dirty="0" sz="1950" spc="-40">
                <a:latin typeface="Century Gothic"/>
                <a:cs typeface="Century Gothic"/>
              </a:rPr>
              <a:t> </a:t>
            </a:r>
            <a:r>
              <a:rPr dirty="0" sz="1950" spc="-60">
                <a:latin typeface="Century Gothic"/>
                <a:cs typeface="Century Gothic"/>
              </a:rPr>
              <a:t>peaks</a:t>
            </a:r>
            <a:r>
              <a:rPr dirty="0" sz="1950" spc="-40">
                <a:latin typeface="Century Gothic"/>
                <a:cs typeface="Century Gothic"/>
              </a:rPr>
              <a:t> </a:t>
            </a:r>
            <a:r>
              <a:rPr dirty="0" sz="1950">
                <a:latin typeface="Century Gothic"/>
                <a:cs typeface="Century Gothic"/>
              </a:rPr>
              <a:t>see</a:t>
            </a:r>
            <a:r>
              <a:rPr dirty="0" sz="1950" spc="-40">
                <a:latin typeface="Century Gothic"/>
                <a:cs typeface="Century Gothic"/>
              </a:rPr>
              <a:t> </a:t>
            </a:r>
            <a:r>
              <a:rPr dirty="0" sz="1950" spc="-100">
                <a:latin typeface="Century Gothic"/>
                <a:cs typeface="Century Gothic"/>
              </a:rPr>
              <a:t>&gt;10</a:t>
            </a:r>
            <a:r>
              <a:rPr dirty="0" sz="1950" spc="-35">
                <a:latin typeface="Century Gothic"/>
                <a:cs typeface="Century Gothic"/>
              </a:rPr>
              <a:t> </a:t>
            </a:r>
            <a:r>
              <a:rPr dirty="0" sz="1950" spc="-25">
                <a:latin typeface="Century Gothic"/>
                <a:cs typeface="Century Gothic"/>
              </a:rPr>
              <a:t>min </a:t>
            </a:r>
            <a:r>
              <a:rPr dirty="0" sz="1950" spc="-45">
                <a:latin typeface="Century Gothic"/>
                <a:cs typeface="Century Gothic"/>
              </a:rPr>
              <a:t>delays</a:t>
            </a:r>
            <a:r>
              <a:rPr dirty="0" sz="1950" spc="-40">
                <a:latin typeface="Century Gothic"/>
                <a:cs typeface="Century Gothic"/>
              </a:rPr>
              <a:t> </a:t>
            </a:r>
            <a:r>
              <a:rPr dirty="0" sz="1950" spc="-10">
                <a:latin typeface="Century Gothic"/>
                <a:cs typeface="Century Gothic"/>
              </a:rPr>
              <a:t>frequently.</a:t>
            </a:r>
            <a:endParaRPr sz="195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5866" y="5259062"/>
            <a:ext cx="4683760" cy="17437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21310">
              <a:lnSpc>
                <a:spcPct val="100000"/>
              </a:lnSpc>
              <a:spcBef>
                <a:spcPts val="100"/>
              </a:spcBef>
            </a:pPr>
            <a:r>
              <a:rPr dirty="0" sz="2900">
                <a:latin typeface="Century Gothic"/>
                <a:cs typeface="Century Gothic"/>
              </a:rPr>
              <a:t>Rush</a:t>
            </a:r>
            <a:r>
              <a:rPr dirty="0" sz="2900" spc="-75">
                <a:latin typeface="Century Gothic"/>
                <a:cs typeface="Century Gothic"/>
              </a:rPr>
              <a:t> </a:t>
            </a:r>
            <a:r>
              <a:rPr dirty="0" sz="2900">
                <a:latin typeface="Century Gothic"/>
                <a:cs typeface="Century Gothic"/>
              </a:rPr>
              <a:t>Hour</a:t>
            </a:r>
            <a:r>
              <a:rPr dirty="0" sz="2900" spc="-75">
                <a:latin typeface="Century Gothic"/>
                <a:cs typeface="Century Gothic"/>
              </a:rPr>
              <a:t> </a:t>
            </a:r>
            <a:r>
              <a:rPr dirty="0" sz="2900" spc="-80">
                <a:latin typeface="Century Gothic"/>
                <a:cs typeface="Century Gothic"/>
              </a:rPr>
              <a:t>Delays</a:t>
            </a:r>
            <a:r>
              <a:rPr dirty="0" sz="2900" spc="-75">
                <a:latin typeface="Century Gothic"/>
                <a:cs typeface="Century Gothic"/>
              </a:rPr>
              <a:t> </a:t>
            </a:r>
            <a:r>
              <a:rPr dirty="0" sz="2900" spc="-100">
                <a:latin typeface="Century Gothic"/>
                <a:cs typeface="Century Gothic"/>
              </a:rPr>
              <a:t>Vary</a:t>
            </a:r>
            <a:r>
              <a:rPr dirty="0" sz="2900" spc="-75">
                <a:latin typeface="Century Gothic"/>
                <a:cs typeface="Century Gothic"/>
              </a:rPr>
              <a:t> </a:t>
            </a:r>
            <a:r>
              <a:rPr dirty="0" sz="2900" spc="-25">
                <a:latin typeface="Century Gothic"/>
                <a:cs typeface="Century Gothic"/>
              </a:rPr>
              <a:t>by </a:t>
            </a:r>
            <a:r>
              <a:rPr dirty="0" sz="2900" spc="-10">
                <a:latin typeface="Century Gothic"/>
                <a:cs typeface="Century Gothic"/>
              </a:rPr>
              <a:t>Region</a:t>
            </a:r>
            <a:endParaRPr sz="2900">
              <a:latin typeface="Century Gothic"/>
              <a:cs typeface="Century Gothic"/>
            </a:endParaRPr>
          </a:p>
          <a:p>
            <a:pPr marL="12700" marR="5080">
              <a:lnSpc>
                <a:spcPct val="101499"/>
              </a:lnSpc>
              <a:spcBef>
                <a:spcPts val="1810"/>
              </a:spcBef>
            </a:pPr>
            <a:r>
              <a:rPr dirty="0" sz="1950" spc="-30">
                <a:latin typeface="Century Gothic"/>
                <a:cs typeface="Century Gothic"/>
              </a:rPr>
              <a:t>Delays </a:t>
            </a:r>
            <a:r>
              <a:rPr dirty="0" sz="1950" spc="-100">
                <a:latin typeface="Century Gothic"/>
                <a:cs typeface="Century Gothic"/>
              </a:rPr>
              <a:t>are</a:t>
            </a:r>
            <a:r>
              <a:rPr dirty="0" sz="1950" spc="-25">
                <a:latin typeface="Century Gothic"/>
                <a:cs typeface="Century Gothic"/>
              </a:rPr>
              <a:t> </a:t>
            </a:r>
            <a:r>
              <a:rPr dirty="0" sz="1950">
                <a:latin typeface="Century Gothic"/>
                <a:cs typeface="Century Gothic"/>
              </a:rPr>
              <a:t>not</a:t>
            </a:r>
            <a:r>
              <a:rPr dirty="0" sz="1950" spc="-30">
                <a:latin typeface="Century Gothic"/>
                <a:cs typeface="Century Gothic"/>
              </a:rPr>
              <a:t> </a:t>
            </a:r>
            <a:r>
              <a:rPr dirty="0" sz="1950" spc="-60">
                <a:latin typeface="Century Gothic"/>
                <a:cs typeface="Century Gothic"/>
              </a:rPr>
              <a:t>evenly</a:t>
            </a:r>
            <a:r>
              <a:rPr dirty="0" sz="1950" spc="-25">
                <a:latin typeface="Century Gothic"/>
                <a:cs typeface="Century Gothic"/>
              </a:rPr>
              <a:t> </a:t>
            </a:r>
            <a:r>
              <a:rPr dirty="0" sz="1950">
                <a:latin typeface="Century Gothic"/>
                <a:cs typeface="Century Gothic"/>
              </a:rPr>
              <a:t>distributed</a:t>
            </a:r>
            <a:r>
              <a:rPr dirty="0" sz="1950" spc="-30">
                <a:latin typeface="Century Gothic"/>
                <a:cs typeface="Century Gothic"/>
              </a:rPr>
              <a:t> </a:t>
            </a:r>
            <a:r>
              <a:rPr dirty="0" sz="1950" spc="-10">
                <a:latin typeface="Century Gothic"/>
                <a:cs typeface="Century Gothic"/>
              </a:rPr>
              <a:t>across Dublin.</a:t>
            </a:r>
            <a:endParaRPr sz="195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216403" y="561158"/>
            <a:ext cx="1651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40">
                <a:solidFill>
                  <a:srgbClr val="04191A"/>
                </a:solidFill>
                <a:latin typeface="Century Gothic"/>
                <a:cs typeface="Century Gothic"/>
              </a:rPr>
              <a:t>8</a:t>
            </a:r>
            <a:endParaRPr sz="1800">
              <a:latin typeface="Century Gothic"/>
              <a:cs typeface="Century Gothic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263617" y="5327006"/>
            <a:ext cx="5760085" cy="1691005"/>
            <a:chOff x="6263617" y="5327006"/>
            <a:chExt cx="5760085" cy="1691005"/>
          </a:xfrm>
        </p:grpSpPr>
        <p:sp>
          <p:nvSpPr>
            <p:cNvPr id="8" name="object 8"/>
            <p:cNvSpPr/>
            <p:nvPr/>
          </p:nvSpPr>
          <p:spPr>
            <a:xfrm>
              <a:off x="12013666" y="5327006"/>
              <a:ext cx="0" cy="1691005"/>
            </a:xfrm>
            <a:custGeom>
              <a:avLst/>
              <a:gdLst/>
              <a:ahLst/>
              <a:cxnLst/>
              <a:rect l="l" t="t" r="r" b="b"/>
              <a:pathLst>
                <a:path w="0" h="1691004">
                  <a:moveTo>
                    <a:pt x="0" y="1690382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2DC29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273142" y="5327006"/>
              <a:ext cx="0" cy="1691005"/>
            </a:xfrm>
            <a:custGeom>
              <a:avLst/>
              <a:gdLst/>
              <a:ahLst/>
              <a:cxnLst/>
              <a:rect l="l" t="t" r="r" b="b"/>
              <a:pathLst>
                <a:path w="0" h="1691004">
                  <a:moveTo>
                    <a:pt x="0" y="1690382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2DC29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905904" y="561158"/>
            <a:ext cx="54121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0">
                <a:solidFill>
                  <a:srgbClr val="04191A"/>
                </a:solidFill>
                <a:latin typeface="Century Gothic"/>
                <a:cs typeface="Century Gothic"/>
              </a:rPr>
              <a:t>ANALYSIS</a:t>
            </a:r>
            <a:r>
              <a:rPr dirty="0" sz="1800" spc="-95">
                <a:solidFill>
                  <a:srgbClr val="04191A"/>
                </a:solidFill>
                <a:latin typeface="Century Gothic"/>
                <a:cs typeface="Century Gothic"/>
              </a:rPr>
              <a:t> </a:t>
            </a:r>
            <a:r>
              <a:rPr dirty="0" sz="1800" spc="-130">
                <a:solidFill>
                  <a:srgbClr val="04191A"/>
                </a:solidFill>
                <a:latin typeface="Century Gothic"/>
                <a:cs typeface="Century Gothic"/>
              </a:rPr>
              <a:t>AND</a:t>
            </a:r>
            <a:r>
              <a:rPr dirty="0" sz="1800" spc="-20">
                <a:solidFill>
                  <a:srgbClr val="04191A"/>
                </a:solidFill>
                <a:latin typeface="Century Gothic"/>
                <a:cs typeface="Century Gothic"/>
              </a:rPr>
              <a:t> </a:t>
            </a:r>
            <a:r>
              <a:rPr dirty="0" sz="1800" spc="-10">
                <a:solidFill>
                  <a:srgbClr val="04191A"/>
                </a:solidFill>
                <a:latin typeface="Century Gothic"/>
                <a:cs typeface="Century Gothic"/>
              </a:rPr>
              <a:t>VISUALIZATION</a:t>
            </a:r>
            <a:r>
              <a:rPr dirty="0" sz="1800" spc="-110">
                <a:solidFill>
                  <a:srgbClr val="04191A"/>
                </a:solidFill>
                <a:latin typeface="Century Gothic"/>
                <a:cs typeface="Century Gothic"/>
              </a:rPr>
              <a:t> </a:t>
            </a:r>
            <a:r>
              <a:rPr dirty="0" sz="1800">
                <a:solidFill>
                  <a:srgbClr val="04191A"/>
                </a:solidFill>
                <a:latin typeface="Century Gothic"/>
                <a:cs typeface="Century Gothic"/>
              </a:rPr>
              <a:t>OF</a:t>
            </a:r>
            <a:r>
              <a:rPr dirty="0" sz="1800" spc="-75">
                <a:solidFill>
                  <a:srgbClr val="04191A"/>
                </a:solidFill>
                <a:latin typeface="Century Gothic"/>
                <a:cs typeface="Century Gothic"/>
              </a:rPr>
              <a:t> </a:t>
            </a:r>
            <a:r>
              <a:rPr dirty="0" sz="1800" spc="-35">
                <a:solidFill>
                  <a:srgbClr val="04191A"/>
                </a:solidFill>
                <a:latin typeface="Century Gothic"/>
                <a:cs typeface="Century Gothic"/>
              </a:rPr>
              <a:t>DELAY</a:t>
            </a:r>
            <a:r>
              <a:rPr dirty="0" sz="1800" spc="-70">
                <a:solidFill>
                  <a:srgbClr val="04191A"/>
                </a:solidFill>
                <a:latin typeface="Century Gothic"/>
                <a:cs typeface="Century Gothic"/>
              </a:rPr>
              <a:t> </a:t>
            </a:r>
            <a:r>
              <a:rPr dirty="0" sz="1800" spc="-10">
                <a:solidFill>
                  <a:srgbClr val="04191A"/>
                </a:solidFill>
                <a:latin typeface="Century Gothic"/>
                <a:cs typeface="Century Gothic"/>
              </a:rPr>
              <a:t>PATTERNS</a:t>
            </a:r>
            <a:endParaRPr sz="18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90"/>
              <a:t>Geographic</a:t>
            </a:r>
            <a:r>
              <a:rPr dirty="0" spc="-50"/>
              <a:t> </a:t>
            </a:r>
            <a:r>
              <a:rPr dirty="0" spc="-100"/>
              <a:t>Inequality</a:t>
            </a:r>
            <a:r>
              <a:rPr dirty="0" spc="-95"/>
              <a:t> </a:t>
            </a:r>
            <a:r>
              <a:rPr dirty="0"/>
              <a:t>in</a:t>
            </a:r>
            <a:r>
              <a:rPr dirty="0" spc="-70"/>
              <a:t> Delays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822102" y="5038082"/>
            <a:ext cx="3422015" cy="2045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761365">
              <a:lnSpc>
                <a:spcPct val="100000"/>
              </a:lnSpc>
              <a:spcBef>
                <a:spcPts val="100"/>
              </a:spcBef>
            </a:pPr>
            <a:r>
              <a:rPr dirty="0" sz="2900" spc="-30">
                <a:latin typeface="Century Gothic"/>
                <a:cs typeface="Century Gothic"/>
              </a:rPr>
              <a:t>Implications</a:t>
            </a:r>
            <a:r>
              <a:rPr dirty="0" sz="2900" spc="-130">
                <a:latin typeface="Century Gothic"/>
                <a:cs typeface="Century Gothic"/>
              </a:rPr>
              <a:t> </a:t>
            </a:r>
            <a:r>
              <a:rPr dirty="0" sz="2900" spc="-25">
                <a:latin typeface="Century Gothic"/>
                <a:cs typeface="Century Gothic"/>
              </a:rPr>
              <a:t>for </a:t>
            </a:r>
            <a:r>
              <a:rPr dirty="0" sz="2900" spc="-10">
                <a:latin typeface="Century Gothic"/>
                <a:cs typeface="Century Gothic"/>
              </a:rPr>
              <a:t>Equity</a:t>
            </a:r>
            <a:endParaRPr sz="2900">
              <a:latin typeface="Century Gothic"/>
              <a:cs typeface="Century Gothic"/>
            </a:endParaRPr>
          </a:p>
          <a:p>
            <a:pPr marL="12700" marR="5080">
              <a:lnSpc>
                <a:spcPct val="101499"/>
              </a:lnSpc>
              <a:spcBef>
                <a:spcPts val="1810"/>
              </a:spcBef>
            </a:pPr>
            <a:r>
              <a:rPr dirty="0" sz="1950" spc="-10">
                <a:latin typeface="Century Gothic"/>
                <a:cs typeface="Century Gothic"/>
              </a:rPr>
              <a:t>Commuters</a:t>
            </a:r>
            <a:r>
              <a:rPr dirty="0" sz="1950" spc="-20">
                <a:latin typeface="Century Gothic"/>
                <a:cs typeface="Century Gothic"/>
              </a:rPr>
              <a:t> </a:t>
            </a:r>
            <a:r>
              <a:rPr dirty="0" sz="1950">
                <a:latin typeface="Century Gothic"/>
                <a:cs typeface="Century Gothic"/>
              </a:rPr>
              <a:t>in</a:t>
            </a:r>
            <a:r>
              <a:rPr dirty="0" sz="1950" spc="-15">
                <a:latin typeface="Century Gothic"/>
                <a:cs typeface="Century Gothic"/>
              </a:rPr>
              <a:t> </a:t>
            </a:r>
            <a:r>
              <a:rPr dirty="0" sz="1950" spc="-85">
                <a:latin typeface="Century Gothic"/>
                <a:cs typeface="Century Gothic"/>
              </a:rPr>
              <a:t>affected</a:t>
            </a:r>
            <a:r>
              <a:rPr dirty="0" sz="1950" spc="-20">
                <a:latin typeface="Century Gothic"/>
                <a:cs typeface="Century Gothic"/>
              </a:rPr>
              <a:t> </a:t>
            </a:r>
            <a:r>
              <a:rPr dirty="0" sz="1950" spc="-60">
                <a:latin typeface="Century Gothic"/>
                <a:cs typeface="Century Gothic"/>
              </a:rPr>
              <a:t>areas </a:t>
            </a:r>
            <a:r>
              <a:rPr dirty="0" sz="1950" spc="-135">
                <a:latin typeface="Century Gothic"/>
                <a:cs typeface="Century Gothic"/>
              </a:rPr>
              <a:t>face</a:t>
            </a:r>
            <a:r>
              <a:rPr dirty="0" sz="1950" spc="-5">
                <a:latin typeface="Century Gothic"/>
                <a:cs typeface="Century Gothic"/>
              </a:rPr>
              <a:t> </a:t>
            </a:r>
            <a:r>
              <a:rPr dirty="0" sz="1950" spc="-90">
                <a:latin typeface="Century Gothic"/>
                <a:cs typeface="Century Gothic"/>
              </a:rPr>
              <a:t>longer,</a:t>
            </a:r>
            <a:r>
              <a:rPr dirty="0" sz="1950">
                <a:latin typeface="Century Gothic"/>
                <a:cs typeface="Century Gothic"/>
              </a:rPr>
              <a:t> </a:t>
            </a:r>
            <a:r>
              <a:rPr dirty="0" sz="1950" spc="85">
                <a:latin typeface="Century Gothic"/>
                <a:cs typeface="Century Gothic"/>
              </a:rPr>
              <a:t>less</a:t>
            </a:r>
            <a:r>
              <a:rPr dirty="0" sz="1950" spc="-5">
                <a:latin typeface="Century Gothic"/>
                <a:cs typeface="Century Gothic"/>
              </a:rPr>
              <a:t> </a:t>
            </a:r>
            <a:r>
              <a:rPr dirty="0" sz="1950" spc="-10">
                <a:latin typeface="Century Gothic"/>
                <a:cs typeface="Century Gothic"/>
              </a:rPr>
              <a:t>reliable journeys.</a:t>
            </a:r>
            <a:endParaRPr sz="195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16690" y="5038082"/>
            <a:ext cx="3355340" cy="2045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900" spc="-165">
                <a:latin typeface="Century Gothic"/>
                <a:cs typeface="Century Gothic"/>
              </a:rPr>
              <a:t>Regional</a:t>
            </a:r>
            <a:r>
              <a:rPr dirty="0" sz="2900" spc="10">
                <a:latin typeface="Century Gothic"/>
                <a:cs typeface="Century Gothic"/>
              </a:rPr>
              <a:t> </a:t>
            </a:r>
            <a:r>
              <a:rPr dirty="0" sz="2900" spc="-10">
                <a:latin typeface="Century Gothic"/>
                <a:cs typeface="Century Gothic"/>
              </a:rPr>
              <a:t>Disparities Evident</a:t>
            </a:r>
            <a:endParaRPr sz="2900">
              <a:latin typeface="Century Gothic"/>
              <a:cs typeface="Century Gothic"/>
            </a:endParaRPr>
          </a:p>
          <a:p>
            <a:pPr marL="12700" marR="438784">
              <a:lnSpc>
                <a:spcPct val="101499"/>
              </a:lnSpc>
              <a:spcBef>
                <a:spcPts val="1810"/>
              </a:spcBef>
            </a:pPr>
            <a:r>
              <a:rPr dirty="0" sz="1950">
                <a:latin typeface="Century Gothic"/>
                <a:cs typeface="Century Gothic"/>
              </a:rPr>
              <a:t>North</a:t>
            </a:r>
            <a:r>
              <a:rPr dirty="0" sz="1950" spc="-60">
                <a:latin typeface="Century Gothic"/>
                <a:cs typeface="Century Gothic"/>
              </a:rPr>
              <a:t> </a:t>
            </a:r>
            <a:r>
              <a:rPr dirty="0" sz="1950" spc="-145">
                <a:latin typeface="Century Gothic"/>
                <a:cs typeface="Century Gothic"/>
              </a:rPr>
              <a:t>and</a:t>
            </a:r>
            <a:r>
              <a:rPr dirty="0" sz="1950" spc="-15">
                <a:latin typeface="Century Gothic"/>
                <a:cs typeface="Century Gothic"/>
              </a:rPr>
              <a:t> </a:t>
            </a:r>
            <a:r>
              <a:rPr dirty="0" sz="1950" spc="-40">
                <a:latin typeface="Century Gothic"/>
                <a:cs typeface="Century Gothic"/>
              </a:rPr>
              <a:t>Central</a:t>
            </a:r>
            <a:r>
              <a:rPr dirty="0" sz="1950" spc="-35">
                <a:latin typeface="Century Gothic"/>
                <a:cs typeface="Century Gothic"/>
              </a:rPr>
              <a:t> </a:t>
            </a:r>
            <a:r>
              <a:rPr dirty="0" sz="1950" spc="-10">
                <a:latin typeface="Century Gothic"/>
                <a:cs typeface="Century Gothic"/>
              </a:rPr>
              <a:t>routes </a:t>
            </a:r>
            <a:r>
              <a:rPr dirty="0" sz="1950" spc="-70">
                <a:latin typeface="Century Gothic"/>
                <a:cs typeface="Century Gothic"/>
              </a:rPr>
              <a:t>experience</a:t>
            </a:r>
            <a:r>
              <a:rPr dirty="0" sz="1950" spc="-15">
                <a:latin typeface="Century Gothic"/>
                <a:cs typeface="Century Gothic"/>
              </a:rPr>
              <a:t> </a:t>
            </a:r>
            <a:r>
              <a:rPr dirty="0" sz="1950" spc="-60">
                <a:latin typeface="Century Gothic"/>
                <a:cs typeface="Century Gothic"/>
              </a:rPr>
              <a:t>fewer</a:t>
            </a:r>
            <a:r>
              <a:rPr dirty="0" sz="1950" spc="-15">
                <a:latin typeface="Century Gothic"/>
                <a:cs typeface="Century Gothic"/>
              </a:rPr>
              <a:t> </a:t>
            </a:r>
            <a:r>
              <a:rPr dirty="0" sz="1950" spc="-10">
                <a:latin typeface="Century Gothic"/>
                <a:cs typeface="Century Gothic"/>
              </a:rPr>
              <a:t>'badly </a:t>
            </a:r>
            <a:r>
              <a:rPr dirty="0" sz="1950" spc="-114">
                <a:latin typeface="Century Gothic"/>
                <a:cs typeface="Century Gothic"/>
              </a:rPr>
              <a:t>delayed'</a:t>
            </a:r>
            <a:r>
              <a:rPr dirty="0" sz="1950" spc="15">
                <a:latin typeface="Century Gothic"/>
                <a:cs typeface="Century Gothic"/>
              </a:rPr>
              <a:t> </a:t>
            </a:r>
            <a:r>
              <a:rPr dirty="0" sz="1950" spc="-10">
                <a:latin typeface="Century Gothic"/>
                <a:cs typeface="Century Gothic"/>
              </a:rPr>
              <a:t>buses.</a:t>
            </a:r>
            <a:endParaRPr sz="195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11278" y="5038082"/>
            <a:ext cx="3427095" cy="2045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896619">
              <a:lnSpc>
                <a:spcPct val="100000"/>
              </a:lnSpc>
              <a:spcBef>
                <a:spcPts val="100"/>
              </a:spcBef>
            </a:pPr>
            <a:r>
              <a:rPr dirty="0" sz="2900" spc="-85">
                <a:latin typeface="Century Gothic"/>
                <a:cs typeface="Century Gothic"/>
              </a:rPr>
              <a:t>Central</a:t>
            </a:r>
            <a:r>
              <a:rPr dirty="0" sz="2900" spc="-70">
                <a:latin typeface="Century Gothic"/>
                <a:cs typeface="Century Gothic"/>
              </a:rPr>
              <a:t> </a:t>
            </a:r>
            <a:r>
              <a:rPr dirty="0" sz="2900" spc="-10">
                <a:latin typeface="Century Gothic"/>
                <a:cs typeface="Century Gothic"/>
              </a:rPr>
              <a:t>Dublin </a:t>
            </a:r>
            <a:r>
              <a:rPr dirty="0" sz="2900" spc="-50">
                <a:latin typeface="Century Gothic"/>
                <a:cs typeface="Century Gothic"/>
              </a:rPr>
              <a:t>Maintains</a:t>
            </a:r>
            <a:r>
              <a:rPr dirty="0" sz="2900" spc="-125">
                <a:latin typeface="Century Gothic"/>
                <a:cs typeface="Century Gothic"/>
              </a:rPr>
              <a:t> </a:t>
            </a:r>
            <a:r>
              <a:rPr dirty="0" sz="2900" spc="-55">
                <a:latin typeface="Century Gothic"/>
                <a:cs typeface="Century Gothic"/>
              </a:rPr>
              <a:t>Flow</a:t>
            </a:r>
            <a:endParaRPr sz="2900">
              <a:latin typeface="Century Gothic"/>
              <a:cs typeface="Century Gothic"/>
            </a:endParaRPr>
          </a:p>
          <a:p>
            <a:pPr marL="12700" marR="5080">
              <a:lnSpc>
                <a:spcPct val="101499"/>
              </a:lnSpc>
              <a:spcBef>
                <a:spcPts val="1810"/>
              </a:spcBef>
            </a:pPr>
            <a:r>
              <a:rPr dirty="0" sz="1950" spc="-100">
                <a:latin typeface="Century Gothic"/>
                <a:cs typeface="Century Gothic"/>
              </a:rPr>
              <a:t>Dedicated</a:t>
            </a:r>
            <a:r>
              <a:rPr dirty="0" sz="1950" spc="130">
                <a:latin typeface="Century Gothic"/>
                <a:cs typeface="Century Gothic"/>
              </a:rPr>
              <a:t> </a:t>
            </a:r>
            <a:r>
              <a:rPr dirty="0" sz="1950">
                <a:latin typeface="Century Gothic"/>
                <a:cs typeface="Century Gothic"/>
              </a:rPr>
              <a:t>bus</a:t>
            </a:r>
            <a:r>
              <a:rPr dirty="0" sz="1950" spc="135">
                <a:latin typeface="Century Gothic"/>
                <a:cs typeface="Century Gothic"/>
              </a:rPr>
              <a:t> </a:t>
            </a:r>
            <a:r>
              <a:rPr dirty="0" sz="1950">
                <a:latin typeface="Century Gothic"/>
                <a:cs typeface="Century Gothic"/>
              </a:rPr>
              <a:t>corridors</a:t>
            </a:r>
            <a:r>
              <a:rPr dirty="0" sz="1950" spc="135">
                <a:latin typeface="Century Gothic"/>
                <a:cs typeface="Century Gothic"/>
              </a:rPr>
              <a:t> </a:t>
            </a:r>
            <a:r>
              <a:rPr dirty="0" sz="1950" spc="-50">
                <a:latin typeface="Century Gothic"/>
                <a:cs typeface="Century Gothic"/>
              </a:rPr>
              <a:t>help </a:t>
            </a:r>
            <a:r>
              <a:rPr dirty="0" sz="1950" spc="-110">
                <a:latin typeface="Century Gothic"/>
                <a:cs typeface="Century Gothic"/>
              </a:rPr>
              <a:t>keep</a:t>
            </a:r>
            <a:r>
              <a:rPr dirty="0" sz="1950" spc="-25">
                <a:latin typeface="Century Gothic"/>
                <a:cs typeface="Century Gothic"/>
              </a:rPr>
              <a:t> </a:t>
            </a:r>
            <a:r>
              <a:rPr dirty="0" sz="1950" spc="-45">
                <a:latin typeface="Century Gothic"/>
                <a:cs typeface="Century Gothic"/>
              </a:rPr>
              <a:t>delays </a:t>
            </a:r>
            <a:r>
              <a:rPr dirty="0" sz="1950" spc="-20">
                <a:latin typeface="Century Gothic"/>
                <a:cs typeface="Century Gothic"/>
              </a:rPr>
              <a:t>minimal</a:t>
            </a:r>
            <a:r>
              <a:rPr dirty="0" sz="1950" spc="-35">
                <a:latin typeface="Century Gothic"/>
                <a:cs typeface="Century Gothic"/>
              </a:rPr>
              <a:t> </a:t>
            </a:r>
            <a:r>
              <a:rPr dirty="0" sz="1950">
                <a:latin typeface="Century Gothic"/>
                <a:cs typeface="Century Gothic"/>
              </a:rPr>
              <a:t>in</a:t>
            </a:r>
            <a:r>
              <a:rPr dirty="0" sz="1950" spc="-30">
                <a:latin typeface="Century Gothic"/>
                <a:cs typeface="Century Gothic"/>
              </a:rPr>
              <a:t> </a:t>
            </a:r>
            <a:r>
              <a:rPr dirty="0" sz="1950" spc="-25">
                <a:latin typeface="Century Gothic"/>
                <a:cs typeface="Century Gothic"/>
              </a:rPr>
              <a:t>the </a:t>
            </a:r>
            <a:r>
              <a:rPr dirty="0" sz="1950">
                <a:latin typeface="Century Gothic"/>
                <a:cs typeface="Century Gothic"/>
              </a:rPr>
              <a:t>city</a:t>
            </a:r>
            <a:r>
              <a:rPr dirty="0" sz="1950" spc="85">
                <a:latin typeface="Century Gothic"/>
                <a:cs typeface="Century Gothic"/>
              </a:rPr>
              <a:t> </a:t>
            </a:r>
            <a:r>
              <a:rPr dirty="0" sz="1950" spc="-10">
                <a:latin typeface="Century Gothic"/>
                <a:cs typeface="Century Gothic"/>
              </a:rPr>
              <a:t>centre.</a:t>
            </a:r>
            <a:endParaRPr sz="195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5866" y="5038082"/>
            <a:ext cx="3230880" cy="21856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432434">
              <a:lnSpc>
                <a:spcPct val="100000"/>
              </a:lnSpc>
              <a:spcBef>
                <a:spcPts val="100"/>
              </a:spcBef>
            </a:pPr>
            <a:r>
              <a:rPr dirty="0" sz="2900" spc="-10">
                <a:latin typeface="Century Gothic"/>
                <a:cs typeface="Century Gothic"/>
              </a:rPr>
              <a:t>Delays </a:t>
            </a:r>
            <a:r>
              <a:rPr dirty="0" sz="2900" spc="-135">
                <a:latin typeface="Century Gothic"/>
                <a:cs typeface="Century Gothic"/>
              </a:rPr>
              <a:t>Concentrated</a:t>
            </a:r>
            <a:r>
              <a:rPr dirty="0" sz="2900" spc="-15">
                <a:latin typeface="Century Gothic"/>
                <a:cs typeface="Century Gothic"/>
              </a:rPr>
              <a:t> </a:t>
            </a:r>
            <a:r>
              <a:rPr dirty="0" sz="2900" spc="-25">
                <a:latin typeface="Century Gothic"/>
                <a:cs typeface="Century Gothic"/>
              </a:rPr>
              <a:t>in </a:t>
            </a:r>
            <a:r>
              <a:rPr dirty="0" sz="2900">
                <a:latin typeface="Century Gothic"/>
                <a:cs typeface="Century Gothic"/>
              </a:rPr>
              <a:t>West</a:t>
            </a:r>
            <a:r>
              <a:rPr dirty="0" sz="2900" spc="-25">
                <a:latin typeface="Century Gothic"/>
                <a:cs typeface="Century Gothic"/>
              </a:rPr>
              <a:t> </a:t>
            </a:r>
            <a:r>
              <a:rPr dirty="0" sz="2900" spc="-10">
                <a:latin typeface="Century Gothic"/>
                <a:cs typeface="Century Gothic"/>
              </a:rPr>
              <a:t>Dublin</a:t>
            </a:r>
            <a:endParaRPr sz="2900">
              <a:latin typeface="Century Gothic"/>
              <a:cs typeface="Century Gothic"/>
            </a:endParaRPr>
          </a:p>
          <a:p>
            <a:pPr marL="12700" marR="5080">
              <a:lnSpc>
                <a:spcPct val="101499"/>
              </a:lnSpc>
              <a:spcBef>
                <a:spcPts val="1810"/>
              </a:spcBef>
            </a:pPr>
            <a:r>
              <a:rPr dirty="0" sz="1950">
                <a:latin typeface="Century Gothic"/>
                <a:cs typeface="Century Gothic"/>
              </a:rPr>
              <a:t>Routes</a:t>
            </a:r>
            <a:r>
              <a:rPr dirty="0" sz="1950" spc="-20">
                <a:latin typeface="Century Gothic"/>
                <a:cs typeface="Century Gothic"/>
              </a:rPr>
              <a:t> </a:t>
            </a:r>
            <a:r>
              <a:rPr dirty="0" sz="1950">
                <a:latin typeface="Century Gothic"/>
                <a:cs typeface="Century Gothic"/>
              </a:rPr>
              <a:t>in</a:t>
            </a:r>
            <a:r>
              <a:rPr dirty="0" sz="1950" spc="-20">
                <a:latin typeface="Century Gothic"/>
                <a:cs typeface="Century Gothic"/>
              </a:rPr>
              <a:t> </a:t>
            </a:r>
            <a:r>
              <a:rPr dirty="0" sz="1950">
                <a:latin typeface="Century Gothic"/>
                <a:cs typeface="Century Gothic"/>
              </a:rPr>
              <a:t>West</a:t>
            </a:r>
            <a:r>
              <a:rPr dirty="0" sz="1950" spc="-20">
                <a:latin typeface="Century Gothic"/>
                <a:cs typeface="Century Gothic"/>
              </a:rPr>
              <a:t> Dublin face </a:t>
            </a:r>
            <a:r>
              <a:rPr dirty="0" sz="1950" spc="-25">
                <a:latin typeface="Century Gothic"/>
                <a:cs typeface="Century Gothic"/>
              </a:rPr>
              <a:t>frequent</a:t>
            </a:r>
            <a:r>
              <a:rPr dirty="0" sz="1950" spc="-90">
                <a:latin typeface="Century Gothic"/>
                <a:cs typeface="Century Gothic"/>
              </a:rPr>
              <a:t> </a:t>
            </a:r>
            <a:r>
              <a:rPr dirty="0" sz="1950" spc="-145">
                <a:latin typeface="Century Gothic"/>
                <a:cs typeface="Century Gothic"/>
              </a:rPr>
              <a:t>and</a:t>
            </a:r>
            <a:r>
              <a:rPr dirty="0" sz="1950" spc="-15">
                <a:latin typeface="Century Gothic"/>
                <a:cs typeface="Century Gothic"/>
              </a:rPr>
              <a:t> </a:t>
            </a:r>
            <a:r>
              <a:rPr dirty="0" sz="1950" spc="-25">
                <a:latin typeface="Century Gothic"/>
                <a:cs typeface="Century Gothic"/>
              </a:rPr>
              <a:t>severe</a:t>
            </a:r>
            <a:r>
              <a:rPr dirty="0" sz="1950" spc="-50">
                <a:latin typeface="Century Gothic"/>
                <a:cs typeface="Century Gothic"/>
              </a:rPr>
              <a:t> delays.</a:t>
            </a:r>
            <a:endParaRPr sz="195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211826" y="561158"/>
            <a:ext cx="1695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80">
                <a:solidFill>
                  <a:srgbClr val="04191A"/>
                </a:solidFill>
                <a:latin typeface="Century Gothic"/>
                <a:cs typeface="Century Gothic"/>
              </a:rPr>
              <a:t>9</a:t>
            </a:r>
            <a:endParaRPr sz="1800">
              <a:latin typeface="Century Gothic"/>
              <a:cs typeface="Century Gothic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828467" y="5106025"/>
            <a:ext cx="8630285" cy="2132965"/>
            <a:chOff x="4828467" y="5106025"/>
            <a:chExt cx="8630285" cy="2132965"/>
          </a:xfrm>
        </p:grpSpPr>
        <p:sp>
          <p:nvSpPr>
            <p:cNvPr id="9" name="object 9"/>
            <p:cNvSpPr/>
            <p:nvPr/>
          </p:nvSpPr>
          <p:spPr>
            <a:xfrm>
              <a:off x="13448815" y="5106025"/>
              <a:ext cx="0" cy="2132965"/>
            </a:xfrm>
            <a:custGeom>
              <a:avLst/>
              <a:gdLst/>
              <a:ahLst/>
              <a:cxnLst/>
              <a:rect l="l" t="t" r="r" b="b"/>
              <a:pathLst>
                <a:path w="0" h="2132965">
                  <a:moveTo>
                    <a:pt x="0" y="2132342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2DC29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9143442" y="5106025"/>
              <a:ext cx="0" cy="2132965"/>
            </a:xfrm>
            <a:custGeom>
              <a:avLst/>
              <a:gdLst/>
              <a:ahLst/>
              <a:cxnLst/>
              <a:rect l="l" t="t" r="r" b="b"/>
              <a:pathLst>
                <a:path w="0" h="2132965">
                  <a:moveTo>
                    <a:pt x="0" y="2132342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2DC29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837992" y="5106025"/>
              <a:ext cx="0" cy="2132965"/>
            </a:xfrm>
            <a:custGeom>
              <a:avLst/>
              <a:gdLst/>
              <a:ahLst/>
              <a:cxnLst/>
              <a:rect l="l" t="t" r="r" b="b"/>
              <a:pathLst>
                <a:path w="0" h="2132965">
                  <a:moveTo>
                    <a:pt x="0" y="2132342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2DC29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905904" y="561158"/>
            <a:ext cx="54121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0">
                <a:solidFill>
                  <a:srgbClr val="04191A"/>
                </a:solidFill>
                <a:latin typeface="Century Gothic"/>
                <a:cs typeface="Century Gothic"/>
              </a:rPr>
              <a:t>ANALYSIS</a:t>
            </a:r>
            <a:r>
              <a:rPr dirty="0" sz="1800" spc="-95">
                <a:solidFill>
                  <a:srgbClr val="04191A"/>
                </a:solidFill>
                <a:latin typeface="Century Gothic"/>
                <a:cs typeface="Century Gothic"/>
              </a:rPr>
              <a:t> </a:t>
            </a:r>
            <a:r>
              <a:rPr dirty="0" sz="1800" spc="-130">
                <a:solidFill>
                  <a:srgbClr val="04191A"/>
                </a:solidFill>
                <a:latin typeface="Century Gothic"/>
                <a:cs typeface="Century Gothic"/>
              </a:rPr>
              <a:t>AND</a:t>
            </a:r>
            <a:r>
              <a:rPr dirty="0" sz="1800" spc="-20">
                <a:solidFill>
                  <a:srgbClr val="04191A"/>
                </a:solidFill>
                <a:latin typeface="Century Gothic"/>
                <a:cs typeface="Century Gothic"/>
              </a:rPr>
              <a:t> </a:t>
            </a:r>
            <a:r>
              <a:rPr dirty="0" sz="1800" spc="-10">
                <a:solidFill>
                  <a:srgbClr val="04191A"/>
                </a:solidFill>
                <a:latin typeface="Century Gothic"/>
                <a:cs typeface="Century Gothic"/>
              </a:rPr>
              <a:t>VISUALIZATION</a:t>
            </a:r>
            <a:r>
              <a:rPr dirty="0" sz="1800" spc="-110">
                <a:solidFill>
                  <a:srgbClr val="04191A"/>
                </a:solidFill>
                <a:latin typeface="Century Gothic"/>
                <a:cs typeface="Century Gothic"/>
              </a:rPr>
              <a:t> </a:t>
            </a:r>
            <a:r>
              <a:rPr dirty="0" sz="1800">
                <a:solidFill>
                  <a:srgbClr val="04191A"/>
                </a:solidFill>
                <a:latin typeface="Century Gothic"/>
                <a:cs typeface="Century Gothic"/>
              </a:rPr>
              <a:t>OF</a:t>
            </a:r>
            <a:r>
              <a:rPr dirty="0" sz="1800" spc="-75">
                <a:solidFill>
                  <a:srgbClr val="04191A"/>
                </a:solidFill>
                <a:latin typeface="Century Gothic"/>
                <a:cs typeface="Century Gothic"/>
              </a:rPr>
              <a:t> </a:t>
            </a:r>
            <a:r>
              <a:rPr dirty="0" sz="1800" spc="-35">
                <a:solidFill>
                  <a:srgbClr val="04191A"/>
                </a:solidFill>
                <a:latin typeface="Century Gothic"/>
                <a:cs typeface="Century Gothic"/>
              </a:rPr>
              <a:t>DELAY</a:t>
            </a:r>
            <a:r>
              <a:rPr dirty="0" sz="1800" spc="-70">
                <a:solidFill>
                  <a:srgbClr val="04191A"/>
                </a:solidFill>
                <a:latin typeface="Century Gothic"/>
                <a:cs typeface="Century Gothic"/>
              </a:rPr>
              <a:t> </a:t>
            </a:r>
            <a:r>
              <a:rPr dirty="0" sz="1800" spc="-10">
                <a:solidFill>
                  <a:srgbClr val="04191A"/>
                </a:solidFill>
                <a:latin typeface="Century Gothic"/>
                <a:cs typeface="Century Gothic"/>
              </a:rPr>
              <a:t>PATTERNS</a:t>
            </a:r>
            <a:endParaRPr sz="18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5"/>
              <a:t>Visualizing</a:t>
            </a:r>
            <a:r>
              <a:rPr dirty="0" spc="-254"/>
              <a:t> </a:t>
            </a:r>
            <a:r>
              <a:rPr dirty="0" spc="-20"/>
              <a:t>the</a:t>
            </a:r>
            <a:r>
              <a:rPr dirty="0" spc="-254"/>
              <a:t> </a:t>
            </a:r>
            <a:r>
              <a:rPr dirty="0" spc="-105"/>
              <a:t>Problem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822102" y="4887225"/>
            <a:ext cx="3517265" cy="2045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80340">
              <a:lnSpc>
                <a:spcPct val="100000"/>
              </a:lnSpc>
              <a:spcBef>
                <a:spcPts val="100"/>
              </a:spcBef>
            </a:pPr>
            <a:r>
              <a:rPr dirty="0" sz="2900">
                <a:latin typeface="Century Gothic"/>
                <a:cs typeface="Century Gothic"/>
              </a:rPr>
              <a:t>Time</a:t>
            </a:r>
            <a:r>
              <a:rPr dirty="0" sz="2900" spc="100">
                <a:latin typeface="Century Gothic"/>
                <a:cs typeface="Century Gothic"/>
              </a:rPr>
              <a:t> </a:t>
            </a:r>
            <a:r>
              <a:rPr dirty="0" sz="2900">
                <a:latin typeface="Century Gothic"/>
                <a:cs typeface="Century Gothic"/>
              </a:rPr>
              <a:t>Slider</a:t>
            </a:r>
            <a:r>
              <a:rPr dirty="0" sz="2900" spc="105">
                <a:latin typeface="Century Gothic"/>
                <a:cs typeface="Century Gothic"/>
              </a:rPr>
              <a:t> </a:t>
            </a:r>
            <a:r>
              <a:rPr dirty="0" sz="2900" spc="-60">
                <a:latin typeface="Century Gothic"/>
                <a:cs typeface="Century Gothic"/>
              </a:rPr>
              <a:t>Enables </a:t>
            </a:r>
            <a:r>
              <a:rPr dirty="0" sz="2900" spc="-150">
                <a:latin typeface="Century Gothic"/>
                <a:cs typeface="Century Gothic"/>
              </a:rPr>
              <a:t>Cycle</a:t>
            </a:r>
            <a:r>
              <a:rPr dirty="0" sz="2900" spc="-45">
                <a:latin typeface="Century Gothic"/>
                <a:cs typeface="Century Gothic"/>
              </a:rPr>
              <a:t> </a:t>
            </a:r>
            <a:r>
              <a:rPr dirty="0" sz="2900" spc="-10">
                <a:latin typeface="Century Gothic"/>
                <a:cs typeface="Century Gothic"/>
              </a:rPr>
              <a:t>Exploration</a:t>
            </a:r>
            <a:endParaRPr sz="2900">
              <a:latin typeface="Century Gothic"/>
              <a:cs typeface="Century Gothic"/>
            </a:endParaRPr>
          </a:p>
          <a:p>
            <a:pPr marL="12700" marR="5080">
              <a:lnSpc>
                <a:spcPct val="101499"/>
              </a:lnSpc>
              <a:spcBef>
                <a:spcPts val="1810"/>
              </a:spcBef>
            </a:pPr>
            <a:r>
              <a:rPr dirty="0" sz="1950" spc="90">
                <a:latin typeface="Century Gothic"/>
                <a:cs typeface="Century Gothic"/>
              </a:rPr>
              <a:t>Users</a:t>
            </a:r>
            <a:r>
              <a:rPr dirty="0" sz="1950" spc="-5">
                <a:latin typeface="Century Gothic"/>
                <a:cs typeface="Century Gothic"/>
              </a:rPr>
              <a:t> </a:t>
            </a:r>
            <a:r>
              <a:rPr dirty="0" sz="1950" spc="-155">
                <a:latin typeface="Century Gothic"/>
                <a:cs typeface="Century Gothic"/>
              </a:rPr>
              <a:t>can</a:t>
            </a:r>
            <a:r>
              <a:rPr dirty="0" sz="1950">
                <a:latin typeface="Century Gothic"/>
                <a:cs typeface="Century Gothic"/>
              </a:rPr>
              <a:t> </a:t>
            </a:r>
            <a:r>
              <a:rPr dirty="0" sz="1950" spc="-10">
                <a:latin typeface="Century Gothic"/>
                <a:cs typeface="Century Gothic"/>
              </a:rPr>
              <a:t>interactively </a:t>
            </a:r>
            <a:r>
              <a:rPr dirty="0" sz="1950" spc="-35">
                <a:latin typeface="Century Gothic"/>
                <a:cs typeface="Century Gothic"/>
              </a:rPr>
              <a:t>explore</a:t>
            </a:r>
            <a:r>
              <a:rPr dirty="0" sz="1950" spc="-60">
                <a:latin typeface="Century Gothic"/>
                <a:cs typeface="Century Gothic"/>
              </a:rPr>
              <a:t> </a:t>
            </a:r>
            <a:r>
              <a:rPr dirty="0" sz="1950" spc="-45">
                <a:latin typeface="Century Gothic"/>
                <a:cs typeface="Century Gothic"/>
              </a:rPr>
              <a:t>delays</a:t>
            </a:r>
            <a:r>
              <a:rPr dirty="0" sz="1950" spc="-60">
                <a:latin typeface="Century Gothic"/>
                <a:cs typeface="Century Gothic"/>
              </a:rPr>
              <a:t> </a:t>
            </a:r>
            <a:r>
              <a:rPr dirty="0" sz="1950" spc="-30">
                <a:latin typeface="Century Gothic"/>
                <a:cs typeface="Century Gothic"/>
              </a:rPr>
              <a:t>throughout</a:t>
            </a:r>
            <a:r>
              <a:rPr dirty="0" sz="1950" spc="-60">
                <a:latin typeface="Century Gothic"/>
                <a:cs typeface="Century Gothic"/>
              </a:rPr>
              <a:t> </a:t>
            </a:r>
            <a:r>
              <a:rPr dirty="0" sz="1950" spc="-25">
                <a:latin typeface="Century Gothic"/>
                <a:cs typeface="Century Gothic"/>
              </a:rPr>
              <a:t>the </a:t>
            </a:r>
            <a:r>
              <a:rPr dirty="0" sz="1950" spc="-20">
                <a:latin typeface="Century Gothic"/>
                <a:cs typeface="Century Gothic"/>
              </a:rPr>
              <a:t>day.</a:t>
            </a:r>
            <a:endParaRPr sz="195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16690" y="4887225"/>
            <a:ext cx="3012440" cy="2487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25425">
              <a:lnSpc>
                <a:spcPct val="100000"/>
              </a:lnSpc>
              <a:spcBef>
                <a:spcPts val="100"/>
              </a:spcBef>
            </a:pPr>
            <a:r>
              <a:rPr dirty="0" sz="2900">
                <a:latin typeface="Century Gothic"/>
                <a:cs typeface="Century Gothic"/>
              </a:rPr>
              <a:t>3D</a:t>
            </a:r>
            <a:r>
              <a:rPr dirty="0" sz="2900" spc="-114">
                <a:latin typeface="Century Gothic"/>
                <a:cs typeface="Century Gothic"/>
              </a:rPr>
              <a:t> </a:t>
            </a:r>
            <a:r>
              <a:rPr dirty="0" sz="2900" spc="-10">
                <a:latin typeface="Century Gothic"/>
                <a:cs typeface="Century Gothic"/>
              </a:rPr>
              <a:t>Context </a:t>
            </a:r>
            <a:r>
              <a:rPr dirty="0" sz="2900" spc="-100">
                <a:latin typeface="Century Gothic"/>
                <a:cs typeface="Century Gothic"/>
              </a:rPr>
              <a:t>Enhances</a:t>
            </a:r>
            <a:r>
              <a:rPr dirty="0" sz="2900" spc="-60">
                <a:latin typeface="Century Gothic"/>
                <a:cs typeface="Century Gothic"/>
              </a:rPr>
              <a:t> </a:t>
            </a:r>
            <a:r>
              <a:rPr dirty="0" sz="2900" spc="-85">
                <a:latin typeface="Century Gothic"/>
                <a:cs typeface="Century Gothic"/>
              </a:rPr>
              <a:t>Urban </a:t>
            </a:r>
            <a:r>
              <a:rPr dirty="0" sz="2900" spc="-10">
                <a:latin typeface="Century Gothic"/>
                <a:cs typeface="Century Gothic"/>
              </a:rPr>
              <a:t>Insight</a:t>
            </a:r>
            <a:endParaRPr sz="2900">
              <a:latin typeface="Century Gothic"/>
              <a:cs typeface="Century Gothic"/>
            </a:endParaRPr>
          </a:p>
          <a:p>
            <a:pPr marL="12700" marR="5080">
              <a:lnSpc>
                <a:spcPct val="101499"/>
              </a:lnSpc>
              <a:spcBef>
                <a:spcPts val="1810"/>
              </a:spcBef>
            </a:pPr>
            <a:r>
              <a:rPr dirty="0" sz="1950">
                <a:latin typeface="Century Gothic"/>
                <a:cs typeface="Century Gothic"/>
              </a:rPr>
              <a:t>Extruded</a:t>
            </a:r>
            <a:r>
              <a:rPr dirty="0" sz="1950" spc="-100">
                <a:latin typeface="Century Gothic"/>
                <a:cs typeface="Century Gothic"/>
              </a:rPr>
              <a:t> </a:t>
            </a:r>
            <a:r>
              <a:rPr dirty="0" sz="1950">
                <a:latin typeface="Century Gothic"/>
                <a:cs typeface="Century Gothic"/>
              </a:rPr>
              <a:t>buildings</a:t>
            </a:r>
            <a:r>
              <a:rPr dirty="0" sz="1950" spc="-100">
                <a:latin typeface="Century Gothic"/>
                <a:cs typeface="Century Gothic"/>
              </a:rPr>
              <a:t> </a:t>
            </a:r>
            <a:r>
              <a:rPr dirty="0" sz="1950" spc="-20">
                <a:latin typeface="Century Gothic"/>
                <a:cs typeface="Century Gothic"/>
              </a:rPr>
              <a:t>help </a:t>
            </a:r>
            <a:r>
              <a:rPr dirty="0" sz="1950" spc="-10">
                <a:latin typeface="Century Gothic"/>
                <a:cs typeface="Century Gothic"/>
              </a:rPr>
              <a:t>planners</a:t>
            </a:r>
            <a:r>
              <a:rPr dirty="0" sz="1950" spc="-30">
                <a:latin typeface="Century Gothic"/>
                <a:cs typeface="Century Gothic"/>
              </a:rPr>
              <a:t> </a:t>
            </a:r>
            <a:r>
              <a:rPr dirty="0" sz="1950">
                <a:latin typeface="Century Gothic"/>
                <a:cs typeface="Century Gothic"/>
              </a:rPr>
              <a:t>orient</a:t>
            </a:r>
            <a:r>
              <a:rPr dirty="0" sz="1950" spc="-20">
                <a:latin typeface="Century Gothic"/>
                <a:cs typeface="Century Gothic"/>
              </a:rPr>
              <a:t> </a:t>
            </a:r>
            <a:r>
              <a:rPr dirty="0" sz="1950" spc="-145">
                <a:latin typeface="Century Gothic"/>
                <a:cs typeface="Century Gothic"/>
              </a:rPr>
              <a:t>and</a:t>
            </a:r>
            <a:r>
              <a:rPr dirty="0" sz="1950" spc="-15">
                <a:latin typeface="Century Gothic"/>
                <a:cs typeface="Century Gothic"/>
              </a:rPr>
              <a:t> </a:t>
            </a:r>
            <a:r>
              <a:rPr dirty="0" sz="1950" spc="-60">
                <a:latin typeface="Century Gothic"/>
                <a:cs typeface="Century Gothic"/>
              </a:rPr>
              <a:t>relate </a:t>
            </a:r>
            <a:r>
              <a:rPr dirty="0" sz="1950" spc="-45">
                <a:latin typeface="Century Gothic"/>
                <a:cs typeface="Century Gothic"/>
              </a:rPr>
              <a:t>delays</a:t>
            </a:r>
            <a:r>
              <a:rPr dirty="0" sz="1950" spc="-40">
                <a:latin typeface="Century Gothic"/>
                <a:cs typeface="Century Gothic"/>
              </a:rPr>
              <a:t> </a:t>
            </a:r>
            <a:r>
              <a:rPr dirty="0" sz="1950">
                <a:latin typeface="Century Gothic"/>
                <a:cs typeface="Century Gothic"/>
              </a:rPr>
              <a:t>to</a:t>
            </a:r>
            <a:r>
              <a:rPr dirty="0" sz="1950" spc="-35">
                <a:latin typeface="Century Gothic"/>
                <a:cs typeface="Century Gothic"/>
              </a:rPr>
              <a:t> </a:t>
            </a:r>
            <a:r>
              <a:rPr dirty="0" sz="1950" spc="-10">
                <a:latin typeface="Century Gothic"/>
                <a:cs typeface="Century Gothic"/>
              </a:rPr>
              <a:t>landmarks.</a:t>
            </a:r>
            <a:endParaRPr sz="195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11278" y="4887225"/>
            <a:ext cx="3277870" cy="2045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900" spc="-65">
                <a:latin typeface="Century Gothic"/>
                <a:cs typeface="Century Gothic"/>
              </a:rPr>
              <a:t>Color-</a:t>
            </a:r>
            <a:r>
              <a:rPr dirty="0" sz="2900" spc="-10">
                <a:latin typeface="Century Gothic"/>
                <a:cs typeface="Century Gothic"/>
              </a:rPr>
              <a:t>Coding </a:t>
            </a:r>
            <a:r>
              <a:rPr dirty="0" sz="2900">
                <a:latin typeface="Century Gothic"/>
                <a:cs typeface="Century Gothic"/>
              </a:rPr>
              <a:t>Pinpoints</a:t>
            </a:r>
            <a:r>
              <a:rPr dirty="0" sz="2900" spc="85">
                <a:latin typeface="Century Gothic"/>
                <a:cs typeface="Century Gothic"/>
              </a:rPr>
              <a:t> </a:t>
            </a:r>
            <a:r>
              <a:rPr dirty="0" sz="2900" spc="-10">
                <a:latin typeface="Century Gothic"/>
                <a:cs typeface="Century Gothic"/>
              </a:rPr>
              <a:t>Hotspots</a:t>
            </a:r>
            <a:endParaRPr sz="2900">
              <a:latin typeface="Century Gothic"/>
              <a:cs typeface="Century Gothic"/>
            </a:endParaRPr>
          </a:p>
          <a:p>
            <a:pPr marL="12700" marR="360045">
              <a:lnSpc>
                <a:spcPct val="101499"/>
              </a:lnSpc>
              <a:spcBef>
                <a:spcPts val="1810"/>
              </a:spcBef>
            </a:pPr>
            <a:r>
              <a:rPr dirty="0" sz="1950">
                <a:latin typeface="Century Gothic"/>
                <a:cs typeface="Century Gothic"/>
              </a:rPr>
              <a:t>Routes</a:t>
            </a:r>
            <a:r>
              <a:rPr dirty="0" sz="1950" spc="-70">
                <a:latin typeface="Century Gothic"/>
                <a:cs typeface="Century Gothic"/>
              </a:rPr>
              <a:t> </a:t>
            </a:r>
            <a:r>
              <a:rPr dirty="0" sz="1950" spc="-100">
                <a:latin typeface="Century Gothic"/>
                <a:cs typeface="Century Gothic"/>
              </a:rPr>
              <a:t>are</a:t>
            </a:r>
            <a:r>
              <a:rPr dirty="0" sz="1950" spc="-35">
                <a:latin typeface="Century Gothic"/>
                <a:cs typeface="Century Gothic"/>
              </a:rPr>
              <a:t> </a:t>
            </a:r>
            <a:r>
              <a:rPr dirty="0" sz="1950" spc="-70">
                <a:latin typeface="Century Gothic"/>
                <a:cs typeface="Century Gothic"/>
              </a:rPr>
              <a:t>shaded</a:t>
            </a:r>
            <a:r>
              <a:rPr dirty="0" sz="1950" spc="-55">
                <a:latin typeface="Century Gothic"/>
                <a:cs typeface="Century Gothic"/>
              </a:rPr>
              <a:t> </a:t>
            </a:r>
            <a:r>
              <a:rPr dirty="0" sz="1950" spc="-25">
                <a:latin typeface="Century Gothic"/>
                <a:cs typeface="Century Gothic"/>
              </a:rPr>
              <a:t>by </a:t>
            </a:r>
            <a:r>
              <a:rPr dirty="0" sz="1950">
                <a:latin typeface="Century Gothic"/>
                <a:cs typeface="Century Gothic"/>
              </a:rPr>
              <a:t>severity,</a:t>
            </a:r>
            <a:r>
              <a:rPr dirty="0" sz="1950" spc="-90">
                <a:latin typeface="Century Gothic"/>
                <a:cs typeface="Century Gothic"/>
              </a:rPr>
              <a:t> </a:t>
            </a:r>
            <a:r>
              <a:rPr dirty="0" sz="1950" spc="-80">
                <a:latin typeface="Century Gothic"/>
                <a:cs typeface="Century Gothic"/>
              </a:rPr>
              <a:t>making</a:t>
            </a:r>
            <a:r>
              <a:rPr dirty="0" sz="1950" spc="-55">
                <a:latin typeface="Century Gothic"/>
                <a:cs typeface="Century Gothic"/>
              </a:rPr>
              <a:t> </a:t>
            </a:r>
            <a:r>
              <a:rPr dirty="0" sz="1950" spc="-45">
                <a:latin typeface="Century Gothic"/>
                <a:cs typeface="Century Gothic"/>
              </a:rPr>
              <a:t>problem </a:t>
            </a:r>
            <a:r>
              <a:rPr dirty="0" sz="1950" spc="-60">
                <a:latin typeface="Century Gothic"/>
                <a:cs typeface="Century Gothic"/>
              </a:rPr>
              <a:t>areas</a:t>
            </a:r>
            <a:r>
              <a:rPr dirty="0" sz="1950" spc="65">
                <a:latin typeface="Century Gothic"/>
                <a:cs typeface="Century Gothic"/>
              </a:rPr>
              <a:t> </a:t>
            </a:r>
            <a:r>
              <a:rPr dirty="0" sz="1950">
                <a:latin typeface="Century Gothic"/>
                <a:cs typeface="Century Gothic"/>
              </a:rPr>
              <a:t>instantly</a:t>
            </a:r>
            <a:r>
              <a:rPr dirty="0" sz="1950" spc="70">
                <a:latin typeface="Century Gothic"/>
                <a:cs typeface="Century Gothic"/>
              </a:rPr>
              <a:t> </a:t>
            </a:r>
            <a:r>
              <a:rPr dirty="0" sz="1950" spc="-10">
                <a:latin typeface="Century Gothic"/>
                <a:cs typeface="Century Gothic"/>
              </a:rPr>
              <a:t>visible.</a:t>
            </a:r>
            <a:endParaRPr sz="195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5866" y="4887225"/>
            <a:ext cx="3331845" cy="2487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824230">
              <a:lnSpc>
                <a:spcPct val="100000"/>
              </a:lnSpc>
              <a:spcBef>
                <a:spcPts val="100"/>
              </a:spcBef>
            </a:pPr>
            <a:r>
              <a:rPr dirty="0" sz="2900" spc="-150">
                <a:latin typeface="Century Gothic"/>
                <a:cs typeface="Century Gothic"/>
              </a:rPr>
              <a:t>Animated</a:t>
            </a:r>
            <a:r>
              <a:rPr dirty="0" sz="2900" spc="-30">
                <a:latin typeface="Century Gothic"/>
                <a:cs typeface="Century Gothic"/>
              </a:rPr>
              <a:t> </a:t>
            </a:r>
            <a:r>
              <a:rPr dirty="0" sz="2900" spc="-290">
                <a:latin typeface="Century Gothic"/>
                <a:cs typeface="Century Gothic"/>
              </a:rPr>
              <a:t>Map </a:t>
            </a:r>
            <a:r>
              <a:rPr dirty="0" sz="2900" spc="-125">
                <a:latin typeface="Century Gothic"/>
                <a:cs typeface="Century Gothic"/>
              </a:rPr>
              <a:t>Reveals</a:t>
            </a:r>
            <a:r>
              <a:rPr dirty="0" sz="2900" spc="-60">
                <a:latin typeface="Century Gothic"/>
                <a:cs typeface="Century Gothic"/>
              </a:rPr>
              <a:t> </a:t>
            </a:r>
            <a:r>
              <a:rPr dirty="0" sz="2900" spc="-10">
                <a:latin typeface="Century Gothic"/>
                <a:cs typeface="Century Gothic"/>
              </a:rPr>
              <a:t>Delay Patterns</a:t>
            </a:r>
            <a:endParaRPr sz="2900">
              <a:latin typeface="Century Gothic"/>
              <a:cs typeface="Century Gothic"/>
            </a:endParaRPr>
          </a:p>
          <a:p>
            <a:pPr marL="12700" marR="5080">
              <a:lnSpc>
                <a:spcPct val="101499"/>
              </a:lnSpc>
              <a:spcBef>
                <a:spcPts val="1810"/>
              </a:spcBef>
            </a:pPr>
            <a:r>
              <a:rPr dirty="0" sz="1950" spc="-75">
                <a:latin typeface="Century Gothic"/>
                <a:cs typeface="Century Gothic"/>
              </a:rPr>
              <a:t>Dynamic</a:t>
            </a:r>
            <a:r>
              <a:rPr dirty="0" sz="1950" spc="-45">
                <a:latin typeface="Century Gothic"/>
                <a:cs typeface="Century Gothic"/>
              </a:rPr>
              <a:t> </a:t>
            </a:r>
            <a:r>
              <a:rPr dirty="0" sz="1950">
                <a:latin typeface="Century Gothic"/>
                <a:cs typeface="Century Gothic"/>
              </a:rPr>
              <a:t>visualization</a:t>
            </a:r>
            <a:r>
              <a:rPr dirty="0" sz="1950" spc="-45">
                <a:latin typeface="Century Gothic"/>
                <a:cs typeface="Century Gothic"/>
              </a:rPr>
              <a:t> </a:t>
            </a:r>
            <a:r>
              <a:rPr dirty="0" sz="1950" spc="-10">
                <a:latin typeface="Century Gothic"/>
                <a:cs typeface="Century Gothic"/>
              </a:rPr>
              <a:t>shows </a:t>
            </a:r>
            <a:r>
              <a:rPr dirty="0" sz="1950" spc="-114">
                <a:latin typeface="Century Gothic"/>
                <a:cs typeface="Century Gothic"/>
              </a:rPr>
              <a:t>how</a:t>
            </a:r>
            <a:r>
              <a:rPr dirty="0" sz="1950" spc="-20">
                <a:latin typeface="Century Gothic"/>
                <a:cs typeface="Century Gothic"/>
              </a:rPr>
              <a:t> </a:t>
            </a:r>
            <a:r>
              <a:rPr dirty="0" sz="1950" spc="-45">
                <a:latin typeface="Century Gothic"/>
                <a:cs typeface="Century Gothic"/>
              </a:rPr>
              <a:t>delays</a:t>
            </a:r>
            <a:r>
              <a:rPr dirty="0" sz="1950" spc="-90">
                <a:latin typeface="Century Gothic"/>
                <a:cs typeface="Century Gothic"/>
              </a:rPr>
              <a:t> </a:t>
            </a:r>
            <a:r>
              <a:rPr dirty="0" sz="1950">
                <a:latin typeface="Century Gothic"/>
                <a:cs typeface="Century Gothic"/>
              </a:rPr>
              <a:t>build</a:t>
            </a:r>
            <a:r>
              <a:rPr dirty="0" sz="1950" spc="-85">
                <a:latin typeface="Century Gothic"/>
                <a:cs typeface="Century Gothic"/>
              </a:rPr>
              <a:t> </a:t>
            </a:r>
            <a:r>
              <a:rPr dirty="0" sz="1950" spc="-35">
                <a:latin typeface="Century Gothic"/>
                <a:cs typeface="Century Gothic"/>
              </a:rPr>
              <a:t>up</a:t>
            </a:r>
            <a:r>
              <a:rPr dirty="0" sz="1950" spc="-65">
                <a:latin typeface="Century Gothic"/>
                <a:cs typeface="Century Gothic"/>
              </a:rPr>
              <a:t> </a:t>
            </a:r>
            <a:r>
              <a:rPr dirty="0" sz="1950" spc="-10">
                <a:latin typeface="Century Gothic"/>
                <a:cs typeface="Century Gothic"/>
              </a:rPr>
              <a:t>across </a:t>
            </a:r>
            <a:r>
              <a:rPr dirty="0" sz="1950">
                <a:latin typeface="Century Gothic"/>
                <a:cs typeface="Century Gothic"/>
              </a:rPr>
              <a:t>the</a:t>
            </a:r>
            <a:r>
              <a:rPr dirty="0" sz="1950" spc="-110">
                <a:latin typeface="Century Gothic"/>
                <a:cs typeface="Century Gothic"/>
              </a:rPr>
              <a:t> </a:t>
            </a:r>
            <a:r>
              <a:rPr dirty="0" sz="1950" spc="-20">
                <a:latin typeface="Century Gothic"/>
                <a:cs typeface="Century Gothic"/>
              </a:rPr>
              <a:t>city.</a:t>
            </a:r>
            <a:endParaRPr sz="195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127931" y="561158"/>
            <a:ext cx="2533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85">
                <a:solidFill>
                  <a:srgbClr val="04191A"/>
                </a:solidFill>
                <a:latin typeface="Century Gothic"/>
                <a:cs typeface="Century Gothic"/>
              </a:rPr>
              <a:t>10</a:t>
            </a:r>
            <a:endParaRPr sz="1800">
              <a:latin typeface="Century Gothic"/>
              <a:cs typeface="Century Gothic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828467" y="4955169"/>
            <a:ext cx="8630285" cy="2434590"/>
            <a:chOff x="4828467" y="4955169"/>
            <a:chExt cx="8630285" cy="2434590"/>
          </a:xfrm>
        </p:grpSpPr>
        <p:sp>
          <p:nvSpPr>
            <p:cNvPr id="9" name="object 9"/>
            <p:cNvSpPr/>
            <p:nvPr/>
          </p:nvSpPr>
          <p:spPr>
            <a:xfrm>
              <a:off x="13448815" y="4955169"/>
              <a:ext cx="0" cy="2434590"/>
            </a:xfrm>
            <a:custGeom>
              <a:avLst/>
              <a:gdLst/>
              <a:ahLst/>
              <a:cxnLst/>
              <a:rect l="l" t="t" r="r" b="b"/>
              <a:pathLst>
                <a:path w="0" h="2434590">
                  <a:moveTo>
                    <a:pt x="0" y="2434056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2DC29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9143442" y="4955169"/>
              <a:ext cx="0" cy="2434590"/>
            </a:xfrm>
            <a:custGeom>
              <a:avLst/>
              <a:gdLst/>
              <a:ahLst/>
              <a:cxnLst/>
              <a:rect l="l" t="t" r="r" b="b"/>
              <a:pathLst>
                <a:path w="0" h="2434590">
                  <a:moveTo>
                    <a:pt x="0" y="2434056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2DC29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837992" y="4955169"/>
              <a:ext cx="0" cy="2434590"/>
            </a:xfrm>
            <a:custGeom>
              <a:avLst/>
              <a:gdLst/>
              <a:ahLst/>
              <a:cxnLst/>
              <a:rect l="l" t="t" r="r" b="b"/>
              <a:pathLst>
                <a:path w="0" h="2434590">
                  <a:moveTo>
                    <a:pt x="0" y="2434056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2DC29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905904" y="561158"/>
            <a:ext cx="54121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0">
                <a:solidFill>
                  <a:srgbClr val="04191A"/>
                </a:solidFill>
                <a:latin typeface="Century Gothic"/>
                <a:cs typeface="Century Gothic"/>
              </a:rPr>
              <a:t>ANALYSIS</a:t>
            </a:r>
            <a:r>
              <a:rPr dirty="0" sz="1800" spc="-95">
                <a:solidFill>
                  <a:srgbClr val="04191A"/>
                </a:solidFill>
                <a:latin typeface="Century Gothic"/>
                <a:cs typeface="Century Gothic"/>
              </a:rPr>
              <a:t> </a:t>
            </a:r>
            <a:r>
              <a:rPr dirty="0" sz="1800" spc="-130">
                <a:solidFill>
                  <a:srgbClr val="04191A"/>
                </a:solidFill>
                <a:latin typeface="Century Gothic"/>
                <a:cs typeface="Century Gothic"/>
              </a:rPr>
              <a:t>AND</a:t>
            </a:r>
            <a:r>
              <a:rPr dirty="0" sz="1800" spc="-20">
                <a:solidFill>
                  <a:srgbClr val="04191A"/>
                </a:solidFill>
                <a:latin typeface="Century Gothic"/>
                <a:cs typeface="Century Gothic"/>
              </a:rPr>
              <a:t> </a:t>
            </a:r>
            <a:r>
              <a:rPr dirty="0" sz="1800" spc="-10">
                <a:solidFill>
                  <a:srgbClr val="04191A"/>
                </a:solidFill>
                <a:latin typeface="Century Gothic"/>
                <a:cs typeface="Century Gothic"/>
              </a:rPr>
              <a:t>VISUALIZATION</a:t>
            </a:r>
            <a:r>
              <a:rPr dirty="0" sz="1800" spc="-110">
                <a:solidFill>
                  <a:srgbClr val="04191A"/>
                </a:solidFill>
                <a:latin typeface="Century Gothic"/>
                <a:cs typeface="Century Gothic"/>
              </a:rPr>
              <a:t> </a:t>
            </a:r>
            <a:r>
              <a:rPr dirty="0" sz="1800">
                <a:solidFill>
                  <a:srgbClr val="04191A"/>
                </a:solidFill>
                <a:latin typeface="Century Gothic"/>
                <a:cs typeface="Century Gothic"/>
              </a:rPr>
              <a:t>OF</a:t>
            </a:r>
            <a:r>
              <a:rPr dirty="0" sz="1800" spc="-75">
                <a:solidFill>
                  <a:srgbClr val="04191A"/>
                </a:solidFill>
                <a:latin typeface="Century Gothic"/>
                <a:cs typeface="Century Gothic"/>
              </a:rPr>
              <a:t> </a:t>
            </a:r>
            <a:r>
              <a:rPr dirty="0" sz="1800" spc="-35">
                <a:solidFill>
                  <a:srgbClr val="04191A"/>
                </a:solidFill>
                <a:latin typeface="Century Gothic"/>
                <a:cs typeface="Century Gothic"/>
              </a:rPr>
              <a:t>DELAY</a:t>
            </a:r>
            <a:r>
              <a:rPr dirty="0" sz="1800" spc="-70">
                <a:solidFill>
                  <a:srgbClr val="04191A"/>
                </a:solidFill>
                <a:latin typeface="Century Gothic"/>
                <a:cs typeface="Century Gothic"/>
              </a:rPr>
              <a:t> </a:t>
            </a:r>
            <a:r>
              <a:rPr dirty="0" sz="1800" spc="-10">
                <a:solidFill>
                  <a:srgbClr val="04191A"/>
                </a:solidFill>
                <a:latin typeface="Century Gothic"/>
                <a:cs typeface="Century Gothic"/>
              </a:rPr>
              <a:t>PATTERNS</a:t>
            </a:r>
            <a:endParaRPr sz="18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0"/>
              <a:t>Design</a:t>
            </a:r>
            <a:r>
              <a:rPr dirty="0" spc="-150"/>
              <a:t> </a:t>
            </a:r>
            <a:r>
              <a:rPr dirty="0" spc="-110"/>
              <a:t>Choices</a:t>
            </a:r>
            <a:r>
              <a:rPr dirty="0" spc="-145"/>
              <a:t> </a:t>
            </a:r>
            <a:r>
              <a:rPr dirty="0"/>
              <a:t>for</a:t>
            </a:r>
            <a:r>
              <a:rPr dirty="0" spc="-145"/>
              <a:t> </a:t>
            </a:r>
            <a:r>
              <a:rPr dirty="0" spc="-10"/>
              <a:t>Clarity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386965" y="5259062"/>
            <a:ext cx="4573905" cy="17437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18159">
              <a:lnSpc>
                <a:spcPct val="100000"/>
              </a:lnSpc>
              <a:spcBef>
                <a:spcPts val="100"/>
              </a:spcBef>
            </a:pPr>
            <a:r>
              <a:rPr dirty="0" sz="2900" spc="-90">
                <a:latin typeface="Century Gothic"/>
                <a:cs typeface="Century Gothic"/>
              </a:rPr>
              <a:t>Interactive,</a:t>
            </a:r>
            <a:r>
              <a:rPr dirty="0" sz="2900" spc="-80">
                <a:latin typeface="Century Gothic"/>
                <a:cs typeface="Century Gothic"/>
              </a:rPr>
              <a:t> </a:t>
            </a:r>
            <a:r>
              <a:rPr dirty="0" sz="2900" spc="105">
                <a:latin typeface="Century Gothic"/>
                <a:cs typeface="Century Gothic"/>
              </a:rPr>
              <a:t>User-</a:t>
            </a:r>
            <a:r>
              <a:rPr dirty="0" sz="2900" spc="-10">
                <a:latin typeface="Century Gothic"/>
                <a:cs typeface="Century Gothic"/>
              </a:rPr>
              <a:t>Driven Exploration</a:t>
            </a:r>
            <a:endParaRPr sz="2900">
              <a:latin typeface="Century Gothic"/>
              <a:cs typeface="Century Gothic"/>
            </a:endParaRPr>
          </a:p>
          <a:p>
            <a:pPr marL="12700" marR="5080">
              <a:lnSpc>
                <a:spcPct val="101499"/>
              </a:lnSpc>
              <a:spcBef>
                <a:spcPts val="1810"/>
              </a:spcBef>
            </a:pPr>
            <a:r>
              <a:rPr dirty="0" sz="1950" spc="-60">
                <a:latin typeface="Century Gothic"/>
                <a:cs typeface="Century Gothic"/>
              </a:rPr>
              <a:t>Clickable</a:t>
            </a:r>
            <a:r>
              <a:rPr dirty="0" sz="1950" spc="-50">
                <a:latin typeface="Century Gothic"/>
                <a:cs typeface="Century Gothic"/>
              </a:rPr>
              <a:t> </a:t>
            </a:r>
            <a:r>
              <a:rPr dirty="0" sz="1950" spc="60">
                <a:latin typeface="Century Gothic"/>
                <a:cs typeface="Century Gothic"/>
              </a:rPr>
              <a:t>stops</a:t>
            </a:r>
            <a:r>
              <a:rPr dirty="0" sz="1950" spc="-30">
                <a:latin typeface="Century Gothic"/>
                <a:cs typeface="Century Gothic"/>
              </a:rPr>
              <a:t> </a:t>
            </a:r>
            <a:r>
              <a:rPr dirty="0" sz="1950" spc="-145">
                <a:latin typeface="Century Gothic"/>
                <a:cs typeface="Century Gothic"/>
              </a:rPr>
              <a:t>and</a:t>
            </a:r>
            <a:r>
              <a:rPr dirty="0" sz="1950" spc="-15">
                <a:latin typeface="Century Gothic"/>
                <a:cs typeface="Century Gothic"/>
              </a:rPr>
              <a:t> </a:t>
            </a:r>
            <a:r>
              <a:rPr dirty="0" sz="1950" spc="-45">
                <a:latin typeface="Century Gothic"/>
                <a:cs typeface="Century Gothic"/>
              </a:rPr>
              <a:t>region</a:t>
            </a:r>
            <a:r>
              <a:rPr dirty="0" sz="1950" spc="-35">
                <a:latin typeface="Century Gothic"/>
                <a:cs typeface="Century Gothic"/>
              </a:rPr>
              <a:t> </a:t>
            </a:r>
            <a:r>
              <a:rPr dirty="0" sz="1950" spc="65">
                <a:latin typeface="Century Gothic"/>
                <a:cs typeface="Century Gothic"/>
              </a:rPr>
              <a:t>filters</a:t>
            </a:r>
            <a:r>
              <a:rPr dirty="0" sz="1950" spc="-30">
                <a:latin typeface="Century Gothic"/>
                <a:cs typeface="Century Gothic"/>
              </a:rPr>
              <a:t> </a:t>
            </a:r>
            <a:r>
              <a:rPr dirty="0" sz="1950" spc="-75">
                <a:latin typeface="Century Gothic"/>
                <a:cs typeface="Century Gothic"/>
              </a:rPr>
              <a:t>reveal </a:t>
            </a:r>
            <a:r>
              <a:rPr dirty="0" sz="1950" spc="-70">
                <a:latin typeface="Century Gothic"/>
                <a:cs typeface="Century Gothic"/>
              </a:rPr>
              <a:t>granular</a:t>
            </a:r>
            <a:r>
              <a:rPr dirty="0" sz="1950" spc="-20">
                <a:latin typeface="Century Gothic"/>
                <a:cs typeface="Century Gothic"/>
              </a:rPr>
              <a:t> </a:t>
            </a:r>
            <a:r>
              <a:rPr dirty="0" sz="1950" spc="-90">
                <a:latin typeface="Century Gothic"/>
                <a:cs typeface="Century Gothic"/>
              </a:rPr>
              <a:t>delay</a:t>
            </a:r>
            <a:r>
              <a:rPr dirty="0" sz="1950" spc="-20">
                <a:latin typeface="Century Gothic"/>
                <a:cs typeface="Century Gothic"/>
              </a:rPr>
              <a:t> </a:t>
            </a:r>
            <a:r>
              <a:rPr dirty="0" sz="1950" spc="-10">
                <a:latin typeface="Century Gothic"/>
                <a:cs typeface="Century Gothic"/>
              </a:rPr>
              <a:t>details</a:t>
            </a:r>
            <a:endParaRPr sz="195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46415" y="5259062"/>
            <a:ext cx="4516755" cy="17437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900">
                <a:latin typeface="Century Gothic"/>
                <a:cs typeface="Century Gothic"/>
              </a:rPr>
              <a:t>Intuitive</a:t>
            </a:r>
            <a:r>
              <a:rPr dirty="0" sz="2900" spc="-65">
                <a:latin typeface="Century Gothic"/>
                <a:cs typeface="Century Gothic"/>
              </a:rPr>
              <a:t> </a:t>
            </a:r>
            <a:r>
              <a:rPr dirty="0" sz="2900">
                <a:latin typeface="Century Gothic"/>
                <a:cs typeface="Century Gothic"/>
              </a:rPr>
              <a:t>Traffic</a:t>
            </a:r>
            <a:r>
              <a:rPr dirty="0" sz="2900" spc="-65">
                <a:latin typeface="Century Gothic"/>
                <a:cs typeface="Century Gothic"/>
              </a:rPr>
              <a:t> </a:t>
            </a:r>
            <a:r>
              <a:rPr dirty="0" sz="2900">
                <a:latin typeface="Century Gothic"/>
                <a:cs typeface="Century Gothic"/>
              </a:rPr>
              <a:t>Light</a:t>
            </a:r>
            <a:r>
              <a:rPr dirty="0" sz="2900" spc="-60">
                <a:latin typeface="Century Gothic"/>
                <a:cs typeface="Century Gothic"/>
              </a:rPr>
              <a:t> Color </a:t>
            </a:r>
            <a:r>
              <a:rPr dirty="0" sz="2900" spc="-10">
                <a:latin typeface="Century Gothic"/>
                <a:cs typeface="Century Gothic"/>
              </a:rPr>
              <a:t>Scale</a:t>
            </a:r>
            <a:endParaRPr sz="2900">
              <a:latin typeface="Century Gothic"/>
              <a:cs typeface="Century Gothic"/>
            </a:endParaRPr>
          </a:p>
          <a:p>
            <a:pPr marL="12700" marR="56515">
              <a:lnSpc>
                <a:spcPct val="101499"/>
              </a:lnSpc>
              <a:spcBef>
                <a:spcPts val="1810"/>
              </a:spcBef>
            </a:pPr>
            <a:r>
              <a:rPr dirty="0" sz="1950" spc="-85">
                <a:latin typeface="Century Gothic"/>
                <a:cs typeface="Century Gothic"/>
              </a:rPr>
              <a:t>Green</a:t>
            </a:r>
            <a:r>
              <a:rPr dirty="0" sz="1950" spc="-10">
                <a:latin typeface="Century Gothic"/>
                <a:cs typeface="Century Gothic"/>
              </a:rPr>
              <a:t> </a:t>
            </a:r>
            <a:r>
              <a:rPr dirty="0" sz="1950">
                <a:latin typeface="Century Gothic"/>
                <a:cs typeface="Century Gothic"/>
              </a:rPr>
              <a:t>to</a:t>
            </a:r>
            <a:r>
              <a:rPr dirty="0" sz="1950" spc="-10">
                <a:latin typeface="Century Gothic"/>
                <a:cs typeface="Century Gothic"/>
              </a:rPr>
              <a:t> </a:t>
            </a:r>
            <a:r>
              <a:rPr dirty="0" sz="1950" spc="-20">
                <a:latin typeface="Century Gothic"/>
                <a:cs typeface="Century Gothic"/>
              </a:rPr>
              <a:t>red</a:t>
            </a:r>
            <a:r>
              <a:rPr dirty="0" sz="1950" spc="-10">
                <a:latin typeface="Century Gothic"/>
                <a:cs typeface="Century Gothic"/>
              </a:rPr>
              <a:t> </a:t>
            </a:r>
            <a:r>
              <a:rPr dirty="0" sz="1950" spc="-55">
                <a:latin typeface="Century Gothic"/>
                <a:cs typeface="Century Gothic"/>
              </a:rPr>
              <a:t>gradient</a:t>
            </a:r>
            <a:r>
              <a:rPr dirty="0" sz="1950" spc="-5">
                <a:latin typeface="Century Gothic"/>
                <a:cs typeface="Century Gothic"/>
              </a:rPr>
              <a:t> </a:t>
            </a:r>
            <a:r>
              <a:rPr dirty="0" sz="1950">
                <a:latin typeface="Century Gothic"/>
                <a:cs typeface="Century Gothic"/>
              </a:rPr>
              <a:t>instantly</a:t>
            </a:r>
            <a:r>
              <a:rPr dirty="0" sz="1950" spc="-10">
                <a:latin typeface="Century Gothic"/>
                <a:cs typeface="Century Gothic"/>
              </a:rPr>
              <a:t> signals </a:t>
            </a:r>
            <a:r>
              <a:rPr dirty="0" sz="1950" spc="-90">
                <a:latin typeface="Century Gothic"/>
                <a:cs typeface="Century Gothic"/>
              </a:rPr>
              <a:t>delay</a:t>
            </a:r>
            <a:r>
              <a:rPr dirty="0" sz="1950" spc="-30">
                <a:latin typeface="Century Gothic"/>
                <a:cs typeface="Century Gothic"/>
              </a:rPr>
              <a:t> </a:t>
            </a:r>
            <a:r>
              <a:rPr dirty="0" sz="1950" spc="-10">
                <a:latin typeface="Century Gothic"/>
                <a:cs typeface="Century Gothic"/>
              </a:rPr>
              <a:t>severity</a:t>
            </a:r>
            <a:endParaRPr sz="195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5866" y="5259062"/>
            <a:ext cx="4708525" cy="17437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23850">
              <a:lnSpc>
                <a:spcPct val="100000"/>
              </a:lnSpc>
              <a:spcBef>
                <a:spcPts val="100"/>
              </a:spcBef>
            </a:pPr>
            <a:r>
              <a:rPr dirty="0" sz="2900" spc="-75">
                <a:latin typeface="Century Gothic"/>
                <a:cs typeface="Century Gothic"/>
              </a:rPr>
              <a:t>Dark</a:t>
            </a:r>
            <a:r>
              <a:rPr dirty="0" sz="2900" spc="-65">
                <a:latin typeface="Century Gothic"/>
                <a:cs typeface="Century Gothic"/>
              </a:rPr>
              <a:t> </a:t>
            </a:r>
            <a:r>
              <a:rPr dirty="0" sz="2900" spc="-220">
                <a:latin typeface="Century Gothic"/>
                <a:cs typeface="Century Gothic"/>
              </a:rPr>
              <a:t>Mode</a:t>
            </a:r>
            <a:r>
              <a:rPr dirty="0" sz="2900" spc="-35">
                <a:latin typeface="Century Gothic"/>
                <a:cs typeface="Century Gothic"/>
              </a:rPr>
              <a:t> </a:t>
            </a:r>
            <a:r>
              <a:rPr dirty="0" sz="2900" spc="-265">
                <a:latin typeface="Century Gothic"/>
                <a:cs typeface="Century Gothic"/>
              </a:rPr>
              <a:t>Map</a:t>
            </a:r>
            <a:r>
              <a:rPr dirty="0" sz="2900" spc="-35">
                <a:latin typeface="Century Gothic"/>
                <a:cs typeface="Century Gothic"/>
              </a:rPr>
              <a:t> </a:t>
            </a:r>
            <a:r>
              <a:rPr dirty="0" sz="2900">
                <a:latin typeface="Century Gothic"/>
                <a:cs typeface="Century Gothic"/>
              </a:rPr>
              <a:t>for</a:t>
            </a:r>
            <a:r>
              <a:rPr dirty="0" sz="2900" spc="-45">
                <a:latin typeface="Century Gothic"/>
                <a:cs typeface="Century Gothic"/>
              </a:rPr>
              <a:t> </a:t>
            </a:r>
            <a:r>
              <a:rPr dirty="0" sz="2900" spc="-10">
                <a:latin typeface="Century Gothic"/>
                <a:cs typeface="Century Gothic"/>
              </a:rPr>
              <a:t>Visual Focus</a:t>
            </a:r>
            <a:endParaRPr sz="2900">
              <a:latin typeface="Century Gothic"/>
              <a:cs typeface="Century Gothic"/>
            </a:endParaRPr>
          </a:p>
          <a:p>
            <a:pPr marL="12700" marR="5080">
              <a:lnSpc>
                <a:spcPct val="101499"/>
              </a:lnSpc>
              <a:spcBef>
                <a:spcPts val="1810"/>
              </a:spcBef>
            </a:pPr>
            <a:r>
              <a:rPr dirty="0" sz="1950" spc="-60">
                <a:latin typeface="Century Gothic"/>
                <a:cs typeface="Century Gothic"/>
              </a:rPr>
              <a:t>Reduces</a:t>
            </a:r>
            <a:r>
              <a:rPr dirty="0" sz="1950" spc="-30">
                <a:latin typeface="Century Gothic"/>
                <a:cs typeface="Century Gothic"/>
              </a:rPr>
              <a:t> </a:t>
            </a:r>
            <a:r>
              <a:rPr dirty="0" sz="1950" spc="-100">
                <a:latin typeface="Century Gothic"/>
                <a:cs typeface="Century Gothic"/>
              </a:rPr>
              <a:t>background</a:t>
            </a:r>
            <a:r>
              <a:rPr dirty="0" sz="1950" spc="-30">
                <a:latin typeface="Century Gothic"/>
                <a:cs typeface="Century Gothic"/>
              </a:rPr>
              <a:t> </a:t>
            </a:r>
            <a:r>
              <a:rPr dirty="0" sz="1950" spc="-10">
                <a:latin typeface="Century Gothic"/>
                <a:cs typeface="Century Gothic"/>
              </a:rPr>
              <a:t>noise,</a:t>
            </a:r>
            <a:r>
              <a:rPr dirty="0" sz="1950" spc="-25">
                <a:latin typeface="Century Gothic"/>
                <a:cs typeface="Century Gothic"/>
              </a:rPr>
              <a:t> </a:t>
            </a:r>
            <a:r>
              <a:rPr dirty="0" sz="1950" spc="-80">
                <a:latin typeface="Century Gothic"/>
                <a:cs typeface="Century Gothic"/>
              </a:rPr>
              <a:t>making</a:t>
            </a:r>
            <a:r>
              <a:rPr dirty="0" sz="1950" spc="-30">
                <a:latin typeface="Century Gothic"/>
                <a:cs typeface="Century Gothic"/>
              </a:rPr>
              <a:t> </a:t>
            </a:r>
            <a:r>
              <a:rPr dirty="0" sz="1950" spc="-110">
                <a:latin typeface="Century Gothic"/>
                <a:cs typeface="Century Gothic"/>
              </a:rPr>
              <a:t>data </a:t>
            </a:r>
            <a:r>
              <a:rPr dirty="0" sz="1950">
                <a:latin typeface="Century Gothic"/>
                <a:cs typeface="Century Gothic"/>
              </a:rPr>
              <a:t>points</a:t>
            </a:r>
            <a:r>
              <a:rPr dirty="0" sz="1950" spc="25">
                <a:latin typeface="Century Gothic"/>
                <a:cs typeface="Century Gothic"/>
              </a:rPr>
              <a:t> </a:t>
            </a:r>
            <a:r>
              <a:rPr dirty="0" sz="1950" spc="-10">
                <a:latin typeface="Century Gothic"/>
                <a:cs typeface="Century Gothic"/>
              </a:rPr>
              <a:t>stand</a:t>
            </a:r>
            <a:r>
              <a:rPr dirty="0" sz="1950" spc="30">
                <a:latin typeface="Century Gothic"/>
                <a:cs typeface="Century Gothic"/>
              </a:rPr>
              <a:t> </a:t>
            </a:r>
            <a:r>
              <a:rPr dirty="0" sz="1950" spc="-25">
                <a:latin typeface="Century Gothic"/>
                <a:cs typeface="Century Gothic"/>
              </a:rPr>
              <a:t>out</a:t>
            </a:r>
            <a:endParaRPr sz="195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212974" y="561158"/>
            <a:ext cx="1682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465">
                <a:solidFill>
                  <a:srgbClr val="04191A"/>
                </a:solidFill>
                <a:latin typeface="Century Gothic"/>
                <a:cs typeface="Century Gothic"/>
              </a:rPr>
              <a:t>11</a:t>
            </a:r>
            <a:endParaRPr sz="1800">
              <a:latin typeface="Century Gothic"/>
              <a:cs typeface="Century Gothic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263617" y="5327006"/>
            <a:ext cx="5760085" cy="1691005"/>
            <a:chOff x="6263617" y="5327006"/>
            <a:chExt cx="5760085" cy="1691005"/>
          </a:xfrm>
        </p:grpSpPr>
        <p:sp>
          <p:nvSpPr>
            <p:cNvPr id="8" name="object 8"/>
            <p:cNvSpPr/>
            <p:nvPr/>
          </p:nvSpPr>
          <p:spPr>
            <a:xfrm>
              <a:off x="12013666" y="5327006"/>
              <a:ext cx="0" cy="1691005"/>
            </a:xfrm>
            <a:custGeom>
              <a:avLst/>
              <a:gdLst/>
              <a:ahLst/>
              <a:cxnLst/>
              <a:rect l="l" t="t" r="r" b="b"/>
              <a:pathLst>
                <a:path w="0" h="1691004">
                  <a:moveTo>
                    <a:pt x="0" y="1690382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2DC29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273142" y="5327006"/>
              <a:ext cx="0" cy="1691005"/>
            </a:xfrm>
            <a:custGeom>
              <a:avLst/>
              <a:gdLst/>
              <a:ahLst/>
              <a:cxnLst/>
              <a:rect l="l" t="t" r="r" b="b"/>
              <a:pathLst>
                <a:path w="0" h="1691004">
                  <a:moveTo>
                    <a:pt x="0" y="1690382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2DC29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905904" y="561158"/>
            <a:ext cx="54121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0">
                <a:solidFill>
                  <a:srgbClr val="04191A"/>
                </a:solidFill>
                <a:latin typeface="Century Gothic"/>
                <a:cs typeface="Century Gothic"/>
              </a:rPr>
              <a:t>ANALYSIS</a:t>
            </a:r>
            <a:r>
              <a:rPr dirty="0" sz="1800" spc="-95">
                <a:solidFill>
                  <a:srgbClr val="04191A"/>
                </a:solidFill>
                <a:latin typeface="Century Gothic"/>
                <a:cs typeface="Century Gothic"/>
              </a:rPr>
              <a:t> </a:t>
            </a:r>
            <a:r>
              <a:rPr dirty="0" sz="1800" spc="-130">
                <a:solidFill>
                  <a:srgbClr val="04191A"/>
                </a:solidFill>
                <a:latin typeface="Century Gothic"/>
                <a:cs typeface="Century Gothic"/>
              </a:rPr>
              <a:t>AND</a:t>
            </a:r>
            <a:r>
              <a:rPr dirty="0" sz="1800" spc="-20">
                <a:solidFill>
                  <a:srgbClr val="04191A"/>
                </a:solidFill>
                <a:latin typeface="Century Gothic"/>
                <a:cs typeface="Century Gothic"/>
              </a:rPr>
              <a:t> </a:t>
            </a:r>
            <a:r>
              <a:rPr dirty="0" sz="1800" spc="-10">
                <a:solidFill>
                  <a:srgbClr val="04191A"/>
                </a:solidFill>
                <a:latin typeface="Century Gothic"/>
                <a:cs typeface="Century Gothic"/>
              </a:rPr>
              <a:t>VISUALIZATION</a:t>
            </a:r>
            <a:r>
              <a:rPr dirty="0" sz="1800" spc="-110">
                <a:solidFill>
                  <a:srgbClr val="04191A"/>
                </a:solidFill>
                <a:latin typeface="Century Gothic"/>
                <a:cs typeface="Century Gothic"/>
              </a:rPr>
              <a:t> </a:t>
            </a:r>
            <a:r>
              <a:rPr dirty="0" sz="1800">
                <a:solidFill>
                  <a:srgbClr val="04191A"/>
                </a:solidFill>
                <a:latin typeface="Century Gothic"/>
                <a:cs typeface="Century Gothic"/>
              </a:rPr>
              <a:t>OF</a:t>
            </a:r>
            <a:r>
              <a:rPr dirty="0" sz="1800" spc="-75">
                <a:solidFill>
                  <a:srgbClr val="04191A"/>
                </a:solidFill>
                <a:latin typeface="Century Gothic"/>
                <a:cs typeface="Century Gothic"/>
              </a:rPr>
              <a:t> </a:t>
            </a:r>
            <a:r>
              <a:rPr dirty="0" sz="1800" spc="-35">
                <a:solidFill>
                  <a:srgbClr val="04191A"/>
                </a:solidFill>
                <a:latin typeface="Century Gothic"/>
                <a:cs typeface="Century Gothic"/>
              </a:rPr>
              <a:t>DELAY</a:t>
            </a:r>
            <a:r>
              <a:rPr dirty="0" sz="1800" spc="-70">
                <a:solidFill>
                  <a:srgbClr val="04191A"/>
                </a:solidFill>
                <a:latin typeface="Century Gothic"/>
                <a:cs typeface="Century Gothic"/>
              </a:rPr>
              <a:t> </a:t>
            </a:r>
            <a:r>
              <a:rPr dirty="0" sz="1800" spc="-10">
                <a:solidFill>
                  <a:srgbClr val="04191A"/>
                </a:solidFill>
                <a:latin typeface="Century Gothic"/>
                <a:cs typeface="Century Gothic"/>
              </a:rPr>
              <a:t>PATTERNS</a:t>
            </a:r>
            <a:endParaRPr sz="18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05894" y="6744201"/>
            <a:ext cx="13350875" cy="2065020"/>
          </a:xfrm>
          <a:prstGeom prst="rect"/>
        </p:spPr>
        <p:txBody>
          <a:bodyPr wrap="square" lIns="0" tIns="198120" rIns="0" bIns="0" rtlCol="0" vert="horz">
            <a:spAutoFit/>
          </a:bodyPr>
          <a:lstStyle/>
          <a:p>
            <a:pPr marL="12700" marR="5080">
              <a:lnSpc>
                <a:spcPts val="7300"/>
              </a:lnSpc>
              <a:spcBef>
                <a:spcPts val="1560"/>
              </a:spcBef>
            </a:pPr>
            <a:r>
              <a:rPr dirty="0" sz="7300" spc="65" b="1">
                <a:solidFill>
                  <a:srgbClr val="04191A"/>
                </a:solidFill>
                <a:latin typeface="Century Gothic"/>
                <a:cs typeface="Century Gothic"/>
              </a:rPr>
              <a:t>Implications,</a:t>
            </a:r>
            <a:r>
              <a:rPr dirty="0" sz="7300" spc="-315" b="1">
                <a:solidFill>
                  <a:srgbClr val="04191A"/>
                </a:solidFill>
                <a:latin typeface="Century Gothic"/>
                <a:cs typeface="Century Gothic"/>
              </a:rPr>
              <a:t> </a:t>
            </a:r>
            <a:r>
              <a:rPr dirty="0" sz="7300" spc="254" b="1">
                <a:solidFill>
                  <a:srgbClr val="04191A"/>
                </a:solidFill>
                <a:latin typeface="Century Gothic"/>
                <a:cs typeface="Century Gothic"/>
              </a:rPr>
              <a:t>Limitations,</a:t>
            </a:r>
            <a:r>
              <a:rPr dirty="0" sz="7300" spc="-310" b="1">
                <a:solidFill>
                  <a:srgbClr val="04191A"/>
                </a:solidFill>
                <a:latin typeface="Century Gothic"/>
                <a:cs typeface="Century Gothic"/>
              </a:rPr>
              <a:t> </a:t>
            </a:r>
            <a:r>
              <a:rPr dirty="0" sz="7300" spc="-100" b="1">
                <a:solidFill>
                  <a:srgbClr val="04191A"/>
                </a:solidFill>
                <a:latin typeface="Century Gothic"/>
                <a:cs typeface="Century Gothic"/>
              </a:rPr>
              <a:t>and </a:t>
            </a:r>
            <a:r>
              <a:rPr dirty="0" sz="7300" spc="-10" b="1">
                <a:solidFill>
                  <a:srgbClr val="04191A"/>
                </a:solidFill>
                <a:latin typeface="Century Gothic"/>
                <a:cs typeface="Century Gothic"/>
              </a:rPr>
              <a:t>Recommendations</a:t>
            </a:r>
            <a:endParaRPr sz="73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152587" y="563767"/>
            <a:ext cx="228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75">
                <a:solidFill>
                  <a:srgbClr val="04191A"/>
                </a:solidFill>
                <a:latin typeface="Century Gothic"/>
                <a:cs typeface="Century Gothic"/>
              </a:rPr>
              <a:t>12</a:t>
            </a:r>
            <a:endParaRPr sz="18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5"/>
              <a:t>Implications</a:t>
            </a:r>
            <a:r>
              <a:rPr dirty="0" spc="-145"/>
              <a:t> </a:t>
            </a:r>
            <a:r>
              <a:rPr dirty="0"/>
              <a:t>for</a:t>
            </a:r>
            <a:r>
              <a:rPr dirty="0" spc="-145"/>
              <a:t> </a:t>
            </a:r>
            <a:r>
              <a:rPr dirty="0" spc="-135"/>
              <a:t>Urban</a:t>
            </a:r>
            <a:r>
              <a:rPr dirty="0" spc="-140"/>
              <a:t> </a:t>
            </a:r>
            <a:r>
              <a:rPr dirty="0" spc="-150"/>
              <a:t>Planning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822102" y="4887225"/>
            <a:ext cx="3461385" cy="2045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48640">
              <a:lnSpc>
                <a:spcPct val="100000"/>
              </a:lnSpc>
              <a:spcBef>
                <a:spcPts val="100"/>
              </a:spcBef>
            </a:pPr>
            <a:r>
              <a:rPr dirty="0" sz="2900" spc="-120">
                <a:latin typeface="Century Gothic"/>
                <a:cs typeface="Century Gothic"/>
              </a:rPr>
              <a:t>Improve</a:t>
            </a:r>
            <a:r>
              <a:rPr dirty="0" sz="2900" spc="-65">
                <a:latin typeface="Century Gothic"/>
                <a:cs typeface="Century Gothic"/>
              </a:rPr>
              <a:t> </a:t>
            </a:r>
            <a:r>
              <a:rPr dirty="0" sz="2900" spc="-70">
                <a:latin typeface="Century Gothic"/>
                <a:cs typeface="Century Gothic"/>
              </a:rPr>
              <a:t>Network </a:t>
            </a:r>
            <a:r>
              <a:rPr dirty="0" sz="2900" spc="-10">
                <a:latin typeface="Century Gothic"/>
                <a:cs typeface="Century Gothic"/>
              </a:rPr>
              <a:t>Efficiency</a:t>
            </a:r>
            <a:endParaRPr sz="2900">
              <a:latin typeface="Century Gothic"/>
              <a:cs typeface="Century Gothic"/>
            </a:endParaRPr>
          </a:p>
          <a:p>
            <a:pPr marL="12700" marR="5080">
              <a:lnSpc>
                <a:spcPct val="101499"/>
              </a:lnSpc>
              <a:spcBef>
                <a:spcPts val="1810"/>
              </a:spcBef>
            </a:pPr>
            <a:r>
              <a:rPr dirty="0" sz="1950" spc="-80">
                <a:latin typeface="Century Gothic"/>
                <a:cs typeface="Century Gothic"/>
              </a:rPr>
              <a:t>Targeted</a:t>
            </a:r>
            <a:r>
              <a:rPr dirty="0" sz="1950" spc="-30">
                <a:latin typeface="Century Gothic"/>
                <a:cs typeface="Century Gothic"/>
              </a:rPr>
              <a:t> </a:t>
            </a:r>
            <a:r>
              <a:rPr dirty="0" sz="1950" spc="-20">
                <a:latin typeface="Century Gothic"/>
                <a:cs typeface="Century Gothic"/>
              </a:rPr>
              <a:t>actions</a:t>
            </a:r>
            <a:r>
              <a:rPr dirty="0" sz="1950" spc="-25">
                <a:latin typeface="Century Gothic"/>
                <a:cs typeface="Century Gothic"/>
              </a:rPr>
              <a:t> </a:t>
            </a:r>
            <a:r>
              <a:rPr dirty="0" sz="1950" spc="-155">
                <a:latin typeface="Century Gothic"/>
                <a:cs typeface="Century Gothic"/>
              </a:rPr>
              <a:t>can</a:t>
            </a:r>
            <a:r>
              <a:rPr dirty="0" sz="1950" spc="-15">
                <a:latin typeface="Century Gothic"/>
                <a:cs typeface="Century Gothic"/>
              </a:rPr>
              <a:t> </a:t>
            </a:r>
            <a:r>
              <a:rPr dirty="0" sz="1950" spc="-10">
                <a:latin typeface="Century Gothic"/>
                <a:cs typeface="Century Gothic"/>
              </a:rPr>
              <a:t>reduce </a:t>
            </a:r>
            <a:r>
              <a:rPr dirty="0" sz="1950" spc="-55">
                <a:latin typeface="Century Gothic"/>
                <a:cs typeface="Century Gothic"/>
              </a:rPr>
              <a:t>overall</a:t>
            </a:r>
            <a:r>
              <a:rPr dirty="0" sz="1950" spc="15">
                <a:latin typeface="Century Gothic"/>
                <a:cs typeface="Century Gothic"/>
              </a:rPr>
              <a:t> </a:t>
            </a:r>
            <a:r>
              <a:rPr dirty="0" sz="1950" spc="-30">
                <a:latin typeface="Century Gothic"/>
                <a:cs typeface="Century Gothic"/>
              </a:rPr>
              <a:t>travel</a:t>
            </a:r>
            <a:r>
              <a:rPr dirty="0" sz="1950" spc="20">
                <a:latin typeface="Century Gothic"/>
                <a:cs typeface="Century Gothic"/>
              </a:rPr>
              <a:t> </a:t>
            </a:r>
            <a:r>
              <a:rPr dirty="0" sz="1950">
                <a:latin typeface="Century Gothic"/>
                <a:cs typeface="Century Gothic"/>
              </a:rPr>
              <a:t>times</a:t>
            </a:r>
            <a:r>
              <a:rPr dirty="0" sz="1950" spc="15">
                <a:latin typeface="Century Gothic"/>
                <a:cs typeface="Century Gothic"/>
              </a:rPr>
              <a:t> </a:t>
            </a:r>
            <a:r>
              <a:rPr dirty="0" sz="1950" spc="-145">
                <a:latin typeface="Century Gothic"/>
                <a:cs typeface="Century Gothic"/>
              </a:rPr>
              <a:t>and</a:t>
            </a:r>
            <a:r>
              <a:rPr dirty="0" sz="1950" spc="20">
                <a:latin typeface="Century Gothic"/>
                <a:cs typeface="Century Gothic"/>
              </a:rPr>
              <a:t> </a:t>
            </a:r>
            <a:r>
              <a:rPr dirty="0" sz="1950" spc="-10">
                <a:latin typeface="Century Gothic"/>
                <a:cs typeface="Century Gothic"/>
              </a:rPr>
              <a:t>boost reliability.</a:t>
            </a:r>
            <a:endParaRPr sz="195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16690" y="4887225"/>
            <a:ext cx="3153410" cy="2045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900" spc="-190">
                <a:latin typeface="Century Gothic"/>
                <a:cs typeface="Century Gothic"/>
              </a:rPr>
              <a:t>Leverage</a:t>
            </a:r>
            <a:r>
              <a:rPr dirty="0" sz="2900" spc="5">
                <a:latin typeface="Century Gothic"/>
                <a:cs typeface="Century Gothic"/>
              </a:rPr>
              <a:t> </a:t>
            </a:r>
            <a:r>
              <a:rPr dirty="0" sz="2900" spc="-229">
                <a:latin typeface="Century Gothic"/>
                <a:cs typeface="Century Gothic"/>
              </a:rPr>
              <a:t>Data</a:t>
            </a:r>
            <a:r>
              <a:rPr dirty="0" sz="2900" spc="10">
                <a:latin typeface="Century Gothic"/>
                <a:cs typeface="Century Gothic"/>
              </a:rPr>
              <a:t> </a:t>
            </a:r>
            <a:r>
              <a:rPr dirty="0" sz="2900" spc="-25">
                <a:latin typeface="Century Gothic"/>
                <a:cs typeface="Century Gothic"/>
              </a:rPr>
              <a:t>for </a:t>
            </a:r>
            <a:r>
              <a:rPr dirty="0" sz="2900" spc="-65">
                <a:latin typeface="Century Gothic"/>
                <a:cs typeface="Century Gothic"/>
              </a:rPr>
              <a:t>Equitable</a:t>
            </a:r>
            <a:r>
              <a:rPr dirty="0" sz="2900" spc="-114">
                <a:latin typeface="Century Gothic"/>
                <a:cs typeface="Century Gothic"/>
              </a:rPr>
              <a:t> Planning</a:t>
            </a:r>
            <a:endParaRPr sz="2900">
              <a:latin typeface="Century Gothic"/>
              <a:cs typeface="Century Gothic"/>
            </a:endParaRPr>
          </a:p>
          <a:p>
            <a:pPr marL="12700" marR="356870">
              <a:lnSpc>
                <a:spcPct val="101499"/>
              </a:lnSpc>
              <a:spcBef>
                <a:spcPts val="1810"/>
              </a:spcBef>
            </a:pPr>
            <a:r>
              <a:rPr dirty="0" sz="1950">
                <a:latin typeface="Century Gothic"/>
                <a:cs typeface="Century Gothic"/>
              </a:rPr>
              <a:t>Use</a:t>
            </a:r>
            <a:r>
              <a:rPr dirty="0" sz="1950" spc="-15">
                <a:latin typeface="Century Gothic"/>
                <a:cs typeface="Century Gothic"/>
              </a:rPr>
              <a:t> </a:t>
            </a:r>
            <a:r>
              <a:rPr dirty="0" sz="1950" spc="-90">
                <a:latin typeface="Century Gothic"/>
                <a:cs typeface="Century Gothic"/>
              </a:rPr>
              <a:t>delay</a:t>
            </a:r>
            <a:r>
              <a:rPr dirty="0" sz="1950" spc="-10">
                <a:latin typeface="Century Gothic"/>
                <a:cs typeface="Century Gothic"/>
              </a:rPr>
              <a:t> analytics</a:t>
            </a:r>
            <a:r>
              <a:rPr dirty="0" sz="1950" spc="-15">
                <a:latin typeface="Century Gothic"/>
                <a:cs typeface="Century Gothic"/>
              </a:rPr>
              <a:t> </a:t>
            </a:r>
            <a:r>
              <a:rPr dirty="0" sz="1950" spc="-25">
                <a:latin typeface="Century Gothic"/>
                <a:cs typeface="Century Gothic"/>
              </a:rPr>
              <a:t>to </a:t>
            </a:r>
            <a:r>
              <a:rPr dirty="0" sz="1950">
                <a:latin typeface="Century Gothic"/>
                <a:cs typeface="Century Gothic"/>
              </a:rPr>
              <a:t>prioritize</a:t>
            </a:r>
            <a:r>
              <a:rPr dirty="0" sz="1950" spc="365">
                <a:latin typeface="Century Gothic"/>
                <a:cs typeface="Century Gothic"/>
              </a:rPr>
              <a:t> </a:t>
            </a:r>
            <a:r>
              <a:rPr dirty="0" sz="1950" spc="-25">
                <a:latin typeface="Century Gothic"/>
                <a:cs typeface="Century Gothic"/>
              </a:rPr>
              <a:t>improvements </a:t>
            </a:r>
            <a:r>
              <a:rPr dirty="0" sz="1950" spc="-65">
                <a:latin typeface="Century Gothic"/>
                <a:cs typeface="Century Gothic"/>
              </a:rPr>
              <a:t>where</a:t>
            </a:r>
            <a:r>
              <a:rPr dirty="0" sz="1950" spc="-50">
                <a:latin typeface="Century Gothic"/>
                <a:cs typeface="Century Gothic"/>
              </a:rPr>
              <a:t> </a:t>
            </a:r>
            <a:r>
              <a:rPr dirty="0" sz="1950" spc="-114">
                <a:latin typeface="Century Gothic"/>
                <a:cs typeface="Century Gothic"/>
              </a:rPr>
              <a:t>needed</a:t>
            </a:r>
            <a:r>
              <a:rPr dirty="0" sz="1950" spc="-20">
                <a:latin typeface="Century Gothic"/>
                <a:cs typeface="Century Gothic"/>
              </a:rPr>
              <a:t> most.</a:t>
            </a:r>
            <a:endParaRPr sz="195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11278" y="4887225"/>
            <a:ext cx="3124835" cy="2487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776605">
              <a:lnSpc>
                <a:spcPct val="100000"/>
              </a:lnSpc>
              <a:spcBef>
                <a:spcPts val="100"/>
              </a:spcBef>
            </a:pPr>
            <a:r>
              <a:rPr dirty="0" sz="2900" spc="-10">
                <a:latin typeface="Century Gothic"/>
                <a:cs typeface="Century Gothic"/>
              </a:rPr>
              <a:t>Strategic Infrastructure Investment</a:t>
            </a:r>
            <a:endParaRPr sz="2900">
              <a:latin typeface="Century Gothic"/>
              <a:cs typeface="Century Gothic"/>
            </a:endParaRPr>
          </a:p>
          <a:p>
            <a:pPr algn="just" marL="12700" marR="5080">
              <a:lnSpc>
                <a:spcPct val="101499"/>
              </a:lnSpc>
              <a:spcBef>
                <a:spcPts val="1810"/>
              </a:spcBef>
            </a:pPr>
            <a:r>
              <a:rPr dirty="0" sz="1950" spc="-75">
                <a:latin typeface="Century Gothic"/>
                <a:cs typeface="Century Gothic"/>
              </a:rPr>
              <a:t>Enhancing</a:t>
            </a:r>
            <a:r>
              <a:rPr dirty="0" sz="1950" spc="100">
                <a:latin typeface="Century Gothic"/>
                <a:cs typeface="Century Gothic"/>
              </a:rPr>
              <a:t> </a:t>
            </a:r>
            <a:r>
              <a:rPr dirty="0" sz="1950">
                <a:latin typeface="Century Gothic"/>
                <a:cs typeface="Century Gothic"/>
              </a:rPr>
              <a:t>bus</a:t>
            </a:r>
            <a:r>
              <a:rPr dirty="0" sz="1950" spc="105">
                <a:latin typeface="Century Gothic"/>
                <a:cs typeface="Century Gothic"/>
              </a:rPr>
              <a:t> </a:t>
            </a:r>
            <a:r>
              <a:rPr dirty="0" sz="1950">
                <a:latin typeface="Century Gothic"/>
                <a:cs typeface="Century Gothic"/>
              </a:rPr>
              <a:t>corridors</a:t>
            </a:r>
            <a:r>
              <a:rPr dirty="0" sz="1950" spc="105">
                <a:latin typeface="Century Gothic"/>
                <a:cs typeface="Century Gothic"/>
              </a:rPr>
              <a:t> </a:t>
            </a:r>
            <a:r>
              <a:rPr dirty="0" sz="1950" spc="-25">
                <a:latin typeface="Century Gothic"/>
                <a:cs typeface="Century Gothic"/>
              </a:rPr>
              <a:t>in </a:t>
            </a:r>
            <a:r>
              <a:rPr dirty="0" sz="1950" spc="-45">
                <a:latin typeface="Century Gothic"/>
                <a:cs typeface="Century Gothic"/>
              </a:rPr>
              <a:t>bottleneck</a:t>
            </a:r>
            <a:r>
              <a:rPr dirty="0" sz="1950" spc="-80">
                <a:latin typeface="Century Gothic"/>
                <a:cs typeface="Century Gothic"/>
              </a:rPr>
              <a:t> </a:t>
            </a:r>
            <a:r>
              <a:rPr dirty="0" sz="1950" spc="-60">
                <a:latin typeface="Century Gothic"/>
                <a:cs typeface="Century Gothic"/>
              </a:rPr>
              <a:t>areas</a:t>
            </a:r>
            <a:r>
              <a:rPr dirty="0" sz="1950" spc="-20">
                <a:latin typeface="Century Gothic"/>
                <a:cs typeface="Century Gothic"/>
              </a:rPr>
              <a:t> </a:t>
            </a:r>
            <a:r>
              <a:rPr dirty="0" sz="1950" spc="-170">
                <a:latin typeface="Century Gothic"/>
                <a:cs typeface="Century Gothic"/>
              </a:rPr>
              <a:t>can</a:t>
            </a:r>
            <a:r>
              <a:rPr dirty="0" sz="1950" spc="35">
                <a:latin typeface="Century Gothic"/>
                <a:cs typeface="Century Gothic"/>
              </a:rPr>
              <a:t> </a:t>
            </a:r>
            <a:r>
              <a:rPr dirty="0" sz="1950" spc="-20">
                <a:latin typeface="Century Gothic"/>
                <a:cs typeface="Century Gothic"/>
              </a:rPr>
              <a:t>ease </a:t>
            </a:r>
            <a:r>
              <a:rPr dirty="0" sz="1950" spc="-10">
                <a:latin typeface="Century Gothic"/>
                <a:cs typeface="Century Gothic"/>
              </a:rPr>
              <a:t>congestion.</a:t>
            </a:r>
            <a:endParaRPr sz="195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5866" y="4887225"/>
            <a:ext cx="3258185" cy="2487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337310">
              <a:lnSpc>
                <a:spcPct val="100000"/>
              </a:lnSpc>
              <a:spcBef>
                <a:spcPts val="100"/>
              </a:spcBef>
            </a:pPr>
            <a:r>
              <a:rPr dirty="0" sz="2900">
                <a:latin typeface="Century Gothic"/>
                <a:cs typeface="Century Gothic"/>
              </a:rPr>
              <a:t>Focus</a:t>
            </a:r>
            <a:r>
              <a:rPr dirty="0" sz="2900" spc="-160">
                <a:latin typeface="Century Gothic"/>
                <a:cs typeface="Century Gothic"/>
              </a:rPr>
              <a:t> </a:t>
            </a:r>
            <a:r>
              <a:rPr dirty="0" sz="2900" spc="-25">
                <a:latin typeface="Century Gothic"/>
                <a:cs typeface="Century Gothic"/>
              </a:rPr>
              <a:t>on </a:t>
            </a:r>
            <a:r>
              <a:rPr dirty="0" sz="2900" spc="-65">
                <a:latin typeface="Century Gothic"/>
                <a:cs typeface="Century Gothic"/>
              </a:rPr>
              <a:t>High-</a:t>
            </a:r>
            <a:r>
              <a:rPr dirty="0" sz="2900" spc="-40">
                <a:latin typeface="Century Gothic"/>
                <a:cs typeface="Century Gothic"/>
              </a:rPr>
              <a:t>Delay </a:t>
            </a:r>
            <a:r>
              <a:rPr dirty="0" sz="2900" spc="-10">
                <a:latin typeface="Century Gothic"/>
                <a:cs typeface="Century Gothic"/>
              </a:rPr>
              <a:t>Corridors</a:t>
            </a:r>
            <a:endParaRPr sz="2900">
              <a:latin typeface="Century Gothic"/>
              <a:cs typeface="Century Gothic"/>
            </a:endParaRPr>
          </a:p>
          <a:p>
            <a:pPr marL="12700" marR="5080">
              <a:lnSpc>
                <a:spcPct val="101499"/>
              </a:lnSpc>
              <a:spcBef>
                <a:spcPts val="1810"/>
              </a:spcBef>
            </a:pPr>
            <a:r>
              <a:rPr dirty="0" sz="1950">
                <a:latin typeface="Century Gothic"/>
                <a:cs typeface="Century Gothic"/>
              </a:rPr>
              <a:t>West </a:t>
            </a:r>
            <a:r>
              <a:rPr dirty="0" sz="1950" spc="-20">
                <a:latin typeface="Century Gothic"/>
                <a:cs typeface="Century Gothic"/>
              </a:rPr>
              <a:t>Dublin</a:t>
            </a:r>
            <a:r>
              <a:rPr dirty="0" sz="1950">
                <a:latin typeface="Century Gothic"/>
                <a:cs typeface="Century Gothic"/>
              </a:rPr>
              <a:t> </a:t>
            </a:r>
            <a:r>
              <a:rPr dirty="0" sz="1950" spc="-10">
                <a:latin typeface="Century Gothic"/>
                <a:cs typeface="Century Gothic"/>
              </a:rPr>
              <a:t>routes </a:t>
            </a:r>
            <a:r>
              <a:rPr dirty="0" sz="1950" spc="-70">
                <a:latin typeface="Century Gothic"/>
                <a:cs typeface="Century Gothic"/>
              </a:rPr>
              <a:t>experience</a:t>
            </a:r>
            <a:r>
              <a:rPr dirty="0" sz="1950">
                <a:latin typeface="Century Gothic"/>
                <a:cs typeface="Century Gothic"/>
              </a:rPr>
              <a:t> the most</a:t>
            </a:r>
            <a:r>
              <a:rPr dirty="0" sz="1950" spc="5">
                <a:latin typeface="Century Gothic"/>
                <a:cs typeface="Century Gothic"/>
              </a:rPr>
              <a:t> </a:t>
            </a:r>
            <a:r>
              <a:rPr dirty="0" sz="1950" spc="-25">
                <a:latin typeface="Century Gothic"/>
                <a:cs typeface="Century Gothic"/>
              </a:rPr>
              <a:t>severe </a:t>
            </a:r>
            <a:r>
              <a:rPr dirty="0" sz="1950" spc="-10">
                <a:latin typeface="Century Gothic"/>
                <a:cs typeface="Century Gothic"/>
              </a:rPr>
              <a:t>delays.</a:t>
            </a:r>
            <a:endParaRPr sz="195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149195" y="561158"/>
            <a:ext cx="2324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60">
                <a:solidFill>
                  <a:srgbClr val="04191A"/>
                </a:solidFill>
                <a:latin typeface="Century Gothic"/>
                <a:cs typeface="Century Gothic"/>
              </a:rPr>
              <a:t>13</a:t>
            </a:r>
            <a:endParaRPr sz="1800">
              <a:latin typeface="Century Gothic"/>
              <a:cs typeface="Century Gothic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828467" y="4955169"/>
            <a:ext cx="8630285" cy="2434590"/>
            <a:chOff x="4828467" y="4955169"/>
            <a:chExt cx="8630285" cy="2434590"/>
          </a:xfrm>
        </p:grpSpPr>
        <p:sp>
          <p:nvSpPr>
            <p:cNvPr id="9" name="object 9"/>
            <p:cNvSpPr/>
            <p:nvPr/>
          </p:nvSpPr>
          <p:spPr>
            <a:xfrm>
              <a:off x="13448815" y="4955169"/>
              <a:ext cx="0" cy="2434590"/>
            </a:xfrm>
            <a:custGeom>
              <a:avLst/>
              <a:gdLst/>
              <a:ahLst/>
              <a:cxnLst/>
              <a:rect l="l" t="t" r="r" b="b"/>
              <a:pathLst>
                <a:path w="0" h="2434590">
                  <a:moveTo>
                    <a:pt x="0" y="2434056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2DC29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9143442" y="4955169"/>
              <a:ext cx="0" cy="2434590"/>
            </a:xfrm>
            <a:custGeom>
              <a:avLst/>
              <a:gdLst/>
              <a:ahLst/>
              <a:cxnLst/>
              <a:rect l="l" t="t" r="r" b="b"/>
              <a:pathLst>
                <a:path w="0" h="2434590">
                  <a:moveTo>
                    <a:pt x="0" y="2434056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2DC29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837992" y="4955169"/>
              <a:ext cx="0" cy="2434590"/>
            </a:xfrm>
            <a:custGeom>
              <a:avLst/>
              <a:gdLst/>
              <a:ahLst/>
              <a:cxnLst/>
              <a:rect l="l" t="t" r="r" b="b"/>
              <a:pathLst>
                <a:path w="0" h="2434590">
                  <a:moveTo>
                    <a:pt x="0" y="2434056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2DC29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905904" y="561158"/>
            <a:ext cx="57746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45">
                <a:solidFill>
                  <a:srgbClr val="04191A"/>
                </a:solidFill>
                <a:latin typeface="Century Gothic"/>
                <a:cs typeface="Century Gothic"/>
              </a:rPr>
              <a:t>IMPLICATIONS,</a:t>
            </a:r>
            <a:r>
              <a:rPr dirty="0" sz="1800" spc="-30">
                <a:solidFill>
                  <a:srgbClr val="04191A"/>
                </a:solidFill>
                <a:latin typeface="Century Gothic"/>
                <a:cs typeface="Century Gothic"/>
              </a:rPr>
              <a:t> </a:t>
            </a:r>
            <a:r>
              <a:rPr dirty="0" sz="1800" spc="-20">
                <a:solidFill>
                  <a:srgbClr val="04191A"/>
                </a:solidFill>
                <a:latin typeface="Century Gothic"/>
                <a:cs typeface="Century Gothic"/>
              </a:rPr>
              <a:t>LIMITATIONS,</a:t>
            </a:r>
            <a:r>
              <a:rPr dirty="0" sz="1800" spc="-25">
                <a:solidFill>
                  <a:srgbClr val="04191A"/>
                </a:solidFill>
                <a:latin typeface="Century Gothic"/>
                <a:cs typeface="Century Gothic"/>
              </a:rPr>
              <a:t> </a:t>
            </a:r>
            <a:r>
              <a:rPr dirty="0" sz="1800" spc="-130">
                <a:solidFill>
                  <a:srgbClr val="04191A"/>
                </a:solidFill>
                <a:latin typeface="Century Gothic"/>
                <a:cs typeface="Century Gothic"/>
              </a:rPr>
              <a:t>AND</a:t>
            </a:r>
            <a:r>
              <a:rPr dirty="0" sz="1800" spc="-20">
                <a:solidFill>
                  <a:srgbClr val="04191A"/>
                </a:solidFill>
                <a:latin typeface="Century Gothic"/>
                <a:cs typeface="Century Gothic"/>
              </a:rPr>
              <a:t> </a:t>
            </a:r>
            <a:r>
              <a:rPr dirty="0" sz="1800" spc="-60">
                <a:solidFill>
                  <a:srgbClr val="04191A"/>
                </a:solidFill>
                <a:latin typeface="Century Gothic"/>
                <a:cs typeface="Century Gothic"/>
              </a:rPr>
              <a:t>RECOMMENDATIONS</a:t>
            </a:r>
            <a:endParaRPr sz="18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80"/>
              <a:t>Technical</a:t>
            </a:r>
            <a:r>
              <a:rPr dirty="0" spc="-30"/>
              <a:t> </a:t>
            </a:r>
            <a:r>
              <a:rPr dirty="0"/>
              <a:t>Limitations</a:t>
            </a:r>
            <a:r>
              <a:rPr dirty="0" spc="-30"/>
              <a:t> </a:t>
            </a:r>
            <a:r>
              <a:rPr dirty="0" spc="-365"/>
              <a:t>and</a:t>
            </a:r>
            <a:r>
              <a:rPr dirty="0" spc="-30"/>
              <a:t> </a:t>
            </a:r>
            <a:r>
              <a:rPr dirty="0" spc="-60"/>
              <a:t>Next</a:t>
            </a:r>
            <a:r>
              <a:rPr dirty="0" spc="-30"/>
              <a:t> </a:t>
            </a:r>
            <a:r>
              <a:rPr dirty="0" spc="65"/>
              <a:t>Steps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822102" y="5038082"/>
            <a:ext cx="3554729" cy="2045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223645">
              <a:lnSpc>
                <a:spcPct val="100000"/>
              </a:lnSpc>
              <a:spcBef>
                <a:spcPts val="100"/>
              </a:spcBef>
            </a:pPr>
            <a:r>
              <a:rPr dirty="0" sz="2900" spc="-195">
                <a:latin typeface="Century Gothic"/>
                <a:cs typeface="Century Gothic"/>
              </a:rPr>
              <a:t>Ongoing</a:t>
            </a:r>
            <a:r>
              <a:rPr dirty="0" sz="2900" spc="25">
                <a:latin typeface="Century Gothic"/>
                <a:cs typeface="Century Gothic"/>
              </a:rPr>
              <a:t> </a:t>
            </a:r>
            <a:r>
              <a:rPr dirty="0" sz="2900" spc="-215">
                <a:latin typeface="Century Gothic"/>
                <a:cs typeface="Century Gothic"/>
              </a:rPr>
              <a:t>Data </a:t>
            </a:r>
            <a:r>
              <a:rPr dirty="0" sz="2900" spc="-10">
                <a:latin typeface="Century Gothic"/>
                <a:cs typeface="Century Gothic"/>
              </a:rPr>
              <a:t>Collection</a:t>
            </a:r>
            <a:endParaRPr sz="2900">
              <a:latin typeface="Century Gothic"/>
              <a:cs typeface="Century Gothic"/>
            </a:endParaRPr>
          </a:p>
          <a:p>
            <a:pPr marL="12700" marR="5080">
              <a:lnSpc>
                <a:spcPct val="101499"/>
              </a:lnSpc>
              <a:spcBef>
                <a:spcPts val="1810"/>
              </a:spcBef>
            </a:pPr>
            <a:r>
              <a:rPr dirty="0" sz="1950" spc="-20">
                <a:latin typeface="Century Gothic"/>
                <a:cs typeface="Century Gothic"/>
              </a:rPr>
              <a:t>Continuous</a:t>
            </a:r>
            <a:r>
              <a:rPr dirty="0" sz="1950" spc="-50">
                <a:latin typeface="Century Gothic"/>
                <a:cs typeface="Century Gothic"/>
              </a:rPr>
              <a:t> </a:t>
            </a:r>
            <a:r>
              <a:rPr dirty="0" sz="1950" spc="-145">
                <a:latin typeface="Century Gothic"/>
                <a:cs typeface="Century Gothic"/>
              </a:rPr>
              <a:t>data</a:t>
            </a:r>
            <a:r>
              <a:rPr dirty="0" sz="1950" spc="-15">
                <a:latin typeface="Century Gothic"/>
                <a:cs typeface="Century Gothic"/>
              </a:rPr>
              <a:t> </a:t>
            </a:r>
            <a:r>
              <a:rPr dirty="0" sz="1950" spc="-65">
                <a:latin typeface="Century Gothic"/>
                <a:cs typeface="Century Gothic"/>
              </a:rPr>
              <a:t>gathering</a:t>
            </a:r>
            <a:r>
              <a:rPr dirty="0" sz="1950" spc="-35">
                <a:latin typeface="Century Gothic"/>
                <a:cs typeface="Century Gothic"/>
              </a:rPr>
              <a:t> </a:t>
            </a:r>
            <a:r>
              <a:rPr dirty="0" sz="1950" spc="-20">
                <a:latin typeface="Century Gothic"/>
                <a:cs typeface="Century Gothic"/>
              </a:rPr>
              <a:t>will </a:t>
            </a:r>
            <a:r>
              <a:rPr dirty="0" sz="1950" spc="-25">
                <a:latin typeface="Century Gothic"/>
                <a:cs typeface="Century Gothic"/>
              </a:rPr>
              <a:t>sharpen</a:t>
            </a:r>
            <a:r>
              <a:rPr dirty="0" sz="1950" spc="95">
                <a:latin typeface="Century Gothic"/>
                <a:cs typeface="Century Gothic"/>
              </a:rPr>
              <a:t> </a:t>
            </a:r>
            <a:r>
              <a:rPr dirty="0" sz="1950" spc="-90">
                <a:latin typeface="Century Gothic"/>
                <a:cs typeface="Century Gothic"/>
              </a:rPr>
              <a:t>delay</a:t>
            </a:r>
            <a:r>
              <a:rPr dirty="0" sz="1950" spc="95">
                <a:latin typeface="Century Gothic"/>
                <a:cs typeface="Century Gothic"/>
              </a:rPr>
              <a:t> </a:t>
            </a:r>
            <a:r>
              <a:rPr dirty="0" sz="1950">
                <a:latin typeface="Century Gothic"/>
                <a:cs typeface="Century Gothic"/>
              </a:rPr>
              <a:t>insights</a:t>
            </a:r>
            <a:r>
              <a:rPr dirty="0" sz="1950" spc="95">
                <a:latin typeface="Century Gothic"/>
                <a:cs typeface="Century Gothic"/>
              </a:rPr>
              <a:t> </a:t>
            </a:r>
            <a:r>
              <a:rPr dirty="0" sz="1950" spc="-20">
                <a:latin typeface="Century Gothic"/>
                <a:cs typeface="Century Gothic"/>
              </a:rPr>
              <a:t>over </a:t>
            </a:r>
            <a:r>
              <a:rPr dirty="0" sz="1950" spc="-10">
                <a:latin typeface="Century Gothic"/>
                <a:cs typeface="Century Gothic"/>
              </a:rPr>
              <a:t>time.</a:t>
            </a:r>
            <a:endParaRPr sz="195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16690" y="5038082"/>
            <a:ext cx="3425190" cy="2045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603250">
              <a:lnSpc>
                <a:spcPct val="100000"/>
              </a:lnSpc>
              <a:spcBef>
                <a:spcPts val="100"/>
              </a:spcBef>
            </a:pPr>
            <a:r>
              <a:rPr dirty="0" sz="2900" spc="-35">
                <a:latin typeface="Century Gothic"/>
                <a:cs typeface="Century Gothic"/>
              </a:rPr>
              <a:t>Addressing</a:t>
            </a:r>
            <a:r>
              <a:rPr dirty="0" sz="2900" spc="-125">
                <a:latin typeface="Century Gothic"/>
                <a:cs typeface="Century Gothic"/>
              </a:rPr>
              <a:t> </a:t>
            </a:r>
            <a:r>
              <a:rPr dirty="0" sz="2900" spc="-215">
                <a:latin typeface="Century Gothic"/>
                <a:cs typeface="Century Gothic"/>
              </a:rPr>
              <a:t>Data </a:t>
            </a:r>
            <a:r>
              <a:rPr dirty="0" sz="2900" spc="-20">
                <a:latin typeface="Century Gothic"/>
                <a:cs typeface="Century Gothic"/>
              </a:rPr>
              <a:t>Gaps</a:t>
            </a:r>
            <a:endParaRPr sz="2900">
              <a:latin typeface="Century Gothic"/>
              <a:cs typeface="Century Gothic"/>
            </a:endParaRPr>
          </a:p>
          <a:p>
            <a:pPr marL="12700" marR="5080">
              <a:lnSpc>
                <a:spcPct val="101499"/>
              </a:lnSpc>
              <a:spcBef>
                <a:spcPts val="1810"/>
              </a:spcBef>
            </a:pPr>
            <a:r>
              <a:rPr dirty="0" sz="1950" spc="-60">
                <a:latin typeface="Century Gothic"/>
                <a:cs typeface="Century Gothic"/>
              </a:rPr>
              <a:t>Improved</a:t>
            </a:r>
            <a:r>
              <a:rPr dirty="0" sz="1950" spc="-50">
                <a:latin typeface="Century Gothic"/>
                <a:cs typeface="Century Gothic"/>
              </a:rPr>
              <a:t> </a:t>
            </a:r>
            <a:r>
              <a:rPr dirty="0" sz="1950" spc="-75">
                <a:latin typeface="Century Gothic"/>
                <a:cs typeface="Century Gothic"/>
              </a:rPr>
              <a:t>handling</a:t>
            </a:r>
            <a:r>
              <a:rPr dirty="0" sz="1950" spc="-45">
                <a:latin typeface="Century Gothic"/>
                <a:cs typeface="Century Gothic"/>
              </a:rPr>
              <a:t> </a:t>
            </a:r>
            <a:r>
              <a:rPr dirty="0" sz="1950">
                <a:latin typeface="Century Gothic"/>
                <a:cs typeface="Century Gothic"/>
              </a:rPr>
              <a:t>of</a:t>
            </a:r>
            <a:r>
              <a:rPr dirty="0" sz="1950" spc="-45">
                <a:latin typeface="Century Gothic"/>
                <a:cs typeface="Century Gothic"/>
              </a:rPr>
              <a:t> </a:t>
            </a:r>
            <a:r>
              <a:rPr dirty="0" sz="1950" spc="-10">
                <a:latin typeface="Century Gothic"/>
                <a:cs typeface="Century Gothic"/>
              </a:rPr>
              <a:t>missing </a:t>
            </a:r>
            <a:r>
              <a:rPr dirty="0" sz="1950">
                <a:latin typeface="Century Gothic"/>
                <a:cs typeface="Century Gothic"/>
              </a:rPr>
              <a:t>or </a:t>
            </a:r>
            <a:r>
              <a:rPr dirty="0" sz="1950" spc="-50">
                <a:latin typeface="Century Gothic"/>
                <a:cs typeface="Century Gothic"/>
              </a:rPr>
              <a:t>inactive</a:t>
            </a:r>
            <a:r>
              <a:rPr dirty="0" sz="1950" spc="5">
                <a:latin typeface="Century Gothic"/>
                <a:cs typeface="Century Gothic"/>
              </a:rPr>
              <a:t> </a:t>
            </a:r>
            <a:r>
              <a:rPr dirty="0" sz="1950">
                <a:latin typeface="Century Gothic"/>
                <a:cs typeface="Century Gothic"/>
              </a:rPr>
              <a:t>bus </a:t>
            </a:r>
            <a:r>
              <a:rPr dirty="0" sz="1950" spc="-145">
                <a:latin typeface="Century Gothic"/>
                <a:cs typeface="Century Gothic"/>
              </a:rPr>
              <a:t>data</a:t>
            </a:r>
            <a:r>
              <a:rPr dirty="0" sz="1950" spc="5">
                <a:latin typeface="Century Gothic"/>
                <a:cs typeface="Century Gothic"/>
              </a:rPr>
              <a:t> </a:t>
            </a:r>
            <a:r>
              <a:rPr dirty="0" sz="1950" spc="130">
                <a:latin typeface="Century Gothic"/>
                <a:cs typeface="Century Gothic"/>
              </a:rPr>
              <a:t>is </a:t>
            </a:r>
            <a:r>
              <a:rPr dirty="0" sz="1950" spc="-10">
                <a:latin typeface="Century Gothic"/>
                <a:cs typeface="Century Gothic"/>
              </a:rPr>
              <a:t>needed.</a:t>
            </a:r>
            <a:endParaRPr sz="195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11278" y="5038082"/>
            <a:ext cx="3376295" cy="21856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343025">
              <a:lnSpc>
                <a:spcPct val="100000"/>
              </a:lnSpc>
              <a:spcBef>
                <a:spcPts val="100"/>
              </a:spcBef>
            </a:pPr>
            <a:r>
              <a:rPr dirty="0" sz="2900" spc="-85">
                <a:latin typeface="Century Gothic"/>
                <a:cs typeface="Century Gothic"/>
              </a:rPr>
              <a:t>Advancing </a:t>
            </a:r>
            <a:r>
              <a:rPr dirty="0" sz="2900" spc="-60">
                <a:latin typeface="Century Gothic"/>
                <a:cs typeface="Century Gothic"/>
              </a:rPr>
              <a:t>Real-</a:t>
            </a:r>
            <a:r>
              <a:rPr dirty="0" sz="2900" spc="-20">
                <a:latin typeface="Century Gothic"/>
                <a:cs typeface="Century Gothic"/>
              </a:rPr>
              <a:t>Time </a:t>
            </a:r>
            <a:r>
              <a:rPr dirty="0" sz="2900" spc="-70">
                <a:latin typeface="Century Gothic"/>
                <a:cs typeface="Century Gothic"/>
              </a:rPr>
              <a:t>Capabilities</a:t>
            </a:r>
            <a:endParaRPr sz="2900">
              <a:latin typeface="Century Gothic"/>
              <a:cs typeface="Century Gothic"/>
            </a:endParaRPr>
          </a:p>
          <a:p>
            <a:pPr marL="12700" marR="5080">
              <a:lnSpc>
                <a:spcPct val="101499"/>
              </a:lnSpc>
              <a:spcBef>
                <a:spcPts val="1810"/>
              </a:spcBef>
            </a:pPr>
            <a:r>
              <a:rPr dirty="0" sz="1950" spc="-45">
                <a:latin typeface="Century Gothic"/>
                <a:cs typeface="Century Gothic"/>
              </a:rPr>
              <a:t>Integrating</a:t>
            </a:r>
            <a:r>
              <a:rPr dirty="0" sz="1950" spc="-90">
                <a:latin typeface="Century Gothic"/>
                <a:cs typeface="Century Gothic"/>
              </a:rPr>
              <a:t> </a:t>
            </a:r>
            <a:r>
              <a:rPr dirty="0" sz="1950">
                <a:latin typeface="Century Gothic"/>
                <a:cs typeface="Century Gothic"/>
              </a:rPr>
              <a:t>live</a:t>
            </a:r>
            <a:r>
              <a:rPr dirty="0" sz="1950" spc="-65">
                <a:latin typeface="Century Gothic"/>
                <a:cs typeface="Century Gothic"/>
              </a:rPr>
              <a:t> </a:t>
            </a:r>
            <a:r>
              <a:rPr dirty="0" sz="1950" spc="-145">
                <a:latin typeface="Century Gothic"/>
                <a:cs typeface="Century Gothic"/>
              </a:rPr>
              <a:t>data</a:t>
            </a:r>
            <a:r>
              <a:rPr dirty="0" sz="1950" spc="-15">
                <a:latin typeface="Century Gothic"/>
                <a:cs typeface="Century Gothic"/>
              </a:rPr>
              <a:t> </a:t>
            </a:r>
            <a:r>
              <a:rPr dirty="0" sz="1950" spc="-10">
                <a:latin typeface="Century Gothic"/>
                <a:cs typeface="Century Gothic"/>
              </a:rPr>
              <a:t>streams </a:t>
            </a:r>
            <a:r>
              <a:rPr dirty="0" sz="1950">
                <a:latin typeface="Century Gothic"/>
                <a:cs typeface="Century Gothic"/>
              </a:rPr>
              <a:t>will</a:t>
            </a:r>
            <a:r>
              <a:rPr dirty="0" sz="1950" spc="30">
                <a:latin typeface="Century Gothic"/>
                <a:cs typeface="Century Gothic"/>
              </a:rPr>
              <a:t> </a:t>
            </a:r>
            <a:r>
              <a:rPr dirty="0" sz="1950" spc="-130">
                <a:latin typeface="Century Gothic"/>
                <a:cs typeface="Century Gothic"/>
              </a:rPr>
              <a:t>enhance</a:t>
            </a:r>
            <a:r>
              <a:rPr dirty="0" sz="1950" spc="35">
                <a:latin typeface="Century Gothic"/>
                <a:cs typeface="Century Gothic"/>
              </a:rPr>
              <a:t> </a:t>
            </a:r>
            <a:r>
              <a:rPr dirty="0" sz="1950" spc="-10">
                <a:latin typeface="Century Gothic"/>
                <a:cs typeface="Century Gothic"/>
              </a:rPr>
              <a:t>responsiveness.</a:t>
            </a:r>
            <a:endParaRPr sz="195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5866" y="5038082"/>
            <a:ext cx="3446779" cy="2045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681355">
              <a:lnSpc>
                <a:spcPct val="100000"/>
              </a:lnSpc>
              <a:spcBef>
                <a:spcPts val="100"/>
              </a:spcBef>
            </a:pPr>
            <a:r>
              <a:rPr dirty="0" sz="2900" spc="-245">
                <a:latin typeface="Century Gothic"/>
                <a:cs typeface="Century Gothic"/>
              </a:rPr>
              <a:t>Managing</a:t>
            </a:r>
            <a:r>
              <a:rPr dirty="0" sz="2900" spc="25">
                <a:latin typeface="Century Gothic"/>
                <a:cs typeface="Century Gothic"/>
              </a:rPr>
              <a:t> </a:t>
            </a:r>
            <a:r>
              <a:rPr dirty="0" sz="2900" spc="-10">
                <a:latin typeface="Century Gothic"/>
                <a:cs typeface="Century Gothic"/>
              </a:rPr>
              <a:t>Visual </a:t>
            </a:r>
            <a:r>
              <a:rPr dirty="0" sz="2900" spc="-35">
                <a:latin typeface="Century Gothic"/>
                <a:cs typeface="Century Gothic"/>
              </a:rPr>
              <a:t>Overload</a:t>
            </a:r>
            <a:endParaRPr sz="2900">
              <a:latin typeface="Century Gothic"/>
              <a:cs typeface="Century Gothic"/>
            </a:endParaRPr>
          </a:p>
          <a:p>
            <a:pPr marL="12700" marR="5080">
              <a:lnSpc>
                <a:spcPct val="101499"/>
              </a:lnSpc>
              <a:spcBef>
                <a:spcPts val="1810"/>
              </a:spcBef>
            </a:pPr>
            <a:r>
              <a:rPr dirty="0" sz="1950" spc="-35">
                <a:latin typeface="Century Gothic"/>
                <a:cs typeface="Century Gothic"/>
              </a:rPr>
              <a:t>Area-</a:t>
            </a:r>
            <a:r>
              <a:rPr dirty="0" sz="1950" spc="-40">
                <a:latin typeface="Century Gothic"/>
                <a:cs typeface="Century Gothic"/>
              </a:rPr>
              <a:t>based</a:t>
            </a:r>
            <a:r>
              <a:rPr dirty="0" sz="1950">
                <a:latin typeface="Century Gothic"/>
                <a:cs typeface="Century Gothic"/>
              </a:rPr>
              <a:t> filtering </a:t>
            </a:r>
            <a:r>
              <a:rPr dirty="0" sz="1950" spc="-10">
                <a:latin typeface="Century Gothic"/>
                <a:cs typeface="Century Gothic"/>
              </a:rPr>
              <a:t>prevents </a:t>
            </a:r>
            <a:r>
              <a:rPr dirty="0" sz="1950" spc="-150">
                <a:latin typeface="Century Gothic"/>
                <a:cs typeface="Century Gothic"/>
              </a:rPr>
              <a:t>map</a:t>
            </a:r>
            <a:r>
              <a:rPr dirty="0" sz="1950" spc="-15">
                <a:latin typeface="Century Gothic"/>
                <a:cs typeface="Century Gothic"/>
              </a:rPr>
              <a:t> </a:t>
            </a:r>
            <a:r>
              <a:rPr dirty="0" sz="1950" spc="-65">
                <a:latin typeface="Century Gothic"/>
                <a:cs typeface="Century Gothic"/>
              </a:rPr>
              <a:t>chaos</a:t>
            </a:r>
            <a:r>
              <a:rPr dirty="0" sz="1950" spc="-40">
                <a:latin typeface="Century Gothic"/>
                <a:cs typeface="Century Gothic"/>
              </a:rPr>
              <a:t> </a:t>
            </a:r>
            <a:r>
              <a:rPr dirty="0" sz="1950">
                <a:latin typeface="Century Gothic"/>
                <a:cs typeface="Century Gothic"/>
              </a:rPr>
              <a:t>from</a:t>
            </a:r>
            <a:r>
              <a:rPr dirty="0" sz="1950" spc="-25">
                <a:latin typeface="Century Gothic"/>
                <a:cs typeface="Century Gothic"/>
              </a:rPr>
              <a:t> </a:t>
            </a:r>
            <a:r>
              <a:rPr dirty="0" sz="1950" spc="80">
                <a:latin typeface="Century Gothic"/>
                <a:cs typeface="Century Gothic"/>
              </a:rPr>
              <a:t>all-</a:t>
            </a:r>
            <a:r>
              <a:rPr dirty="0" sz="1950" spc="-20">
                <a:latin typeface="Century Gothic"/>
                <a:cs typeface="Century Gothic"/>
              </a:rPr>
              <a:t>route </a:t>
            </a:r>
            <a:r>
              <a:rPr dirty="0" sz="1950" spc="-10">
                <a:latin typeface="Century Gothic"/>
                <a:cs typeface="Century Gothic"/>
              </a:rPr>
              <a:t>rendering.</a:t>
            </a:r>
            <a:endParaRPr sz="195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145536" y="561158"/>
            <a:ext cx="2355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55">
                <a:solidFill>
                  <a:srgbClr val="04191A"/>
                </a:solidFill>
                <a:latin typeface="Century Gothic"/>
                <a:cs typeface="Century Gothic"/>
              </a:rPr>
              <a:t>14</a:t>
            </a:r>
            <a:endParaRPr sz="1800">
              <a:latin typeface="Century Gothic"/>
              <a:cs typeface="Century Gothic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828467" y="5106025"/>
            <a:ext cx="8630285" cy="2132965"/>
            <a:chOff x="4828467" y="5106025"/>
            <a:chExt cx="8630285" cy="2132965"/>
          </a:xfrm>
        </p:grpSpPr>
        <p:sp>
          <p:nvSpPr>
            <p:cNvPr id="9" name="object 9"/>
            <p:cNvSpPr/>
            <p:nvPr/>
          </p:nvSpPr>
          <p:spPr>
            <a:xfrm>
              <a:off x="13448815" y="5106025"/>
              <a:ext cx="0" cy="2132965"/>
            </a:xfrm>
            <a:custGeom>
              <a:avLst/>
              <a:gdLst/>
              <a:ahLst/>
              <a:cxnLst/>
              <a:rect l="l" t="t" r="r" b="b"/>
              <a:pathLst>
                <a:path w="0" h="2132965">
                  <a:moveTo>
                    <a:pt x="0" y="2132342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2DC29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9143442" y="5106025"/>
              <a:ext cx="0" cy="2132965"/>
            </a:xfrm>
            <a:custGeom>
              <a:avLst/>
              <a:gdLst/>
              <a:ahLst/>
              <a:cxnLst/>
              <a:rect l="l" t="t" r="r" b="b"/>
              <a:pathLst>
                <a:path w="0" h="2132965">
                  <a:moveTo>
                    <a:pt x="0" y="2132342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2DC29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837992" y="5106025"/>
              <a:ext cx="0" cy="2132965"/>
            </a:xfrm>
            <a:custGeom>
              <a:avLst/>
              <a:gdLst/>
              <a:ahLst/>
              <a:cxnLst/>
              <a:rect l="l" t="t" r="r" b="b"/>
              <a:pathLst>
                <a:path w="0" h="2132965">
                  <a:moveTo>
                    <a:pt x="0" y="2132342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2DC29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905904" y="561158"/>
            <a:ext cx="57746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45">
                <a:solidFill>
                  <a:srgbClr val="04191A"/>
                </a:solidFill>
                <a:latin typeface="Century Gothic"/>
                <a:cs typeface="Century Gothic"/>
              </a:rPr>
              <a:t>IMPLICATIONS,</a:t>
            </a:r>
            <a:r>
              <a:rPr dirty="0" sz="1800" spc="-30">
                <a:solidFill>
                  <a:srgbClr val="04191A"/>
                </a:solidFill>
                <a:latin typeface="Century Gothic"/>
                <a:cs typeface="Century Gothic"/>
              </a:rPr>
              <a:t> </a:t>
            </a:r>
            <a:r>
              <a:rPr dirty="0" sz="1800" spc="-20">
                <a:solidFill>
                  <a:srgbClr val="04191A"/>
                </a:solidFill>
                <a:latin typeface="Century Gothic"/>
                <a:cs typeface="Century Gothic"/>
              </a:rPr>
              <a:t>LIMITATIONS,</a:t>
            </a:r>
            <a:r>
              <a:rPr dirty="0" sz="1800" spc="-25">
                <a:solidFill>
                  <a:srgbClr val="04191A"/>
                </a:solidFill>
                <a:latin typeface="Century Gothic"/>
                <a:cs typeface="Century Gothic"/>
              </a:rPr>
              <a:t> </a:t>
            </a:r>
            <a:r>
              <a:rPr dirty="0" sz="1800" spc="-130">
                <a:solidFill>
                  <a:srgbClr val="04191A"/>
                </a:solidFill>
                <a:latin typeface="Century Gothic"/>
                <a:cs typeface="Century Gothic"/>
              </a:rPr>
              <a:t>AND</a:t>
            </a:r>
            <a:r>
              <a:rPr dirty="0" sz="1800" spc="-20">
                <a:solidFill>
                  <a:srgbClr val="04191A"/>
                </a:solidFill>
                <a:latin typeface="Century Gothic"/>
                <a:cs typeface="Century Gothic"/>
              </a:rPr>
              <a:t> </a:t>
            </a:r>
            <a:r>
              <a:rPr dirty="0" sz="1800" spc="-60">
                <a:solidFill>
                  <a:srgbClr val="04191A"/>
                </a:solidFill>
                <a:latin typeface="Century Gothic"/>
                <a:cs typeface="Century Gothic"/>
              </a:rPr>
              <a:t>RECOMMENDATIONS</a:t>
            </a:r>
            <a:endParaRPr sz="18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5904" y="1606411"/>
            <a:ext cx="7396480" cy="1310640"/>
          </a:xfrm>
          <a:prstGeom prst="rect">
            <a:avLst/>
          </a:prstGeom>
        </p:spPr>
        <p:txBody>
          <a:bodyPr wrap="square" lIns="0" tIns="129539" rIns="0" bIns="0" rtlCol="0" vert="horz">
            <a:spAutoFit/>
          </a:bodyPr>
          <a:lstStyle/>
          <a:p>
            <a:pPr marL="12700" marR="5080">
              <a:lnSpc>
                <a:spcPts val="4600"/>
              </a:lnSpc>
              <a:spcBef>
                <a:spcPts val="1019"/>
              </a:spcBef>
            </a:pPr>
            <a:r>
              <a:rPr dirty="0" sz="4600" spc="-170">
                <a:solidFill>
                  <a:srgbClr val="04191A"/>
                </a:solidFill>
                <a:latin typeface="Century Gothic"/>
                <a:cs typeface="Century Gothic"/>
              </a:rPr>
              <a:t>Key</a:t>
            </a:r>
            <a:r>
              <a:rPr dirty="0" sz="4600" spc="-85">
                <a:solidFill>
                  <a:srgbClr val="04191A"/>
                </a:solidFill>
                <a:latin typeface="Century Gothic"/>
                <a:cs typeface="Century Gothic"/>
              </a:rPr>
              <a:t> </a:t>
            </a:r>
            <a:r>
              <a:rPr dirty="0" sz="4600" spc="-265">
                <a:solidFill>
                  <a:srgbClr val="04191A"/>
                </a:solidFill>
                <a:latin typeface="Century Gothic"/>
                <a:cs typeface="Century Gothic"/>
              </a:rPr>
              <a:t>Takeaways</a:t>
            </a:r>
            <a:r>
              <a:rPr dirty="0" sz="4600" spc="-55">
                <a:solidFill>
                  <a:srgbClr val="04191A"/>
                </a:solidFill>
                <a:latin typeface="Century Gothic"/>
                <a:cs typeface="Century Gothic"/>
              </a:rPr>
              <a:t> </a:t>
            </a:r>
            <a:r>
              <a:rPr dirty="0" sz="4600">
                <a:solidFill>
                  <a:srgbClr val="04191A"/>
                </a:solidFill>
                <a:latin typeface="Century Gothic"/>
                <a:cs typeface="Century Gothic"/>
              </a:rPr>
              <a:t>for</a:t>
            </a:r>
            <a:r>
              <a:rPr dirty="0" sz="4600" spc="-65">
                <a:solidFill>
                  <a:srgbClr val="04191A"/>
                </a:solidFill>
                <a:latin typeface="Century Gothic"/>
                <a:cs typeface="Century Gothic"/>
              </a:rPr>
              <a:t> </a:t>
            </a:r>
            <a:r>
              <a:rPr dirty="0" sz="4600" spc="-50">
                <a:solidFill>
                  <a:srgbClr val="04191A"/>
                </a:solidFill>
                <a:latin typeface="Century Gothic"/>
                <a:cs typeface="Century Gothic"/>
              </a:rPr>
              <a:t>Decision </a:t>
            </a:r>
            <a:r>
              <a:rPr dirty="0" sz="4600" spc="-10">
                <a:solidFill>
                  <a:srgbClr val="04191A"/>
                </a:solidFill>
                <a:latin typeface="Century Gothic"/>
                <a:cs typeface="Century Gothic"/>
              </a:rPr>
              <a:t>Makers</a:t>
            </a:r>
            <a:endParaRPr sz="46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592685" y="1638797"/>
            <a:ext cx="7551420" cy="1301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00" spc="-80">
                <a:latin typeface="Century Gothic"/>
                <a:cs typeface="Century Gothic"/>
              </a:rPr>
              <a:t>Delays</a:t>
            </a:r>
            <a:r>
              <a:rPr dirty="0" sz="2900" spc="-70">
                <a:latin typeface="Century Gothic"/>
                <a:cs typeface="Century Gothic"/>
              </a:rPr>
              <a:t> </a:t>
            </a:r>
            <a:r>
              <a:rPr dirty="0" sz="2900" spc="-135">
                <a:latin typeface="Century Gothic"/>
                <a:cs typeface="Century Gothic"/>
              </a:rPr>
              <a:t>Concentrated</a:t>
            </a:r>
            <a:r>
              <a:rPr dirty="0" sz="2900" spc="-65">
                <a:latin typeface="Century Gothic"/>
                <a:cs typeface="Century Gothic"/>
              </a:rPr>
              <a:t> </a:t>
            </a:r>
            <a:r>
              <a:rPr dirty="0" sz="2900">
                <a:latin typeface="Century Gothic"/>
                <a:cs typeface="Century Gothic"/>
              </a:rPr>
              <a:t>in</a:t>
            </a:r>
            <a:r>
              <a:rPr dirty="0" sz="2900" spc="-65">
                <a:latin typeface="Century Gothic"/>
                <a:cs typeface="Century Gothic"/>
              </a:rPr>
              <a:t> </a:t>
            </a:r>
            <a:r>
              <a:rPr dirty="0" sz="2900" spc="-30">
                <a:latin typeface="Century Gothic"/>
                <a:cs typeface="Century Gothic"/>
              </a:rPr>
              <a:t>Specific</a:t>
            </a:r>
            <a:r>
              <a:rPr dirty="0" sz="2900" spc="-70">
                <a:latin typeface="Century Gothic"/>
                <a:cs typeface="Century Gothic"/>
              </a:rPr>
              <a:t> </a:t>
            </a:r>
            <a:r>
              <a:rPr dirty="0" sz="2900" spc="-10">
                <a:latin typeface="Century Gothic"/>
                <a:cs typeface="Century Gothic"/>
              </a:rPr>
              <a:t>Areas</a:t>
            </a:r>
            <a:endParaRPr sz="2900">
              <a:latin typeface="Century Gothic"/>
              <a:cs typeface="Century Gothic"/>
            </a:endParaRPr>
          </a:p>
          <a:p>
            <a:pPr marL="12700" marR="5080">
              <a:lnSpc>
                <a:spcPct val="101499"/>
              </a:lnSpc>
              <a:spcBef>
                <a:spcPts val="1810"/>
              </a:spcBef>
            </a:pPr>
            <a:r>
              <a:rPr dirty="0" sz="1950">
                <a:latin typeface="Century Gothic"/>
                <a:cs typeface="Century Gothic"/>
              </a:rPr>
              <a:t>West</a:t>
            </a:r>
            <a:r>
              <a:rPr dirty="0" sz="1950" spc="-40">
                <a:latin typeface="Century Gothic"/>
                <a:cs typeface="Century Gothic"/>
              </a:rPr>
              <a:t> </a:t>
            </a:r>
            <a:r>
              <a:rPr dirty="0" sz="1950" spc="-20">
                <a:latin typeface="Century Gothic"/>
                <a:cs typeface="Century Gothic"/>
              </a:rPr>
              <a:t>Dublin</a:t>
            </a:r>
            <a:r>
              <a:rPr dirty="0" sz="1950" spc="-35">
                <a:latin typeface="Century Gothic"/>
                <a:cs typeface="Century Gothic"/>
              </a:rPr>
              <a:t> </a:t>
            </a:r>
            <a:r>
              <a:rPr dirty="0" sz="1950" spc="-55">
                <a:latin typeface="Century Gothic"/>
                <a:cs typeface="Century Gothic"/>
              </a:rPr>
              <a:t>faces</a:t>
            </a:r>
            <a:r>
              <a:rPr dirty="0" sz="1950" spc="-35">
                <a:latin typeface="Century Gothic"/>
                <a:cs typeface="Century Gothic"/>
              </a:rPr>
              <a:t> </a:t>
            </a:r>
            <a:r>
              <a:rPr dirty="0" sz="1950" spc="-25">
                <a:latin typeface="Century Gothic"/>
                <a:cs typeface="Century Gothic"/>
              </a:rPr>
              <a:t>severe</a:t>
            </a:r>
            <a:r>
              <a:rPr dirty="0" sz="1950" spc="-35">
                <a:latin typeface="Century Gothic"/>
                <a:cs typeface="Century Gothic"/>
              </a:rPr>
              <a:t> </a:t>
            </a:r>
            <a:r>
              <a:rPr dirty="0" sz="1950" spc="65">
                <a:latin typeface="Century Gothic"/>
                <a:cs typeface="Century Gothic"/>
              </a:rPr>
              <a:t>rush</a:t>
            </a:r>
            <a:r>
              <a:rPr dirty="0" sz="1950" spc="-40">
                <a:latin typeface="Century Gothic"/>
                <a:cs typeface="Century Gothic"/>
              </a:rPr>
              <a:t> </a:t>
            </a:r>
            <a:r>
              <a:rPr dirty="0" sz="1950">
                <a:latin typeface="Century Gothic"/>
                <a:cs typeface="Century Gothic"/>
              </a:rPr>
              <a:t>hour</a:t>
            </a:r>
            <a:r>
              <a:rPr dirty="0" sz="1950" spc="-35">
                <a:latin typeface="Century Gothic"/>
                <a:cs typeface="Century Gothic"/>
              </a:rPr>
              <a:t> </a:t>
            </a:r>
            <a:r>
              <a:rPr dirty="0" sz="1950" spc="-45">
                <a:latin typeface="Century Gothic"/>
                <a:cs typeface="Century Gothic"/>
              </a:rPr>
              <a:t>delays;</a:t>
            </a:r>
            <a:r>
              <a:rPr dirty="0" sz="1950" spc="-35">
                <a:latin typeface="Century Gothic"/>
                <a:cs typeface="Century Gothic"/>
              </a:rPr>
              <a:t> </a:t>
            </a:r>
            <a:r>
              <a:rPr dirty="0" sz="1950" spc="-30">
                <a:latin typeface="Century Gothic"/>
                <a:cs typeface="Century Gothic"/>
              </a:rPr>
              <a:t>central</a:t>
            </a:r>
            <a:r>
              <a:rPr dirty="0" sz="1950" spc="-35">
                <a:latin typeface="Century Gothic"/>
                <a:cs typeface="Century Gothic"/>
              </a:rPr>
              <a:t> </a:t>
            </a:r>
            <a:r>
              <a:rPr dirty="0" sz="1950">
                <a:latin typeface="Century Gothic"/>
                <a:cs typeface="Century Gothic"/>
              </a:rPr>
              <a:t>routes</a:t>
            </a:r>
            <a:r>
              <a:rPr dirty="0" sz="1950" spc="-35">
                <a:latin typeface="Century Gothic"/>
                <a:cs typeface="Century Gothic"/>
              </a:rPr>
              <a:t> </a:t>
            </a:r>
            <a:r>
              <a:rPr dirty="0" sz="1950" spc="-20">
                <a:latin typeface="Century Gothic"/>
                <a:cs typeface="Century Gothic"/>
              </a:rPr>
              <a:t>remain </a:t>
            </a:r>
            <a:r>
              <a:rPr dirty="0" sz="1950" spc="-10">
                <a:latin typeface="Century Gothic"/>
                <a:cs typeface="Century Gothic"/>
              </a:rPr>
              <a:t>resilient.</a:t>
            </a:r>
            <a:endParaRPr sz="195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92685" y="3268383"/>
            <a:ext cx="7547609" cy="293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00">
                <a:latin typeface="Century Gothic"/>
                <a:cs typeface="Century Gothic"/>
              </a:rPr>
              <a:t>Visual</a:t>
            </a:r>
            <a:r>
              <a:rPr dirty="0" sz="2900" spc="-15">
                <a:latin typeface="Century Gothic"/>
                <a:cs typeface="Century Gothic"/>
              </a:rPr>
              <a:t> </a:t>
            </a:r>
            <a:r>
              <a:rPr dirty="0" sz="2900" spc="-229">
                <a:latin typeface="Century Gothic"/>
                <a:cs typeface="Century Gothic"/>
              </a:rPr>
              <a:t>Data</a:t>
            </a:r>
            <a:r>
              <a:rPr dirty="0" sz="2900" spc="-10">
                <a:latin typeface="Century Gothic"/>
                <a:cs typeface="Century Gothic"/>
              </a:rPr>
              <a:t> </a:t>
            </a:r>
            <a:r>
              <a:rPr dirty="0" sz="2900">
                <a:latin typeface="Century Gothic"/>
                <a:cs typeface="Century Gothic"/>
              </a:rPr>
              <a:t>Pinpoints</a:t>
            </a:r>
            <a:r>
              <a:rPr dirty="0" sz="2900" spc="-10">
                <a:latin typeface="Century Gothic"/>
                <a:cs typeface="Century Gothic"/>
              </a:rPr>
              <a:t> Hotspots</a:t>
            </a:r>
            <a:endParaRPr sz="2900">
              <a:latin typeface="Century Gothic"/>
              <a:cs typeface="Century Gothic"/>
            </a:endParaRPr>
          </a:p>
          <a:p>
            <a:pPr marL="12700" marR="226695">
              <a:lnSpc>
                <a:spcPct val="101499"/>
              </a:lnSpc>
              <a:spcBef>
                <a:spcPts val="1810"/>
              </a:spcBef>
            </a:pPr>
            <a:r>
              <a:rPr dirty="0" sz="1950" spc="-75">
                <a:latin typeface="Century Gothic"/>
                <a:cs typeface="Century Gothic"/>
              </a:rPr>
              <a:t>Animated</a:t>
            </a:r>
            <a:r>
              <a:rPr dirty="0" sz="1950" spc="-60">
                <a:latin typeface="Century Gothic"/>
                <a:cs typeface="Century Gothic"/>
              </a:rPr>
              <a:t> </a:t>
            </a:r>
            <a:r>
              <a:rPr dirty="0" sz="1950" spc="-40">
                <a:latin typeface="Century Gothic"/>
                <a:cs typeface="Century Gothic"/>
              </a:rPr>
              <a:t>maps</a:t>
            </a:r>
            <a:r>
              <a:rPr dirty="0" sz="1950" spc="-30">
                <a:latin typeface="Century Gothic"/>
                <a:cs typeface="Century Gothic"/>
              </a:rPr>
              <a:t> </a:t>
            </a:r>
            <a:r>
              <a:rPr dirty="0" sz="1950" spc="-85">
                <a:latin typeface="Century Gothic"/>
                <a:cs typeface="Century Gothic"/>
              </a:rPr>
              <a:t>reveal</a:t>
            </a:r>
            <a:r>
              <a:rPr dirty="0" sz="1950" spc="-30">
                <a:latin typeface="Century Gothic"/>
                <a:cs typeface="Century Gothic"/>
              </a:rPr>
              <a:t> </a:t>
            </a:r>
            <a:r>
              <a:rPr dirty="0" sz="1950" spc="-85">
                <a:latin typeface="Century Gothic"/>
                <a:cs typeface="Century Gothic"/>
              </a:rPr>
              <a:t>when</a:t>
            </a:r>
            <a:r>
              <a:rPr dirty="0" sz="1950" spc="-30">
                <a:latin typeface="Century Gothic"/>
                <a:cs typeface="Century Gothic"/>
              </a:rPr>
              <a:t> </a:t>
            </a:r>
            <a:r>
              <a:rPr dirty="0" sz="1950" spc="-145">
                <a:latin typeface="Century Gothic"/>
                <a:cs typeface="Century Gothic"/>
              </a:rPr>
              <a:t>and</a:t>
            </a:r>
            <a:r>
              <a:rPr dirty="0" sz="1950" spc="-15">
                <a:latin typeface="Century Gothic"/>
                <a:cs typeface="Century Gothic"/>
              </a:rPr>
              <a:t> </a:t>
            </a:r>
            <a:r>
              <a:rPr dirty="0" sz="1950" spc="-65">
                <a:latin typeface="Century Gothic"/>
                <a:cs typeface="Century Gothic"/>
              </a:rPr>
              <a:t>where</a:t>
            </a:r>
            <a:r>
              <a:rPr dirty="0" sz="1950" spc="-30">
                <a:latin typeface="Century Gothic"/>
                <a:cs typeface="Century Gothic"/>
              </a:rPr>
              <a:t> </a:t>
            </a:r>
            <a:r>
              <a:rPr dirty="0" sz="1950" spc="-45">
                <a:latin typeface="Century Gothic"/>
                <a:cs typeface="Century Gothic"/>
              </a:rPr>
              <a:t>delays</a:t>
            </a:r>
            <a:r>
              <a:rPr dirty="0" sz="1950" spc="-30">
                <a:latin typeface="Century Gothic"/>
                <a:cs typeface="Century Gothic"/>
              </a:rPr>
              <a:t> </a:t>
            </a:r>
            <a:r>
              <a:rPr dirty="0" sz="1950" spc="-125">
                <a:latin typeface="Century Gothic"/>
                <a:cs typeface="Century Gothic"/>
              </a:rPr>
              <a:t>peak</a:t>
            </a:r>
            <a:r>
              <a:rPr dirty="0" sz="1950" spc="-15">
                <a:latin typeface="Century Gothic"/>
                <a:cs typeface="Century Gothic"/>
              </a:rPr>
              <a:t> </a:t>
            </a:r>
            <a:r>
              <a:rPr dirty="0" sz="1950">
                <a:latin typeface="Century Gothic"/>
                <a:cs typeface="Century Gothic"/>
              </a:rPr>
              <a:t>across</a:t>
            </a:r>
            <a:r>
              <a:rPr dirty="0" sz="1950" spc="-30">
                <a:latin typeface="Century Gothic"/>
                <a:cs typeface="Century Gothic"/>
              </a:rPr>
              <a:t> </a:t>
            </a:r>
            <a:r>
              <a:rPr dirty="0" sz="1950" spc="-25">
                <a:latin typeface="Century Gothic"/>
                <a:cs typeface="Century Gothic"/>
              </a:rPr>
              <a:t>the </a:t>
            </a:r>
            <a:r>
              <a:rPr dirty="0" sz="1950" spc="-10">
                <a:latin typeface="Century Gothic"/>
                <a:cs typeface="Century Gothic"/>
              </a:rPr>
              <a:t>city.</a:t>
            </a:r>
            <a:endParaRPr sz="195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195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900" spc="-140">
                <a:latin typeface="Century Gothic"/>
                <a:cs typeface="Century Gothic"/>
              </a:rPr>
              <a:t>Targeted</a:t>
            </a:r>
            <a:r>
              <a:rPr dirty="0" sz="2900" spc="5">
                <a:latin typeface="Century Gothic"/>
                <a:cs typeface="Century Gothic"/>
              </a:rPr>
              <a:t> </a:t>
            </a:r>
            <a:r>
              <a:rPr dirty="0" sz="2900">
                <a:latin typeface="Century Gothic"/>
                <a:cs typeface="Century Gothic"/>
              </a:rPr>
              <a:t>Solutions</a:t>
            </a:r>
            <a:r>
              <a:rPr dirty="0" sz="2900" spc="5">
                <a:latin typeface="Century Gothic"/>
                <a:cs typeface="Century Gothic"/>
              </a:rPr>
              <a:t> </a:t>
            </a:r>
            <a:r>
              <a:rPr dirty="0" sz="2900" spc="-30">
                <a:latin typeface="Century Gothic"/>
                <a:cs typeface="Century Gothic"/>
              </a:rPr>
              <a:t>Drive</a:t>
            </a:r>
            <a:r>
              <a:rPr dirty="0" sz="2900" spc="5">
                <a:latin typeface="Century Gothic"/>
                <a:cs typeface="Century Gothic"/>
              </a:rPr>
              <a:t> </a:t>
            </a:r>
            <a:r>
              <a:rPr dirty="0" sz="2900" spc="-10">
                <a:latin typeface="Century Gothic"/>
                <a:cs typeface="Century Gothic"/>
              </a:rPr>
              <a:t>Equity</a:t>
            </a:r>
            <a:endParaRPr sz="2900">
              <a:latin typeface="Century Gothic"/>
              <a:cs typeface="Century Gothic"/>
            </a:endParaRPr>
          </a:p>
          <a:p>
            <a:pPr marL="12700" marR="5080">
              <a:lnSpc>
                <a:spcPct val="101499"/>
              </a:lnSpc>
              <a:spcBef>
                <a:spcPts val="1810"/>
              </a:spcBef>
            </a:pPr>
            <a:r>
              <a:rPr dirty="0" sz="1950" spc="-20">
                <a:latin typeface="Century Gothic"/>
                <a:cs typeface="Century Gothic"/>
              </a:rPr>
              <a:t>Strategic</a:t>
            </a:r>
            <a:r>
              <a:rPr dirty="0" sz="1950" spc="40">
                <a:latin typeface="Century Gothic"/>
                <a:cs typeface="Century Gothic"/>
              </a:rPr>
              <a:t> </a:t>
            </a:r>
            <a:r>
              <a:rPr dirty="0" sz="1950">
                <a:latin typeface="Century Gothic"/>
                <a:cs typeface="Century Gothic"/>
              </a:rPr>
              <a:t>interventions</a:t>
            </a:r>
            <a:r>
              <a:rPr dirty="0" sz="1950" spc="45">
                <a:latin typeface="Century Gothic"/>
                <a:cs typeface="Century Gothic"/>
              </a:rPr>
              <a:t> </a:t>
            </a:r>
            <a:r>
              <a:rPr dirty="0" sz="1950" spc="-155">
                <a:latin typeface="Century Gothic"/>
                <a:cs typeface="Century Gothic"/>
              </a:rPr>
              <a:t>can</a:t>
            </a:r>
            <a:r>
              <a:rPr dirty="0" sz="1950" spc="45">
                <a:latin typeface="Century Gothic"/>
                <a:cs typeface="Century Gothic"/>
              </a:rPr>
              <a:t> </a:t>
            </a:r>
            <a:r>
              <a:rPr dirty="0" sz="1950" spc="-75">
                <a:latin typeface="Century Gothic"/>
                <a:cs typeface="Century Gothic"/>
              </a:rPr>
              <a:t>reduce</a:t>
            </a:r>
            <a:r>
              <a:rPr dirty="0" sz="1950" spc="40">
                <a:latin typeface="Century Gothic"/>
                <a:cs typeface="Century Gothic"/>
              </a:rPr>
              <a:t> </a:t>
            </a:r>
            <a:r>
              <a:rPr dirty="0" sz="1950" spc="-90">
                <a:latin typeface="Century Gothic"/>
                <a:cs typeface="Century Gothic"/>
              </a:rPr>
              <a:t>delay</a:t>
            </a:r>
            <a:r>
              <a:rPr dirty="0" sz="1950" spc="45">
                <a:latin typeface="Century Gothic"/>
                <a:cs typeface="Century Gothic"/>
              </a:rPr>
              <a:t> </a:t>
            </a:r>
            <a:r>
              <a:rPr dirty="0" sz="1950">
                <a:latin typeface="Century Gothic"/>
                <a:cs typeface="Century Gothic"/>
              </a:rPr>
              <a:t>disparities</a:t>
            </a:r>
            <a:r>
              <a:rPr dirty="0" sz="1950" spc="45">
                <a:latin typeface="Century Gothic"/>
                <a:cs typeface="Century Gothic"/>
              </a:rPr>
              <a:t> </a:t>
            </a:r>
            <a:r>
              <a:rPr dirty="0" sz="1950" spc="-145">
                <a:latin typeface="Century Gothic"/>
                <a:cs typeface="Century Gothic"/>
              </a:rPr>
              <a:t>and</a:t>
            </a:r>
            <a:r>
              <a:rPr dirty="0" sz="1950" spc="40">
                <a:latin typeface="Century Gothic"/>
                <a:cs typeface="Century Gothic"/>
              </a:rPr>
              <a:t> </a:t>
            </a:r>
            <a:r>
              <a:rPr dirty="0" sz="1950" spc="-20">
                <a:latin typeface="Century Gothic"/>
                <a:cs typeface="Century Gothic"/>
              </a:rPr>
              <a:t>improve </a:t>
            </a:r>
            <a:r>
              <a:rPr dirty="0" sz="1950">
                <a:latin typeface="Century Gothic"/>
                <a:cs typeface="Century Gothic"/>
              </a:rPr>
              <a:t>service</a:t>
            </a:r>
            <a:r>
              <a:rPr dirty="0" sz="1950" spc="-15">
                <a:latin typeface="Century Gothic"/>
                <a:cs typeface="Century Gothic"/>
              </a:rPr>
              <a:t> </a:t>
            </a:r>
            <a:r>
              <a:rPr dirty="0" sz="1950" spc="-10">
                <a:latin typeface="Century Gothic"/>
                <a:cs typeface="Century Gothic"/>
              </a:rPr>
              <a:t>reliability.</a:t>
            </a:r>
            <a:endParaRPr sz="195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5904" y="561158"/>
            <a:ext cx="57746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45">
                <a:solidFill>
                  <a:srgbClr val="04191A"/>
                </a:solidFill>
                <a:latin typeface="Century Gothic"/>
                <a:cs typeface="Century Gothic"/>
              </a:rPr>
              <a:t>IMPLICATIONS,</a:t>
            </a:r>
            <a:r>
              <a:rPr dirty="0" sz="1800" spc="-30">
                <a:solidFill>
                  <a:srgbClr val="04191A"/>
                </a:solidFill>
                <a:latin typeface="Century Gothic"/>
                <a:cs typeface="Century Gothic"/>
              </a:rPr>
              <a:t> </a:t>
            </a:r>
            <a:r>
              <a:rPr dirty="0" sz="1800" spc="-20">
                <a:solidFill>
                  <a:srgbClr val="04191A"/>
                </a:solidFill>
                <a:latin typeface="Century Gothic"/>
                <a:cs typeface="Century Gothic"/>
              </a:rPr>
              <a:t>LIMITATIONS,</a:t>
            </a:r>
            <a:r>
              <a:rPr dirty="0" sz="1800" spc="-25">
                <a:solidFill>
                  <a:srgbClr val="04191A"/>
                </a:solidFill>
                <a:latin typeface="Century Gothic"/>
                <a:cs typeface="Century Gothic"/>
              </a:rPr>
              <a:t> </a:t>
            </a:r>
            <a:r>
              <a:rPr dirty="0" sz="1800" spc="-130">
                <a:solidFill>
                  <a:srgbClr val="04191A"/>
                </a:solidFill>
                <a:latin typeface="Century Gothic"/>
                <a:cs typeface="Century Gothic"/>
              </a:rPr>
              <a:t>AND</a:t>
            </a:r>
            <a:r>
              <a:rPr dirty="0" sz="1800" spc="-20">
                <a:solidFill>
                  <a:srgbClr val="04191A"/>
                </a:solidFill>
                <a:latin typeface="Century Gothic"/>
                <a:cs typeface="Century Gothic"/>
              </a:rPr>
              <a:t> </a:t>
            </a:r>
            <a:r>
              <a:rPr dirty="0" sz="1800" spc="-60">
                <a:solidFill>
                  <a:srgbClr val="04191A"/>
                </a:solidFill>
                <a:latin typeface="Century Gothic"/>
                <a:cs typeface="Century Gothic"/>
              </a:rPr>
              <a:t>RECOMMENDATIONS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144505" y="561158"/>
            <a:ext cx="23685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50">
                <a:solidFill>
                  <a:srgbClr val="04191A"/>
                </a:solidFill>
                <a:latin typeface="Century Gothic"/>
                <a:cs typeface="Century Gothic"/>
              </a:rPr>
              <a:t>15</a:t>
            </a:r>
            <a:endParaRPr sz="1800">
              <a:latin typeface="Century Gothic"/>
              <a:cs typeface="Century Gothic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495812"/>
            <a:ext cx="8686800" cy="5791187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9605381" y="6600538"/>
            <a:ext cx="6372860" cy="0"/>
          </a:xfrm>
          <a:custGeom>
            <a:avLst/>
            <a:gdLst/>
            <a:ahLst/>
            <a:cxnLst/>
            <a:rect l="l" t="t" r="r" b="b"/>
            <a:pathLst>
              <a:path w="6372859" h="0">
                <a:moveTo>
                  <a:pt x="6372313" y="0"/>
                </a:moveTo>
                <a:lnTo>
                  <a:pt x="0" y="0"/>
                </a:lnTo>
              </a:path>
            </a:pathLst>
          </a:custGeom>
          <a:ln w="19050">
            <a:solidFill>
              <a:srgbClr val="2DC295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2026-02-12T01:26:11Z</dcterms:created>
  <dcterms:modified xsi:type="dcterms:W3CDTF">2026-02-12T01:26:11Z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2026-02-12T00:00:00Z</vt:filetime>
  </property>
  <property fmtid="{D5CDD505-2E9C-101B-9397-08002B2CF9AE}" pid="3" name="CreationClient">
    <vt:lpwstr>outline-to-presentation</vt:lpwstr>
  </property>
  <property fmtid="{D5CDD505-2E9C-101B-9397-08002B2CF9AE}" pid="4" name="Creator">
    <vt:lpwstr>Adobe Express</vt:lpwstr>
  </property>
  <property fmtid="{D5CDD505-2E9C-101B-9397-08002B2CF9AE}" pid="5" name="LastSaved">
    <vt:filetime>2026-02-12T00:00:00Z</vt:filetime>
  </property>
  <property fmtid="{D5CDD505-2E9C-101B-9397-08002B2CF9AE}" pid="6" name="Producer">
    <vt:lpwstr>Adobe Express</vt:lpwstr>
  </property>
</Properties>
</file>